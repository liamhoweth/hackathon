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eeae0af9-8a91-18eb-55a1-479e0f8c9008}">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Liam and Richard, and this is Still Here. It helps people who can't speak or use their hands join a conversation while it's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friend asks, "Are you coming to dinner tonight?" and by the time you spell out your answer, everyone has moved on. More than five million people in the U.S. are estimated to be unable to rely on speech alone, and most people with ALS lose their speech. Dedicated eye-gaze devices have cost over ten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listens when the partner talks and suggests the two best replies, plus other ways to answer. The person raises their eyebrows to move and does a long blink to choose. The chosen reply is spoken in a natural voice, on a regular iPad with no eye tracker or special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dinner question on the iPad. Two likely replies appear, and one long blink speaks the highlighted one. If neither fits, Other ways to answer lets the person pick a direction instead. Nothing is spoken unless the person chooses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tracking runs on the iPad, so camera frames stay on the device by design, and a short calibration learns each person's face and blinks. Our server keeps the API keys private and calls OpenAI for replies and ElevenLabs for the voice. Learning is off by default and only keeps preferences the person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partner finishing to suggestions on screen takes a median of 3.8 seconds, measured from a Mac with synthetic speech. Next, we want to test with people with ALS, bring it to phones and offline use, and add a personal voice with consent. Your words, your choice.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A"/>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417"/>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21417"/>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ull Imag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lain">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7.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ill Here">    </p:cNvPr>
          <p:cNvPicPr>
            <a:picLocks noChangeAspect="1"/>
          </p:cNvPicPr>
          <p:nvPr/>
        </p:nvPicPr>
        <p:blipFill>
          <a:blip r:embed="rId1"/>
          <a:stretch>
            <a:fillRect/>
          </a:stretch>
        </p:blipFill>
        <p:spPr>
          <a:xfrm>
            <a:off x="411480" y="1188720"/>
            <a:ext cx="4023360" cy="1005840"/>
          </a:xfrm>
          <a:prstGeom prst="rect">
            <a:avLst/>
          </a:prstGeom>
        </p:spPr>
      </p:pic>
      <p:sp>
        <p:nvSpPr>
          <p:cNvPr id="3" name="Text 0"/>
          <p:cNvSpPr txBox="1"/>
          <p:nvPr/>
        </p:nvSpPr>
        <p:spPr>
          <a:xfrm>
            <a:off x="548640" y="2423160"/>
            <a:ext cx="4023360" cy="822960"/>
          </a:xfrm>
          <a:prstGeom prst="rect">
            <a:avLst/>
          </a:prstGeom>
          <a:noFill/>
          <a:ln/>
        </p:spPr>
        <p:txBody>
          <a:bodyPr wrap="square" lIns="0" tIns="0" rIns="0" bIns="0" rtlCol="0" anchor="t"/>
          <a:lstStyle/>
          <a:p>
            <a:pPr indent="0" marL="0">
              <a:buNone/>
            </a:pPr>
            <a:r>
              <a:rPr lang="en-US" sz="2200" b="1" dirty="0">
                <a:solidFill>
                  <a:srgbClr val="7FD1B0"/>
                </a:solidFill>
              </a:rPr>
              <a:t>Be part of the conversation while it's still happening.</a:t>
            </a:r>
            <a:endParaRPr lang="en-US" sz="2200" dirty="0"/>
          </a:p>
        </p:txBody>
      </p:sp>
      <p:sp>
        <p:nvSpPr>
          <p:cNvPr id="4" name="Text 1"/>
          <p:cNvSpPr txBox="1"/>
          <p:nvPr/>
        </p:nvSpPr>
        <p:spPr>
          <a:xfrm>
            <a:off x="548640" y="4206240"/>
            <a:ext cx="4297680" cy="274320"/>
          </a:xfrm>
          <a:prstGeom prst="rect">
            <a:avLst/>
          </a:prstGeom>
          <a:noFill/>
          <a:ln/>
        </p:spPr>
        <p:txBody>
          <a:bodyPr wrap="square" lIns="0" tIns="0" rIns="0" bIns="0" rtlCol="0" anchor="t"/>
          <a:lstStyle/>
          <a:p>
            <a:pPr indent="0" marL="0">
              <a:buNone/>
            </a:pPr>
            <a:r>
              <a:rPr lang="en-US" sz="1200" dirty="0">
                <a:solidFill>
                  <a:srgbClr val="9AA0A8"/>
                </a:solidFill>
              </a:rPr>
              <a:t>Liam Howeth  ·  Richard Ognefijiro  ·  SASEHacks for Good</a:t>
            </a:r>
            <a:endParaRPr lang="en-US" sz="1200" dirty="0"/>
          </a:p>
        </p:txBody>
      </p:sp>
      <p:sp>
        <p:nvSpPr>
          <p:cNvPr id="5" name="device frame"/>
          <p:cNvSpPr/>
          <p:nvPr/>
        </p:nvSpPr>
        <p:spPr>
          <a:xfrm>
            <a:off x="4937760" y="960120"/>
            <a:ext cx="3840480" cy="2910302"/>
          </a:xfrm>
          <a:prstGeom prst="roundRect">
            <a:avLst>
              <a:gd name="adj" fmla="val 3142"/>
            </a:avLst>
          </a:prstGeom>
          <a:solidFill>
            <a:srgbClr val="2B2F35"/>
          </a:solidFill>
          <a:ln w="9525">
            <a:solidFill>
              <a:srgbClr val="4A5058"/>
            </a:solidFill>
            <a:prstDash val="solid"/>
          </a:ln>
          <a:effectLst>
            <a:outerShdw sx="100000" sy="100000" kx="0" ky="0" algn="bl" rotWithShape="0" blurRad="101600" dist="25400" dir="5400000">
              <a:srgbClr val="000000">
                <a:alpha val="16000"/>
              </a:srgbClr>
            </a:outerShdw>
          </a:effectLst>
        </p:spPr>
      </p:sp>
      <p:pic>
        <p:nvPicPr>
          <p:cNvPr id="6" name="Image 1" descr="Still Here board on iPad: partner question and two reply cards">    </p:cNvPr>
          <p:cNvPicPr>
            <a:picLocks noChangeAspect="1"/>
          </p:cNvPicPr>
          <p:nvPr/>
        </p:nvPicPr>
        <p:blipFill>
          <a:blip r:embed="rId2"/>
          <a:stretch>
            <a:fillRect/>
          </a:stretch>
        </p:blipFill>
        <p:spPr>
          <a:xfrm>
            <a:off x="5001768" y="1024128"/>
            <a:ext cx="3712464" cy="2782286"/>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The conversation moves on without them</a:t>
            </a:r>
            <a:endParaRPr lang="en-US" sz="3200" dirty="0"/>
          </a:p>
        </p:txBody>
      </p:sp>
      <p:sp>
        <p:nvSpPr>
          <p:cNvPr id="3" name="card"/>
          <p:cNvSpPr/>
          <p:nvPr/>
        </p:nvSpPr>
        <p:spPr>
          <a:xfrm>
            <a:off x="457200" y="1280160"/>
            <a:ext cx="2651760" cy="2468880"/>
          </a:xfrm>
          <a:prstGeom prst="roundRect">
            <a:avLst>
              <a:gd name="adj" fmla="val 444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Text 2"/>
          <p:cNvSpPr txBox="1"/>
          <p:nvPr/>
        </p:nvSpPr>
        <p:spPr>
          <a:xfrm>
            <a:off x="640080" y="1508760"/>
            <a:ext cx="2286000" cy="1051560"/>
          </a:xfrm>
          <a:prstGeom prst="rect">
            <a:avLst/>
          </a:prstGeom>
          <a:noFill/>
          <a:ln/>
        </p:spPr>
        <p:txBody>
          <a:bodyPr wrap="square" lIns="0" tIns="0" rIns="0" bIns="0" rtlCol="0" anchor="ctr"/>
          <a:lstStyle/>
          <a:p>
            <a:pPr algn="ctr" indent="0" marL="0">
              <a:buNone/>
            </a:pPr>
            <a:r>
              <a:rPr lang="en-US" sz="4800" b="1" dirty="0">
                <a:solidFill>
                  <a:srgbClr val="0B5D46"/>
                </a:solidFill>
              </a:rPr>
              <a:t>5M+</a:t>
            </a:r>
            <a:endParaRPr lang="en-US" sz="4800" dirty="0"/>
          </a:p>
        </p:txBody>
      </p:sp>
      <p:sp>
        <p:nvSpPr>
          <p:cNvPr id="5" name="Text 3"/>
          <p:cNvSpPr txBox="1"/>
          <p:nvPr/>
        </p:nvSpPr>
        <p:spPr>
          <a:xfrm>
            <a:off x="640080" y="2697480"/>
            <a:ext cx="2286000" cy="822960"/>
          </a:xfrm>
          <a:prstGeom prst="rect">
            <a:avLst/>
          </a:prstGeom>
          <a:noFill/>
          <a:ln/>
        </p:spPr>
        <p:txBody>
          <a:bodyPr wrap="square" lIns="0" tIns="0" rIns="0" bIns="0" rtlCol="0" anchor="t"/>
          <a:lstStyle/>
          <a:p>
            <a:pPr algn="ctr" indent="0" marL="0">
              <a:buNone/>
            </a:pPr>
            <a:r>
              <a:rPr lang="en-US" sz="1800" dirty="0">
                <a:solidFill>
                  <a:srgbClr val="464B53"/>
                </a:solidFill>
              </a:rPr>
              <a:t>Americans can't rely on speech¹</a:t>
            </a:r>
            <a:endParaRPr lang="en-US" sz="1800" dirty="0"/>
          </a:p>
        </p:txBody>
      </p:sp>
      <p:sp>
        <p:nvSpPr>
          <p:cNvPr id="6" name="card"/>
          <p:cNvSpPr/>
          <p:nvPr/>
        </p:nvSpPr>
        <p:spPr>
          <a:xfrm>
            <a:off x="3246120" y="1280160"/>
            <a:ext cx="2651760" cy="2468880"/>
          </a:xfrm>
          <a:prstGeom prst="roundRect">
            <a:avLst>
              <a:gd name="adj" fmla="val 444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7" name="Text 5"/>
          <p:cNvSpPr txBox="1"/>
          <p:nvPr/>
        </p:nvSpPr>
        <p:spPr>
          <a:xfrm>
            <a:off x="3429000" y="1508760"/>
            <a:ext cx="2286000" cy="1051560"/>
          </a:xfrm>
          <a:prstGeom prst="rect">
            <a:avLst/>
          </a:prstGeom>
          <a:noFill/>
          <a:ln/>
        </p:spPr>
        <p:txBody>
          <a:bodyPr wrap="square" lIns="0" tIns="0" rIns="0" bIns="0" rtlCol="0" anchor="ctr"/>
          <a:lstStyle/>
          <a:p>
            <a:pPr algn="ctr" indent="0" marL="0">
              <a:buNone/>
            </a:pPr>
            <a:r>
              <a:rPr lang="en-US" sz="4800" b="1" dirty="0">
                <a:solidFill>
                  <a:srgbClr val="0B5D46"/>
                </a:solidFill>
              </a:rPr>
              <a:t>Most</a:t>
            </a:r>
            <a:endParaRPr lang="en-US" sz="4800" dirty="0"/>
          </a:p>
        </p:txBody>
      </p:sp>
      <p:sp>
        <p:nvSpPr>
          <p:cNvPr id="8" name="Text 6"/>
          <p:cNvSpPr txBox="1"/>
          <p:nvPr/>
        </p:nvSpPr>
        <p:spPr>
          <a:xfrm>
            <a:off x="3429000" y="2697480"/>
            <a:ext cx="2286000" cy="822960"/>
          </a:xfrm>
          <a:prstGeom prst="rect">
            <a:avLst/>
          </a:prstGeom>
          <a:noFill/>
          <a:ln/>
        </p:spPr>
        <p:txBody>
          <a:bodyPr wrap="square" lIns="0" tIns="0" rIns="0" bIns="0" rtlCol="0" anchor="t"/>
          <a:lstStyle/>
          <a:p>
            <a:pPr algn="ctr" indent="0" marL="0">
              <a:buNone/>
            </a:pPr>
            <a:r>
              <a:rPr lang="en-US" sz="1800" dirty="0">
                <a:solidFill>
                  <a:srgbClr val="464B53"/>
                </a:solidFill>
              </a:rPr>
              <a:t>people with ALS lose their speech²</a:t>
            </a:r>
            <a:endParaRPr lang="en-US" sz="1800" dirty="0"/>
          </a:p>
        </p:txBody>
      </p:sp>
      <p:sp>
        <p:nvSpPr>
          <p:cNvPr id="9" name="card"/>
          <p:cNvSpPr/>
          <p:nvPr/>
        </p:nvSpPr>
        <p:spPr>
          <a:xfrm>
            <a:off x="6035040" y="1280160"/>
            <a:ext cx="2651760" cy="2468880"/>
          </a:xfrm>
          <a:prstGeom prst="roundRect">
            <a:avLst>
              <a:gd name="adj" fmla="val 444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Text 8"/>
          <p:cNvSpPr txBox="1"/>
          <p:nvPr/>
        </p:nvSpPr>
        <p:spPr>
          <a:xfrm>
            <a:off x="6217920" y="1508760"/>
            <a:ext cx="2286000" cy="1051560"/>
          </a:xfrm>
          <a:prstGeom prst="rect">
            <a:avLst/>
          </a:prstGeom>
          <a:noFill/>
          <a:ln/>
        </p:spPr>
        <p:txBody>
          <a:bodyPr wrap="square" lIns="0" tIns="0" rIns="0" bIns="0" rtlCol="0" anchor="ctr"/>
          <a:lstStyle/>
          <a:p>
            <a:pPr algn="ctr" indent="0" marL="0">
              <a:buNone/>
            </a:pPr>
            <a:r>
              <a:rPr lang="en-US" sz="4800" b="1" dirty="0">
                <a:solidFill>
                  <a:srgbClr val="0B5D46"/>
                </a:solidFill>
              </a:rPr>
              <a:t>$10,000+</a:t>
            </a:r>
            <a:endParaRPr lang="en-US" sz="4800" dirty="0"/>
          </a:p>
        </p:txBody>
      </p:sp>
      <p:sp>
        <p:nvSpPr>
          <p:cNvPr id="11" name="Text 9"/>
          <p:cNvSpPr txBox="1"/>
          <p:nvPr/>
        </p:nvSpPr>
        <p:spPr>
          <a:xfrm>
            <a:off x="6217920" y="2697480"/>
            <a:ext cx="2286000" cy="822960"/>
          </a:xfrm>
          <a:prstGeom prst="rect">
            <a:avLst/>
          </a:prstGeom>
          <a:noFill/>
          <a:ln/>
        </p:spPr>
        <p:txBody>
          <a:bodyPr wrap="square" lIns="0" tIns="0" rIns="0" bIns="0" rtlCol="0" anchor="t"/>
          <a:lstStyle/>
          <a:p>
            <a:pPr algn="ctr" indent="0" marL="0">
              <a:buNone/>
            </a:pPr>
            <a:r>
              <a:rPr lang="en-US" sz="1800" dirty="0">
                <a:solidFill>
                  <a:srgbClr val="464B53"/>
                </a:solidFill>
              </a:rPr>
              <a:t>eye-gaze devices³</a:t>
            </a:r>
            <a:endParaRPr lang="en-US" sz="1800" dirty="0"/>
          </a:p>
        </p:txBody>
      </p:sp>
      <p:sp>
        <p:nvSpPr>
          <p:cNvPr id="12" name="Text 10"/>
          <p:cNvSpPr txBox="1"/>
          <p:nvPr/>
        </p:nvSpPr>
        <p:spPr>
          <a:xfrm>
            <a:off x="457200" y="4206240"/>
            <a:ext cx="7498080" cy="457200"/>
          </a:xfrm>
          <a:prstGeom prst="rect">
            <a:avLst/>
          </a:prstGeom>
          <a:noFill/>
          <a:ln/>
        </p:spPr>
        <p:txBody>
          <a:bodyPr wrap="square" lIns="0" tIns="0" rIns="0" bIns="0" rtlCol="0" anchor="b"/>
          <a:lstStyle/>
          <a:p>
            <a:pPr indent="0" marL="0">
              <a:buNone/>
            </a:pPr>
            <a:r>
              <a:rPr lang="en-US" sz="900" dirty="0">
                <a:solidFill>
                  <a:srgbClr val="464B53"/>
                </a:solidFill>
              </a:rPr>
              <a:t>¹ CommunicationFIRST, organization estimate (accessed 2026-10-24).  ² Eshghi et al., Scientific Reports 12:15713 (2022).  ³ Montana AT Program, Tobii I-16 eye-gaze device, est. $10,695 (older model).</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Listen. Suggest. Choose. Speak.</a:t>
            </a:r>
            <a:endParaRPr lang="en-US" sz="3200" dirty="0"/>
          </a:p>
        </p:txBody>
      </p:sp>
      <p:sp>
        <p:nvSpPr>
          <p:cNvPr id="3" name="card"/>
          <p:cNvSpPr/>
          <p:nvPr/>
        </p:nvSpPr>
        <p:spPr>
          <a:xfrm>
            <a:off x="45720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Mic"/>
          <p:cNvSpPr/>
          <p:nvPr/>
        </p:nvSpPr>
        <p:spPr>
          <a:xfrm>
            <a:off x="960120" y="1463040"/>
            <a:ext cx="777240" cy="77724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1154430" y="1657350"/>
            <a:ext cx="388620" cy="388620"/>
          </a:xfrm>
          <a:prstGeom prst="rect">
            <a:avLst/>
          </a:prstGeom>
        </p:spPr>
      </p:pic>
      <p:sp>
        <p:nvSpPr>
          <p:cNvPr id="6" name="Text 3"/>
          <p:cNvSpPr txBox="1"/>
          <p:nvPr/>
        </p:nvSpPr>
        <p:spPr>
          <a:xfrm>
            <a:off x="54864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Listen</a:t>
            </a:r>
            <a:endParaRPr lang="en-US" sz="2200" dirty="0"/>
          </a:p>
        </p:txBody>
      </p:sp>
      <p:sp>
        <p:nvSpPr>
          <p:cNvPr id="7" name="Text 4"/>
          <p:cNvSpPr txBox="1"/>
          <p:nvPr/>
        </p:nvSpPr>
        <p:spPr>
          <a:xfrm>
            <a:off x="59436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Partner just talks</a:t>
            </a:r>
            <a:endParaRPr lang="en-US" sz="1400" dirty="0"/>
          </a:p>
        </p:txBody>
      </p:sp>
      <p:sp>
        <p:nvSpPr>
          <p:cNvPr id="8" name="Shape 5"/>
          <p:cNvSpPr/>
          <p:nvPr/>
        </p:nvSpPr>
        <p:spPr>
          <a:xfrm>
            <a:off x="2295144" y="1856232"/>
            <a:ext cx="256032" cy="914"/>
          </a:xfrm>
          <a:prstGeom prst="line">
            <a:avLst/>
          </a:prstGeom>
          <a:noFill/>
          <a:ln w="19050">
            <a:solidFill>
              <a:srgbClr val="0B5D46"/>
            </a:solidFill>
            <a:prstDash val="solid"/>
            <a:tailEnd type="triangle"/>
          </a:ln>
        </p:spPr>
      </p:sp>
      <p:sp>
        <p:nvSpPr>
          <p:cNvPr id="9" name="card"/>
          <p:cNvSpPr/>
          <p:nvPr/>
        </p:nvSpPr>
        <p:spPr>
          <a:xfrm>
            <a:off x="260604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MessagesSquare"/>
          <p:cNvSpPr/>
          <p:nvPr/>
        </p:nvSpPr>
        <p:spPr>
          <a:xfrm>
            <a:off x="3108960" y="1463040"/>
            <a:ext cx="777240" cy="77724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3303270" y="1657350"/>
            <a:ext cx="388620" cy="388620"/>
          </a:xfrm>
          <a:prstGeom prst="rect">
            <a:avLst/>
          </a:prstGeom>
        </p:spPr>
      </p:pic>
      <p:sp>
        <p:nvSpPr>
          <p:cNvPr id="12" name="Text 8"/>
          <p:cNvSpPr txBox="1"/>
          <p:nvPr/>
        </p:nvSpPr>
        <p:spPr>
          <a:xfrm>
            <a:off x="269748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Suggest</a:t>
            </a:r>
            <a:endParaRPr lang="en-US" sz="2200" dirty="0"/>
          </a:p>
        </p:txBody>
      </p:sp>
      <p:sp>
        <p:nvSpPr>
          <p:cNvPr id="13" name="Text 9"/>
          <p:cNvSpPr txBox="1"/>
          <p:nvPr/>
        </p:nvSpPr>
        <p:spPr>
          <a:xfrm>
            <a:off x="274320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Two best replies + other ways</a:t>
            </a:r>
            <a:endParaRPr lang="en-US" sz="1400" dirty="0"/>
          </a:p>
        </p:txBody>
      </p:sp>
      <p:sp>
        <p:nvSpPr>
          <p:cNvPr id="14" name="Shape 10"/>
          <p:cNvSpPr/>
          <p:nvPr/>
        </p:nvSpPr>
        <p:spPr>
          <a:xfrm>
            <a:off x="4443984" y="1856232"/>
            <a:ext cx="256032" cy="914"/>
          </a:xfrm>
          <a:prstGeom prst="line">
            <a:avLst/>
          </a:prstGeom>
          <a:noFill/>
          <a:ln w="19050">
            <a:solidFill>
              <a:srgbClr val="0B5D46"/>
            </a:solidFill>
            <a:prstDash val="solid"/>
            <a:tailEnd type="triangle"/>
          </a:ln>
        </p:spPr>
      </p:sp>
      <p:sp>
        <p:nvSpPr>
          <p:cNvPr id="15" name="card"/>
          <p:cNvSpPr/>
          <p:nvPr/>
        </p:nvSpPr>
        <p:spPr>
          <a:xfrm>
            <a:off x="475488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ScanFace"/>
          <p:cNvSpPr/>
          <p:nvPr/>
        </p:nvSpPr>
        <p:spPr>
          <a:xfrm>
            <a:off x="5257800" y="1463040"/>
            <a:ext cx="777240" cy="77724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5452110" y="1657350"/>
            <a:ext cx="388620" cy="388620"/>
          </a:xfrm>
          <a:prstGeom prst="rect">
            <a:avLst/>
          </a:prstGeom>
        </p:spPr>
      </p:pic>
      <p:sp>
        <p:nvSpPr>
          <p:cNvPr id="18" name="Text 13"/>
          <p:cNvSpPr txBox="1"/>
          <p:nvPr/>
        </p:nvSpPr>
        <p:spPr>
          <a:xfrm>
            <a:off x="484632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Choose</a:t>
            </a:r>
            <a:endParaRPr lang="en-US" sz="2200" dirty="0"/>
          </a:p>
        </p:txBody>
      </p:sp>
      <p:sp>
        <p:nvSpPr>
          <p:cNvPr id="19" name="Text 14"/>
          <p:cNvSpPr txBox="1"/>
          <p:nvPr/>
        </p:nvSpPr>
        <p:spPr>
          <a:xfrm>
            <a:off x="489204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Eyebrows move, blink picks</a:t>
            </a:r>
            <a:endParaRPr lang="en-US" sz="1400" dirty="0"/>
          </a:p>
        </p:txBody>
      </p:sp>
      <p:sp>
        <p:nvSpPr>
          <p:cNvPr id="20" name="Shape 15"/>
          <p:cNvSpPr/>
          <p:nvPr/>
        </p:nvSpPr>
        <p:spPr>
          <a:xfrm>
            <a:off x="6592824" y="1856232"/>
            <a:ext cx="256032" cy="914"/>
          </a:xfrm>
          <a:prstGeom prst="line">
            <a:avLst/>
          </a:prstGeom>
          <a:noFill/>
          <a:ln w="19050">
            <a:solidFill>
              <a:srgbClr val="0B5D46"/>
            </a:solidFill>
            <a:prstDash val="solid"/>
            <a:tailEnd type="triangle"/>
          </a:ln>
        </p:spPr>
      </p:sp>
      <p:sp>
        <p:nvSpPr>
          <p:cNvPr id="21" name="card"/>
          <p:cNvSpPr/>
          <p:nvPr/>
        </p:nvSpPr>
        <p:spPr>
          <a:xfrm>
            <a:off x="690372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Volume2"/>
          <p:cNvSpPr/>
          <p:nvPr/>
        </p:nvSpPr>
        <p:spPr>
          <a:xfrm>
            <a:off x="7406640" y="1463040"/>
            <a:ext cx="777240" cy="77724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7600950" y="1657350"/>
            <a:ext cx="388620" cy="388620"/>
          </a:xfrm>
          <a:prstGeom prst="rect">
            <a:avLst/>
          </a:prstGeom>
        </p:spPr>
      </p:pic>
      <p:sp>
        <p:nvSpPr>
          <p:cNvPr id="24" name="Text 18"/>
          <p:cNvSpPr txBox="1"/>
          <p:nvPr/>
        </p:nvSpPr>
        <p:spPr>
          <a:xfrm>
            <a:off x="699516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Speak</a:t>
            </a:r>
            <a:endParaRPr lang="en-US" sz="2200" dirty="0"/>
          </a:p>
        </p:txBody>
      </p:sp>
      <p:sp>
        <p:nvSpPr>
          <p:cNvPr id="25" name="Text 19"/>
          <p:cNvSpPr txBox="1"/>
          <p:nvPr/>
        </p:nvSpPr>
        <p:spPr>
          <a:xfrm>
            <a:off x="704088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Natural voice</a:t>
            </a:r>
            <a:endParaRPr lang="en-US" sz="1400" dirty="0"/>
          </a:p>
        </p:txBody>
      </p:sp>
      <p:pic>
        <p:nvPicPr>
          <p:cNvPr id="26" name="Image 4" descr="iPad">    </p:cNvPr>
          <p:cNvPicPr>
            <a:picLocks noChangeAspect="1"/>
          </p:cNvPicPr>
          <p:nvPr/>
        </p:nvPicPr>
        <p:blipFill>
          <a:blip r:embed="rId5"/>
          <a:stretch>
            <a:fillRect/>
          </a:stretch>
        </p:blipFill>
        <p:spPr>
          <a:xfrm>
            <a:off x="2240280" y="3822192"/>
            <a:ext cx="457200" cy="457200"/>
          </a:xfrm>
          <a:prstGeom prst="rect">
            <a:avLst/>
          </a:prstGeom>
        </p:spPr>
      </p:pic>
      <p:sp>
        <p:nvSpPr>
          <p:cNvPr id="27" name="Text 20"/>
          <p:cNvSpPr txBox="1"/>
          <p:nvPr/>
        </p:nvSpPr>
        <p:spPr>
          <a:xfrm>
            <a:off x="2788920" y="3794760"/>
            <a:ext cx="4572000" cy="502920"/>
          </a:xfrm>
          <a:prstGeom prst="rect">
            <a:avLst/>
          </a:prstGeom>
          <a:noFill/>
          <a:ln/>
        </p:spPr>
        <p:txBody>
          <a:bodyPr wrap="square" lIns="0" tIns="0" rIns="0" bIns="0" rtlCol="0" anchor="ctr"/>
          <a:lstStyle/>
          <a:p>
            <a:pPr indent="0" marL="0">
              <a:buNone/>
            </a:pPr>
            <a:r>
              <a:rPr lang="en-US" sz="2400" b="1" dirty="0">
                <a:solidFill>
                  <a:srgbClr val="0B5D46"/>
                </a:solidFill>
              </a:rPr>
              <a:t>Just an iPad. No special hardware.</a:t>
            </a:r>
            <a:endParaRPr lang="en-US" sz="2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One blink to answer</a:t>
            </a:r>
            <a:endParaRPr lang="en-US" sz="3200" dirty="0"/>
          </a:p>
        </p:txBody>
      </p:sp>
      <p:sp>
        <p:nvSpPr>
          <p:cNvPr id="3" name="device frame"/>
          <p:cNvSpPr/>
          <p:nvPr/>
        </p:nvSpPr>
        <p:spPr>
          <a:xfrm>
            <a:off x="45720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Board: partner asked Are you coming to dinner tonight, two live replies">    </p:cNvPr>
          <p:cNvPicPr>
            <a:picLocks noChangeAspect="1"/>
          </p:cNvPicPr>
          <p:nvPr/>
        </p:nvPicPr>
        <p:blipFill>
          <a:blip r:embed="rId1"/>
          <a:stretch>
            <a:fillRect/>
          </a:stretch>
        </p:blipFill>
        <p:spPr>
          <a:xfrm>
            <a:off x="521208" y="1161288"/>
            <a:ext cx="3849624" cy="2885079"/>
          </a:xfrm>
          <a:prstGeom prst="rect">
            <a:avLst/>
          </a:prstGeom>
        </p:spPr>
      </p:pic>
      <p:sp>
        <p:nvSpPr>
          <p:cNvPr id="5" name="device frame"/>
          <p:cNvSpPr/>
          <p:nvPr/>
        </p:nvSpPr>
        <p:spPr>
          <a:xfrm>
            <a:off x="470916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6" name="Image 1" descr="Other ways to answer: What time, Who's coming, Decide later, Where at">    </p:cNvPr>
          <p:cNvPicPr>
            <a:picLocks noChangeAspect="1"/>
          </p:cNvPicPr>
          <p:nvPr/>
        </p:nvPicPr>
        <p:blipFill>
          <a:blip r:embed="rId2"/>
          <a:stretch>
            <a:fillRect/>
          </a:stretch>
        </p:blipFill>
        <p:spPr>
          <a:xfrm>
            <a:off x="4773168" y="1161288"/>
            <a:ext cx="3849624" cy="2885079"/>
          </a:xfrm>
          <a:prstGeom prst="rect">
            <a:avLst/>
          </a:prstGeom>
        </p:spPr>
      </p:pic>
      <p:sp>
        <p:nvSpPr>
          <p:cNvPr id="7" name="Text 3"/>
          <p:cNvSpPr txBox="1"/>
          <p:nvPr/>
        </p:nvSpPr>
        <p:spPr>
          <a:xfrm>
            <a:off x="457200" y="4247535"/>
            <a:ext cx="3977640" cy="365760"/>
          </a:xfrm>
          <a:prstGeom prst="rect">
            <a:avLst/>
          </a:prstGeom>
          <a:noFill/>
          <a:ln/>
        </p:spPr>
        <p:txBody>
          <a:bodyPr wrap="square" lIns="0" tIns="0" rIns="0" bIns="0" rtlCol="0" anchor="ctr"/>
          <a:lstStyle/>
          <a:p>
            <a:pPr algn="ctr" indent="0" marL="0">
              <a:buNone/>
            </a:pPr>
            <a:r>
              <a:rPr lang="en-US" sz="1800" b="1" dirty="0">
                <a:solidFill>
                  <a:srgbClr val="121417"/>
                </a:solidFill>
              </a:rPr>
              <a:t>Two best replies</a:t>
            </a:r>
            <a:endParaRPr lang="en-US" sz="1800" dirty="0"/>
          </a:p>
        </p:txBody>
      </p:sp>
      <p:sp>
        <p:nvSpPr>
          <p:cNvPr id="8" name="Text 4"/>
          <p:cNvSpPr txBox="1"/>
          <p:nvPr/>
        </p:nvSpPr>
        <p:spPr>
          <a:xfrm>
            <a:off x="4709160" y="4247535"/>
            <a:ext cx="3977640" cy="365760"/>
          </a:xfrm>
          <a:prstGeom prst="rect">
            <a:avLst/>
          </a:prstGeom>
          <a:noFill/>
          <a:ln/>
        </p:spPr>
        <p:txBody>
          <a:bodyPr wrap="square" lIns="0" tIns="0" rIns="0" bIns="0" rtlCol="0" anchor="ctr"/>
          <a:lstStyle/>
          <a:p>
            <a:pPr algn="ctr" indent="0" marL="0">
              <a:buNone/>
            </a:pPr>
            <a:r>
              <a:rPr lang="en-US" sz="1800" b="1" dirty="0">
                <a:solidFill>
                  <a:srgbClr val="0B5D46"/>
                </a:solidFill>
              </a:rPr>
              <a:t>Or pick a direction</a:t>
            </a:r>
            <a:endParaRPr lang="en-US" sz="1800" dirty="0"/>
          </a:p>
        </p:txBody>
      </p:sp>
      <p:sp>
        <p:nvSpPr>
          <p:cNvPr id="9" name="Text 5"/>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Current build, iPad-size browser view, Live AI replies (wording varies run to run).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Simple, private, personal</a:t>
            </a:r>
            <a:endParaRPr lang="en-US" sz="3200" dirty="0"/>
          </a:p>
        </p:txBody>
      </p:sp>
      <p:pic>
        <p:nvPicPr>
          <p:cNvPr id="3" name="Image 0" descr="Simplified architecture: iPad (camera, microphone, speaker), our Railway server, OpenAI and ElevenLabs">    </p:cNvPr>
          <p:cNvPicPr>
            <a:picLocks noChangeAspect="1"/>
          </p:cNvPicPr>
          <p:nvPr/>
        </p:nvPicPr>
        <p:blipFill>
          <a:blip r:embed="rId1"/>
          <a:stretch>
            <a:fillRect/>
          </a:stretch>
        </p:blipFill>
        <p:spPr>
          <a:xfrm>
            <a:off x="365760" y="1417320"/>
            <a:ext cx="5303520" cy="2430780"/>
          </a:xfrm>
          <a:prstGeom prst="rect">
            <a:avLst/>
          </a:prstGeom>
        </p:spPr>
      </p:pic>
      <p:sp>
        <p:nvSpPr>
          <p:cNvPr id="4" name="icon LuScanFace"/>
          <p:cNvSpPr/>
          <p:nvPr/>
        </p:nvSpPr>
        <p:spPr>
          <a:xfrm>
            <a:off x="5989320" y="1508760"/>
            <a:ext cx="548640" cy="548640"/>
          </a:xfrm>
          <a:prstGeom prst="ellipse">
            <a:avLst/>
          </a:prstGeom>
          <a:solidFill>
            <a:srgbClr val="0B5D46"/>
          </a:solidFill>
          <a:ln w="12700">
            <a:solidFill>
              <a:srgbClr val="0B5D46"/>
            </a:solidFill>
            <a:prstDash val="solid"/>
          </a:ln>
        </p:spPr>
      </p:sp>
      <p:pic>
        <p:nvPicPr>
          <p:cNvPr id="5" name="Image 1" descr="preencoded.png">    </p:cNvPr>
          <p:cNvPicPr>
            <a:picLocks noChangeAspect="1"/>
          </p:cNvPicPr>
          <p:nvPr/>
        </p:nvPicPr>
        <p:blipFill>
          <a:blip r:embed="rId2"/>
          <a:stretch>
            <a:fillRect/>
          </a:stretch>
        </p:blipFill>
        <p:spPr>
          <a:xfrm>
            <a:off x="6126480" y="1645920"/>
            <a:ext cx="274320" cy="274320"/>
          </a:xfrm>
          <a:prstGeom prst="rect">
            <a:avLst/>
          </a:prstGeom>
        </p:spPr>
      </p:pic>
      <p:sp>
        <p:nvSpPr>
          <p:cNvPr id="6" name="Text 2"/>
          <p:cNvSpPr txBox="1"/>
          <p:nvPr/>
        </p:nvSpPr>
        <p:spPr>
          <a:xfrm>
            <a:off x="6675120" y="150876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Calibrated to your face</a:t>
            </a:r>
            <a:endParaRPr lang="en-US" sz="1600" dirty="0"/>
          </a:p>
        </p:txBody>
      </p:sp>
      <p:sp>
        <p:nvSpPr>
          <p:cNvPr id="7" name="icon LuLock"/>
          <p:cNvSpPr/>
          <p:nvPr/>
        </p:nvSpPr>
        <p:spPr>
          <a:xfrm>
            <a:off x="5989320" y="2377440"/>
            <a:ext cx="548640" cy="548640"/>
          </a:xfrm>
          <a:prstGeom prst="ellipse">
            <a:avLst/>
          </a:prstGeom>
          <a:solidFill>
            <a:srgbClr val="0B5D46"/>
          </a:solidFill>
          <a:ln w="12700">
            <a:solidFill>
              <a:srgbClr val="0B5D46"/>
            </a:solidFill>
            <a:prstDash val="solid"/>
          </a:ln>
        </p:spPr>
      </p:sp>
      <p:pic>
        <p:nvPicPr>
          <p:cNvPr id="8" name="Image 2" descr="preencoded.png">    </p:cNvPr>
          <p:cNvPicPr>
            <a:picLocks noChangeAspect="1"/>
          </p:cNvPicPr>
          <p:nvPr/>
        </p:nvPicPr>
        <p:blipFill>
          <a:blip r:embed="rId3"/>
          <a:stretch>
            <a:fillRect/>
          </a:stretch>
        </p:blipFill>
        <p:spPr>
          <a:xfrm>
            <a:off x="6126480" y="2514600"/>
            <a:ext cx="274320" cy="274320"/>
          </a:xfrm>
          <a:prstGeom prst="rect">
            <a:avLst/>
          </a:prstGeom>
        </p:spPr>
      </p:pic>
      <p:sp>
        <p:nvSpPr>
          <p:cNvPr id="9" name="Text 4"/>
          <p:cNvSpPr txBox="1"/>
          <p:nvPr/>
        </p:nvSpPr>
        <p:spPr>
          <a:xfrm>
            <a:off x="6675120" y="237744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Camera stays on the iPad</a:t>
            </a:r>
            <a:endParaRPr lang="en-US" sz="1600" dirty="0"/>
          </a:p>
        </p:txBody>
      </p:sp>
      <p:sp>
        <p:nvSpPr>
          <p:cNvPr id="10" name="icon LuShieldCheck"/>
          <p:cNvSpPr/>
          <p:nvPr/>
        </p:nvSpPr>
        <p:spPr>
          <a:xfrm>
            <a:off x="5989320" y="3246120"/>
            <a:ext cx="548640" cy="548640"/>
          </a:xfrm>
          <a:prstGeom prst="ellipse">
            <a:avLst/>
          </a:prstGeom>
          <a:solidFill>
            <a:srgbClr val="0B5D46"/>
          </a:solidFill>
          <a:ln w="12700">
            <a:solidFill>
              <a:srgbClr val="0B5D46"/>
            </a:solidFill>
            <a:prstDash val="solid"/>
          </a:ln>
        </p:spPr>
      </p:sp>
      <p:pic>
        <p:nvPicPr>
          <p:cNvPr id="11" name="Image 3" descr="preencoded.png">    </p:cNvPr>
          <p:cNvPicPr>
            <a:picLocks noChangeAspect="1"/>
          </p:cNvPicPr>
          <p:nvPr/>
        </p:nvPicPr>
        <p:blipFill>
          <a:blip r:embed="rId4"/>
          <a:stretch>
            <a:fillRect/>
          </a:stretch>
        </p:blipFill>
        <p:spPr>
          <a:xfrm>
            <a:off x="6126480" y="3383280"/>
            <a:ext cx="274320" cy="274320"/>
          </a:xfrm>
          <a:prstGeom prst="rect">
            <a:avLst/>
          </a:prstGeom>
        </p:spPr>
      </p:pic>
      <p:sp>
        <p:nvSpPr>
          <p:cNvPr id="12" name="Text 6"/>
          <p:cNvSpPr txBox="1"/>
          <p:nvPr/>
        </p:nvSpPr>
        <p:spPr>
          <a:xfrm>
            <a:off x="6675120" y="324612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Learns you, with permission</a:t>
            </a:r>
            <a:endParaRPr lang="en-US" sz="1600" dirty="0"/>
          </a:p>
        </p:txBody>
      </p:sp>
      <p:sp>
        <p:nvSpPr>
          <p:cNvPr id="13" name="Text 7"/>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Camera frames stay on the iPad by design. Keys never leave the server.</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rPr>
              <a:t>Positive change, on hardware people own</a:t>
            </a:r>
            <a:endParaRPr lang="en-US" sz="3200" dirty="0"/>
          </a:p>
        </p:txBody>
      </p:sp>
      <p:sp>
        <p:nvSpPr>
          <p:cNvPr id="3" name="Text 1"/>
          <p:cNvSpPr txBox="1"/>
          <p:nvPr/>
        </p:nvSpPr>
        <p:spPr>
          <a:xfrm>
            <a:off x="457200" y="1234440"/>
            <a:ext cx="3474720" cy="1097280"/>
          </a:xfrm>
          <a:prstGeom prst="rect">
            <a:avLst/>
          </a:prstGeom>
          <a:noFill/>
          <a:ln/>
        </p:spPr>
        <p:txBody>
          <a:bodyPr wrap="square" lIns="0" tIns="0" rIns="0" bIns="0" rtlCol="0" anchor="ctr"/>
          <a:lstStyle/>
          <a:p>
            <a:pPr indent="0" marL="0">
              <a:buNone/>
            </a:pPr>
            <a:r>
              <a:rPr lang="en-US" sz="8000" b="1" dirty="0">
                <a:solidFill>
                  <a:srgbClr val="7FD1B0"/>
                </a:solidFill>
              </a:rPr>
              <a:t>3.8 s</a:t>
            </a:r>
            <a:endParaRPr lang="en-US" sz="8000" dirty="0"/>
          </a:p>
        </p:txBody>
      </p:sp>
      <p:sp>
        <p:nvSpPr>
          <p:cNvPr id="4" name="Text 2"/>
          <p:cNvSpPr txBox="1"/>
          <p:nvPr/>
        </p:nvSpPr>
        <p:spPr>
          <a:xfrm>
            <a:off x="457200" y="2377440"/>
            <a:ext cx="3474720" cy="411480"/>
          </a:xfrm>
          <a:prstGeom prst="rect">
            <a:avLst/>
          </a:prstGeom>
          <a:noFill/>
          <a:ln/>
        </p:spPr>
        <p:txBody>
          <a:bodyPr wrap="square" lIns="0" tIns="0" rIns="0" bIns="0" rtlCol="0" anchor="t"/>
          <a:lstStyle/>
          <a:p>
            <a:pPr indent="0" marL="0">
              <a:buNone/>
            </a:pPr>
            <a:r>
              <a:rPr lang="en-US" sz="1800" dirty="0">
                <a:solidFill>
                  <a:srgbClr val="E6E8EB"/>
                </a:solidFill>
              </a:rPr>
              <a:t>from partner to suggestions</a:t>
            </a:r>
            <a:endParaRPr lang="en-US" sz="1800" dirty="0"/>
          </a:p>
        </p:txBody>
      </p:sp>
      <p:sp>
        <p:nvSpPr>
          <p:cNvPr id="5" name="Text 3"/>
          <p:cNvSpPr txBox="1"/>
          <p:nvPr/>
        </p:nvSpPr>
        <p:spPr>
          <a:xfrm>
            <a:off x="4754880" y="1188720"/>
            <a:ext cx="3657600" cy="365760"/>
          </a:xfrm>
          <a:prstGeom prst="rect">
            <a:avLst/>
          </a:prstGeom>
          <a:noFill/>
          <a:ln/>
        </p:spPr>
        <p:txBody>
          <a:bodyPr wrap="square" lIns="0" tIns="0" rIns="0" bIns="0" rtlCol="0" anchor="t"/>
          <a:lstStyle/>
          <a:p>
            <a:pPr indent="0" marL="0">
              <a:buNone/>
            </a:pPr>
            <a:r>
              <a:rPr lang="en-US" sz="1600" b="1" dirty="0">
                <a:solidFill>
                  <a:srgbClr val="9AA0A8"/>
                </a:solidFill>
              </a:rPr>
              <a:t>Next</a:t>
            </a:r>
            <a:endParaRPr lang="en-US" sz="1600" dirty="0"/>
          </a:p>
        </p:txBody>
      </p:sp>
      <p:sp>
        <p:nvSpPr>
          <p:cNvPr id="6" name="icon LuUsers"/>
          <p:cNvSpPr/>
          <p:nvPr/>
        </p:nvSpPr>
        <p:spPr>
          <a:xfrm>
            <a:off x="4754880" y="1645920"/>
            <a:ext cx="457200" cy="457200"/>
          </a:xfrm>
          <a:prstGeom prst="ellipse">
            <a:avLst/>
          </a:prstGeom>
          <a:solidFill>
            <a:srgbClr val="E2F2EC"/>
          </a:solidFill>
          <a:ln w="12700">
            <a:solidFill>
              <a:srgbClr val="E2F2EC"/>
            </a:solidFill>
            <a:prstDash val="solid"/>
          </a:ln>
        </p:spPr>
      </p:sp>
      <p:pic>
        <p:nvPicPr>
          <p:cNvPr id="7" name="Image 0" descr="preencoded.png">    </p:cNvPr>
          <p:cNvPicPr>
            <a:picLocks noChangeAspect="1"/>
          </p:cNvPicPr>
          <p:nvPr/>
        </p:nvPicPr>
        <p:blipFill>
          <a:blip r:embed="rId1"/>
          <a:stretch>
            <a:fillRect/>
          </a:stretch>
        </p:blipFill>
        <p:spPr>
          <a:xfrm>
            <a:off x="4869180" y="1760220"/>
            <a:ext cx="228600" cy="228600"/>
          </a:xfrm>
          <a:prstGeom prst="rect">
            <a:avLst/>
          </a:prstGeom>
        </p:spPr>
      </p:pic>
      <p:sp>
        <p:nvSpPr>
          <p:cNvPr id="8" name="Text 5"/>
          <p:cNvSpPr txBox="1"/>
          <p:nvPr/>
        </p:nvSpPr>
        <p:spPr>
          <a:xfrm>
            <a:off x="5394960" y="1645920"/>
            <a:ext cx="3291840" cy="457200"/>
          </a:xfrm>
          <a:prstGeom prst="rect">
            <a:avLst/>
          </a:prstGeom>
          <a:noFill/>
          <a:ln/>
        </p:spPr>
        <p:txBody>
          <a:bodyPr wrap="square" lIns="0" tIns="0" rIns="0" bIns="0" rtlCol="0" anchor="ctr"/>
          <a:lstStyle/>
          <a:p>
            <a:pPr indent="0" marL="0">
              <a:buNone/>
            </a:pPr>
            <a:r>
              <a:rPr lang="en-US" sz="1800" b="1" dirty="0">
                <a:solidFill>
                  <a:srgbClr val="FFFFFF"/>
                </a:solidFill>
              </a:rPr>
              <a:t>Test with people with ALS</a:t>
            </a:r>
            <a:endParaRPr lang="en-US" sz="1800" dirty="0"/>
          </a:p>
        </p:txBody>
      </p:sp>
      <p:sp>
        <p:nvSpPr>
          <p:cNvPr id="9" name="icon LuSmartphone"/>
          <p:cNvSpPr/>
          <p:nvPr/>
        </p:nvSpPr>
        <p:spPr>
          <a:xfrm>
            <a:off x="4754880" y="2267712"/>
            <a:ext cx="457200" cy="457200"/>
          </a:xfrm>
          <a:prstGeom prst="ellipse">
            <a:avLst/>
          </a:prstGeom>
          <a:solidFill>
            <a:srgbClr val="E2F2EC"/>
          </a:solidFill>
          <a:ln w="12700">
            <a:solidFill>
              <a:srgbClr val="E2F2EC"/>
            </a:solidFill>
            <a:prstDash val="solid"/>
          </a:ln>
        </p:spPr>
      </p:sp>
      <p:pic>
        <p:nvPicPr>
          <p:cNvPr id="10" name="Image 1" descr="preencoded.png">    </p:cNvPr>
          <p:cNvPicPr>
            <a:picLocks noChangeAspect="1"/>
          </p:cNvPicPr>
          <p:nvPr/>
        </p:nvPicPr>
        <p:blipFill>
          <a:blip r:embed="rId2"/>
          <a:stretch>
            <a:fillRect/>
          </a:stretch>
        </p:blipFill>
        <p:spPr>
          <a:xfrm>
            <a:off x="4869180" y="2382012"/>
            <a:ext cx="228600" cy="228600"/>
          </a:xfrm>
          <a:prstGeom prst="rect">
            <a:avLst/>
          </a:prstGeom>
        </p:spPr>
      </p:pic>
      <p:sp>
        <p:nvSpPr>
          <p:cNvPr id="11" name="Text 7"/>
          <p:cNvSpPr txBox="1"/>
          <p:nvPr/>
        </p:nvSpPr>
        <p:spPr>
          <a:xfrm>
            <a:off x="5394960" y="2267712"/>
            <a:ext cx="3291840" cy="457200"/>
          </a:xfrm>
          <a:prstGeom prst="rect">
            <a:avLst/>
          </a:prstGeom>
          <a:noFill/>
          <a:ln/>
        </p:spPr>
        <p:txBody>
          <a:bodyPr wrap="square" lIns="0" tIns="0" rIns="0" bIns="0" rtlCol="0" anchor="ctr"/>
          <a:lstStyle/>
          <a:p>
            <a:pPr indent="0" marL="0">
              <a:buNone/>
            </a:pPr>
            <a:r>
              <a:rPr lang="en-US" sz="1800" b="1" dirty="0">
                <a:solidFill>
                  <a:srgbClr val="FFFFFF"/>
                </a:solidFill>
              </a:rPr>
              <a:t>Phones and offline</a:t>
            </a:r>
            <a:endParaRPr lang="en-US" sz="1800" dirty="0"/>
          </a:p>
        </p:txBody>
      </p:sp>
      <p:sp>
        <p:nvSpPr>
          <p:cNvPr id="12" name="icon LuAudioLines"/>
          <p:cNvSpPr/>
          <p:nvPr/>
        </p:nvSpPr>
        <p:spPr>
          <a:xfrm>
            <a:off x="4754880" y="2889504"/>
            <a:ext cx="457200" cy="457200"/>
          </a:xfrm>
          <a:prstGeom prst="ellipse">
            <a:avLst/>
          </a:prstGeom>
          <a:solidFill>
            <a:srgbClr val="E2F2EC"/>
          </a:solidFill>
          <a:ln w="12700">
            <a:solidFill>
              <a:srgbClr val="E2F2EC"/>
            </a:solidFill>
            <a:prstDash val="solid"/>
          </a:ln>
        </p:spPr>
      </p:sp>
      <p:pic>
        <p:nvPicPr>
          <p:cNvPr id="13" name="Image 2" descr="preencoded.png">    </p:cNvPr>
          <p:cNvPicPr>
            <a:picLocks noChangeAspect="1"/>
          </p:cNvPicPr>
          <p:nvPr/>
        </p:nvPicPr>
        <p:blipFill>
          <a:blip r:embed="rId3"/>
          <a:stretch>
            <a:fillRect/>
          </a:stretch>
        </p:blipFill>
        <p:spPr>
          <a:xfrm>
            <a:off x="4869180" y="3003804"/>
            <a:ext cx="228600" cy="228600"/>
          </a:xfrm>
          <a:prstGeom prst="rect">
            <a:avLst/>
          </a:prstGeom>
        </p:spPr>
      </p:pic>
      <p:sp>
        <p:nvSpPr>
          <p:cNvPr id="14" name="Text 9"/>
          <p:cNvSpPr txBox="1"/>
          <p:nvPr/>
        </p:nvSpPr>
        <p:spPr>
          <a:xfrm>
            <a:off x="5394960" y="2889504"/>
            <a:ext cx="3291840" cy="457200"/>
          </a:xfrm>
          <a:prstGeom prst="rect">
            <a:avLst/>
          </a:prstGeom>
          <a:noFill/>
          <a:ln/>
        </p:spPr>
        <p:txBody>
          <a:bodyPr wrap="square" lIns="0" tIns="0" rIns="0" bIns="0" rtlCol="0" anchor="ctr"/>
          <a:lstStyle/>
          <a:p>
            <a:pPr indent="0" marL="0">
              <a:buNone/>
            </a:pPr>
            <a:r>
              <a:rPr lang="en-US" sz="1800" b="1" dirty="0">
                <a:solidFill>
                  <a:srgbClr val="FFFFFF"/>
                </a:solidFill>
              </a:rPr>
              <a:t>Personal voice</a:t>
            </a:r>
            <a:endParaRPr lang="en-US" sz="1800" dirty="0"/>
          </a:p>
        </p:txBody>
      </p:sp>
      <p:pic>
        <p:nvPicPr>
          <p:cNvPr id="15" name="Image 3" descr="Still Here mark">    </p:cNvPr>
          <p:cNvPicPr>
            <a:picLocks noChangeAspect="1"/>
          </p:cNvPicPr>
          <p:nvPr/>
        </p:nvPicPr>
        <p:blipFill>
          <a:blip r:embed="rId4"/>
          <a:stretch>
            <a:fillRect/>
          </a:stretch>
        </p:blipFill>
        <p:spPr>
          <a:xfrm>
            <a:off x="457200" y="3675888"/>
            <a:ext cx="457200" cy="457200"/>
          </a:xfrm>
          <a:prstGeom prst="rect">
            <a:avLst/>
          </a:prstGeom>
        </p:spPr>
      </p:pic>
      <p:sp>
        <p:nvSpPr>
          <p:cNvPr id="16" name="Text 10"/>
          <p:cNvSpPr txBox="1"/>
          <p:nvPr/>
        </p:nvSpPr>
        <p:spPr>
          <a:xfrm>
            <a:off x="1051560" y="3630168"/>
            <a:ext cx="5029200" cy="548640"/>
          </a:xfrm>
          <a:prstGeom prst="rect">
            <a:avLst/>
          </a:prstGeom>
          <a:noFill/>
          <a:ln/>
        </p:spPr>
        <p:txBody>
          <a:bodyPr wrap="square" lIns="0" tIns="0" rIns="0" bIns="0" rtlCol="0" anchor="ctr"/>
          <a:lstStyle/>
          <a:p>
            <a:pPr indent="0" marL="0">
              <a:buNone/>
            </a:pPr>
            <a:r>
              <a:rPr lang="en-US" sz="3000" b="1" dirty="0">
                <a:solidFill>
                  <a:srgbClr val="7FD1B0"/>
                </a:solidFill>
              </a:rPr>
              <a:t>Your words. Your choice.</a:t>
            </a:r>
            <a:endParaRPr lang="en-US" sz="3000" dirty="0"/>
          </a:p>
        </p:txBody>
      </p:sp>
      <p:sp>
        <p:nvSpPr>
          <p:cNvPr id="17" name="Text 11"/>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9AA0A8"/>
                </a:solidFill>
              </a:rPr>
              <a:t>3.8 s: median, Mac to deployed server, synthetic speech.</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theme/theme1.xml><?xml version="1.0" encoding="utf-8"?>
<a:theme xmlns:a="http://schemas.openxmlformats.org/drawingml/2006/main" name="Still Here">
  <a:themeElements>
    <a:clrScheme name="Still Here">
      <a:dk1>
        <a:srgbClr val="121417"/>
      </a:dk1>
      <a:lt1>
        <a:srgbClr val="FFFFFF"/>
      </a:lt1>
      <a:dk2>
        <a:srgbClr val="464B53"/>
      </a:dk2>
      <a:lt2>
        <a:srgbClr val="FAFAFA"/>
      </a:lt2>
      <a:accent1>
        <a:srgbClr val="0B5D46"/>
      </a:accent1>
      <a:accent2>
        <a:srgbClr val="E2F2EC"/>
      </a:accent2>
      <a:accent3>
        <a:srgbClr val="3C8C6E"/>
      </a:accent3>
      <a:accent4>
        <a:srgbClr val="8A9099"/>
      </a:accent4>
      <a:accent5>
        <a:srgbClr val="B8BDC4"/>
      </a:accent5>
      <a:accent6>
        <a:srgbClr val="7FD1B0"/>
      </a:accent6>
      <a:hlink>
        <a:srgbClr val="0B5D46"/>
      </a:hlink>
      <a:folHlink>
        <a:srgbClr val="464B53"/>
      </a:folHlink>
    </a:clrScheme>
    <a:fontScheme name="Still He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Still Here: SASEHacks for Good pitch</dc:title>
  <dc:subject>PptxGenJS Presentation</dc:subject>
  <dc:creator>Still Here team</dc:creator>
  <cp:lastModifiedBy>Still Here team</cp:lastModifiedBy>
  <cp:revision>1</cp:revision>
  <dcterms:created xsi:type="dcterms:W3CDTF">2026-10-24T20:26:26Z</dcterms:created>
  <dcterms:modified xsi:type="dcterms:W3CDTF">2026-10-24T20:26:26Z</dcterms:modified>
</cp:coreProperties>
</file>