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1c38a70-d20a-6c0a-480a-e22b57a48cf6}">
          <p14:sldIdLst>
            <p14:sldId id="256"/>
            <p14:sldId id="257"/>
            <p14:sldId id="258"/>
            <p14:sldId id="259"/>
            <p14:sldId id="260"/>
          </p14:sldIdLst>
        </p14:section>
        <p14:section name="Demo" id="{e1a833df-9b38-c75c-1e6e-3e4a2130bce3}">
          <p14:sldIdLst>
            <p14:sldId id="261"/>
            <p14:sldId id="262"/>
            <p14:sldId id="263"/>
            <p14:sldId id="264"/>
          </p14:sldIdLst>
        </p14:section>
        <p14:section name="How it works" id="{fe49e445-3a71-1265-bfdc-f8d142c33e55}">
          <p14:sldIdLst>
            <p14:sldId id="265"/>
            <p14:sldId id="266"/>
            <p14:sldId id="267"/>
            <p14:sldId id="268"/>
          </p14:sldIdLst>
        </p14:section>
        <p14:section name="Trust" id="{ebe0d582-1065-f11f-8c47-838c355b43db}">
          <p14:sldIdLst>
            <p14:sldId id="269"/>
            <p14:sldId id="270"/>
            <p14:sldId id="271"/>
          </p14:sldIdLst>
        </p14:section>
        <p14:section name="Close" id="{ba817a09-e1eb-8ffc-081b-9dd69070f786}">
          <p14:sldIdLst>
            <p14:sldId id="272"/>
            <p14:sldId id="273"/>
            <p14:sldId id="274"/>
          </p14:sldIdLst>
        </p14:section>
        <p14:section name="Backup" id="{051c3ef0-a01c-9711-3461-3a9eb306bcca}">
          <p14:sldIdLst>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1417"/>
                </a:solidFill>
                <a:latin typeface="+mn-lt"/>
              </a:defRPr>
            </a:pPr>
            <a:r>
              <a:rPr sz="1300" b="0" i="0" u="none" strike="noStrike">
                <a:solidFill>
                  <a:srgbClr val="121417"/>
                </a:solidFill>
                <a:latin typeface="+mn-lt"/>
              </a:rPr>
              <a:t>Partner stops to suggestions on screen (seconds)</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B8BDC4"/>
            </a:solidFill>
            <a:effectLst/>
          </c:spPr>
          <c:invertIfNegative val="0"/>
          <c:dLbls>
            <c:numFmt formatCode="0.0&quot; s&quot;" sourceLinked="0"/>
            <c:txPr>
              <a:bodyPr/>
              <a:lstStyle/>
              <a:p>
                <a:pPr>
                  <a:defRPr b="0" i="0" strike="noStrike" sz="1200" u="none">
                    <a:solidFill>
                      <a:srgbClr val="121417"/>
                    </a:solidFill>
                    <a:latin typeface="+mn-lt"/>
                  </a:defRPr>
                </a:pPr>
              </a:p>
            </c:txPr>
            <c:showLegendKey val="0"/>
            <c:showVal val="1"/>
            <c:showCatName val="0"/>
            <c:showSerName val="0"/>
            <c:showPercent val="0"/>
            <c:showBubbleSize val="0"/>
            <c:showLeaderLines val="0"/>
          </c:dLbls>
          <c:cat>
            <c:multiLvlStrRef>
              <c:f>Sheet1!$A$2:$A$3</c:f>
              <c:multiLvlStrCache>
                <c:ptCount val="2"/>
                <c:lvl>
                  <c:pt idx="0">
                    <c:v>Median</c:v>
                  </c:pt>
                  <c:pt idx="1">
                    <c:v>p90</c:v>
                  </c:pt>
                </c:lvl>
              </c:multiLvlStrCache>
            </c:multiLvlStrRef>
          </c:cat>
          <c:val>
            <c:numRef>
              <c:f>Sheet1!$B$2:$B$3</c:f>
              <c:numCache>
                <c:formatCode>General</c:formatCode>
                <c:ptCount val="2"/>
                <c:pt idx="0">
                  <c:v>5.1</c:v>
                </c:pt>
                <c:pt idx="1">
                  <c:v>7.8</c:v>
                </c:pt>
              </c:numCache>
            </c:numRef>
          </c:val>
        </c:ser>
        <c:ser>
          <c:idx val="1"/>
          <c:order val="1"/>
          <c:tx>
            <c:strRef>
              <c:f>Sheet1!$C$1</c:f>
              <c:strCache>
                <c:ptCount val="1"/>
                <c:pt idx="0">
                  <c:v>After</c:v>
                </c:pt>
              </c:strCache>
            </c:strRef>
          </c:tx>
          <c:spPr>
            <a:solidFill>
              <a:srgbClr val="0B5D46"/>
            </a:solidFill>
            <a:effectLst/>
          </c:spPr>
          <c:invertIfNegative val="0"/>
          <c:dLbls>
            <c:numFmt formatCode="0.0&quot; s&quot;" sourceLinked="0"/>
            <c:txPr>
              <a:bodyPr/>
              <a:lstStyle/>
              <a:p>
                <a:pPr>
                  <a:defRPr b="0" i="0" strike="noStrike" sz="1200" u="none">
                    <a:solidFill>
                      <a:srgbClr val="121417"/>
                    </a:solidFill>
                    <a:latin typeface="+mn-lt"/>
                  </a:defRPr>
                </a:pPr>
              </a:p>
            </c:txPr>
            <c:showLegendKey val="0"/>
            <c:showVal val="1"/>
            <c:showCatName val="0"/>
            <c:showSerName val="0"/>
            <c:showPercent val="0"/>
            <c:showBubbleSize val="0"/>
            <c:showLeaderLines val="0"/>
          </c:dLbls>
          <c:cat>
            <c:multiLvlStrRef>
              <c:f>Sheet1!$A$2:$A$3</c:f>
              <c:multiLvlStrCache>
                <c:ptCount val="2"/>
                <c:lvl>
                  <c:pt idx="0">
                    <c:v>Median</c:v>
                  </c:pt>
                  <c:pt idx="1">
                    <c:v>p90</c:v>
                  </c:pt>
                </c:lvl>
              </c:multiLvlStrCache>
            </c:multiLvlStrRef>
          </c:cat>
          <c:val>
            <c:numRef>
              <c:f>Sheet1!$C$2:$C$3</c:f>
              <c:numCache>
                <c:formatCode>General</c:formatCode>
                <c:ptCount val="2"/>
                <c:pt idx="0">
                  <c:v>3.8</c:v>
                </c:pt>
                <c:pt idx="1">
                  <c:v>5.8</c:v>
                </c:pt>
              </c:numCache>
            </c:numRef>
          </c:val>
        </c:ser>
        <c:dLbls>
          <c:numFmt formatCode="0.0&quot; s&quot;" sourceLinked="0"/>
          <c:txPr>
            <a:bodyPr/>
            <a:lstStyle/>
            <a:p>
              <a:pPr>
                <a:defRPr b="0" i="0" strike="noStrike" sz="1200" u="none">
                  <a:solidFill>
                    <a:srgbClr val="12141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64B53"/>
                </a:solidFill>
                <a:latin typeface="+mn-lt"/>
              </a:defRPr>
            </a:pPr>
            <a:endParaRPr lang="en-US"/>
          </a:p>
        </c:txPr>
        <c:crossAx val="2094734552"/>
        <c:crosses val="autoZero"/>
        <c:auto val="1"/>
        <c:lblAlgn val="ctr"/>
        <c:noMultiLvlLbl val="1"/>
      </c:catAx>
      <c:valAx>
        <c:axId val="2094734552"/>
        <c:scaling>
          <c:orientation val="minMax"/>
          <c:max val="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64B5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the Still Here team. Before we show you anything technical, we want you to imagine something.
[Screenshot: current build, Live AI replies; the yellow highlight was applied by script for the capture, not reached by blink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friend turns to you and asks, 'Are you coming to dinner tonight?' You know exactly what you want to say. Maybe it's 'Yes, save me a seat,' maybe it's a joke. But you can't speak, and you can't use your hands. So you start spelling, one letter at a time. Before you finish, the conversation has moved on. Someone answers for you. 'She's probably tired.' You're in the room, and you're still here, but the conversation is happening without you. What you want isn't just a way to answer later. You want to be part of the conversation while it's still happening. That's what we built.
[Pause one beat before the next slide. Illustrative scenario, not a real person; do not imply we interviewed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rare. CommunicationFIRST estimates more than five million children and adults in the U.S. can't rely on speech alone. That includes people with ALS, stroke, cerebral palsy and more. In ALS, most people gradually lose the ability to speak and eventually need a device to communicate. Most tools make them build messages letter by letter, and conversation doesn't wait.
[Say "estimates". Do not say "voiceless" or "trapped".]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hackathon asks us to create positive change in the community or the world. Here's where change is needed. Speed: healthy speakers in one study talked at about 190 words a minute, and spelling a reply is far slower. Cost: dedicated eye-gaze communication devices have been listed at over ten thousand dollars. And authorship: AI that talks for you isn't the goal. So we set a rule: no special hardware. No eye tracker, no head switch, no dedicated speech device. Just a camera, a mic and a speaker people already own.
[Say "about 190 in one study" and "have been listed at over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Here lets someone who can't speak or use their hands keep up with a real, back-and-forth conversation and answer in the moment, in their own words. Not just answers. Conversation. And it needs only what people already own: a device with a front camera, a microphone and a speaker. It's a web app that runs in the browser, and we also built an installable iPad app. Here's the loop. The partner just talks; the iPad listens hands-free. Still Here offers the two most likely replies, plus Other ways to answer when neither fits. The person raises their eyebrows to move and does a long blink to choose, and the reply is spoken in a natural voice. Today we've demoed and tested it on an iPad. Phones are next: the layout adapts, but we haven't tested on a phone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dinner question? Let's run it. My teammate asks, 'Are you coming to dinner tonight?' Two likely replies show up in a few seconds. A raise moves the highlight, a long blink speaks it. Now an open question: 'How was your day?' If neither reply fits, Other ways to answer offers directions like Rough day or You first, with replies usually already loaded. Nothing is spoken unless the person chooses it.
[Then switch to the live iPad mirror. Fallbacks if needed: Touch mode, typed partner line, basic device voice, Fixture demo, all labeled on screen. Do not say "instant"; open questions can take about 7 to 9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uses four face movements the front camera can see. Raise your eyebrows for about half a second to move one step; keep them up and it keeps moving, a step every 0.6 seconds. A brief jaw drop goes back; talking and yawns are ignored. A long blink with both eyes chooses; normal blinks and winks don't count. If a blink and a raise overlap, the blink wins and the ambiguous input is thrown away. Touch, keyboard and switch all still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Faces differ, so every person gets their own calibration. In under a minute it records their relaxed face, watches their normal blinking, asks for a few deliberate long blinks and a few eyebrow raises, and sets personal thresholds and timing: for example the eyebrow hold lands between about 0.35 and 0.5 seconds. If it can't tell a natural blink from a deliberate one, it says so honestly instead of guessing. Only a few numbers are saved, on that iPad. No images, no face data, no cloud profile.
[Say "saved on this iPad", never "cloud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Here adapts, but only in ways the person controls. If they turn down a set of replies, the server is told what was offered and not chosen for this question, so the next set takes different meanings, not paraphrases. If they turn on session learning at setup, the app notices wording patterns, like repeatedly asking for shorter replies, and then asks, 'Shorter replies?' It only applies that after they approve, twice. It's kept for the session unless they choose to save it on this iPad, and they can see, pause or delete it anytime. Learning is off by default. No model is trained on them.
[Do not say "learns everything about you", "cloud profile" or "trains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tracking runs on the iPad with MediaPipe, so camera frames stay on the device by design. When the partner talks, a short clip goes to our server, which calls OpenAI to transcribe it and to suggest replies. The chosen reply goes to ElevenLabs for the voice. All API keys live on the server; the iPad only holds an access code.
["Camera frames stay on device" is by design; the device network check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iPad, MediaPipe's Face Landmarker runs locally in WebAssembly on the GPU. We read only a few blendshape scores: eye blink, eyebrow raise and jaw open, and if several faces are in view we lock onto one. Listening uses on-device voice detection; 0.65 seconds of silence ends the partner's turn. Every input, from touch to a blink, goes through one pure reducer and one target list, so a gesture can never do two things. A small SwiftUI shell wraps the web app so camera, mic and audio just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is a Next.js API on Railway with four routes. Transcribe sends the detected clip to OpenAI's gpt-transcribe. Replies calls the OpenAI Responses API with a strict JSON schema, store false, and low reasoning effort; in branching mode it returns two replies plus three to five directions, and a follow-up from the partner merges into the open question. Speech sends only the exact reply text to ElevenLabs' turbo model over a WebSocket, and the app prefetches audio for the suggestions so the chosen one can play from memory. Every paid route checks an access code, rate limits per client, and voice has a daily character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timed the chain. From the partner finishing to suggestions on screen went from a median of 5.1 seconds to 3.8, and the slow tail from 7.8 to 5.8. Voice audio is fetched while the person reads, so if reading and blinking take longer than about 0.6 seconds, the voice starts right at the blink. These are Mac measurements with synthetic speech, not iPad numbers.
[Detail if asked: replies call alone 3.9 s / 6.6 s before, 2.5 s / 4.4 s after (median / p90). Blink to voice without prefetch 0.69 s / 0.80 s before, 0.63 s / 0.72 s after. Never cite the priority-tier 1.8 s. No "faster than typing"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ever spoken without a deliberate long blink or a touch. Fast mode, the default, trades the review step for speed; a helper can turn on review plus a separate confirming blink with one checkbox. In our test scenarios the AI kept disagreement, refused a prompt injection, and never offered consent on a medication question. Camera frames stay on the iPad by design. Audio clips and text go to OpenAI with store false, and in fast mode suggested sentences are sent to ElevenLabs ahead of time. We make no zero-retention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was built today, starting at 9 AM: face control with calibration, hands-free listening, AI suggestions, natural voice, a native iPad app and a Railway backend. We have 586 passing automated tests. And we're clear about what we haven't proven: we haven't measured gesture reliability on people, and no AAC user has tested it yet.
[Re-run node scripts/smoke-deployed.mjs against the current deploy before citing 6/6 for it. Built with Claude Code under Liam's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pair AI suggestions with AAC. VisioALS is the closest: spoken question, AI replies, gaze selection, ElevenLabs voice. SpeakFaster and Project Converse are research systems. What we built is the combination: eyebrow, jaw and blink control with no eye tracker, hands-free partner listening, personal calibration, and Other ways to answer so the person steers by meaning.
[Alek shut down 2026-06-01. Do not say "first" or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theme. Positive change: the goal is to give people who can't speak or use their hands the speed and authorship of conversation back, and that includes their family and friends on the other side of it. Community: it's meant for caregivers, speech-language pathologists, classrooms and hospitals, on a device they may already have. Creative: face gestures on a normal front camera, Other ways to answer, and learning only with permission. Innovative: the AI offers, and the person decides.
[Do not add impact numbers; we have none. Design goals, not measured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need the people this is for. We want to co-design with AAC users and speech-language pathologists, run our reliability trial with real people, and test on phones so it really works on the device you already have. Later, a personal voice with consent, and on-device models to cut latency and cloud exposure. If you know AAC users, clinicians or researchers, we'd love an introduction.
[Plans only. No partnerships arranged.]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dinner question. With Still Here, you answer while the conversation is still happening, and you join in instead of responding later. In your words. AI offers possibilities. The person keeps authorship. Thank you.
[The dinner reply is a real live suggestion from the deployed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for judge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off fast mode and every reply goes to review. Review starts on Cancel. A new blink confirms. Slower, safer, for higher-stakes settings. One gesture can never do two things (synthetic tests; verified browser switch test: 20 auto-repeats produced one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Dinner, then How was your day with Other ways. Fallbacks: Touch, typed partner line, basic voice, Fixture demo. Use a Private window if in Safari. Run the smoke test before stage. Fixture demo is labeled on screen and is a manual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tests prove logic, not reliability. Latency is Mac-measured. No AAC users yet. Not tested on phones. Not a medical device. Read the Do-not-say list in JUDGE_QA.md. MediaPipe model card: "not intended for human life-critical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engineering story. We tried a faster priority tier; 4 of 6 replies timed out on the deployed server. 14:05 fail, 14:10 variable deleted but no redeploy so still failing, 14:16 redeploy and 4/4 OK. We now smoke-test after every config change. Never cite its offline 1.8 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detail for technical questions. Reducer, target registry, gesture arbiter, effects runner. Same guarded ACTIVATE for every input. Camera frames stay on the iPad by design (device network check not run). Keys stay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turn, end to end. Measured on a Mac with synthetic speech; not yet timed on the iPad. Voice from cache at the blink is conditional on prefetch and not yet verified on the iPad. The headline number on the Speed slide is the measured end-to-end median of 3.8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AFA"/>
        </a:solidFill>
      </p:bgPr>
    </p:bg>
    <p:spTree>
      <p:nvGrpSpPr>
        <p:cNvPr id="1" name=""/>
        <p:cNvGrpSpPr/>
        <p:nvPr/>
      </p:nvGrpSpPr>
      <p:grpSpPr>
        <a:xfrm>
          <a:off x="0" y="0"/>
          <a:ext cx="0" cy="0"/>
          <a:chOff x="0" y="0"/>
          <a:chExt cx="0" cy="0"/>
        </a:xfrm>
      </p:grpSpPr>
      <p:pic>
        <p:nvPicPr>
          <p:cNvPr id="2" name="Image 0" descr="Still Here mark">    </p:cNvPr>
          <p:cNvPicPr>
            <a:picLocks noChangeAspect="1"/>
          </p:cNvPicPr>
          <p:nvPr/>
        </p:nvPicPr>
        <p:blipFill>
          <a:blip r:embed="rId1"/>
          <a:stretch>
            <a:fillRect/>
          </a:stretch>
        </p:blipFill>
        <p:spPr>
          <a:xfrm>
            <a:off x="8028432" y="4796028"/>
            <a:ext cx="182880" cy="182880"/>
          </a:xfrm>
          <a:prstGeom prst="rect">
            <a:avLst/>
          </a:prstGeom>
        </p:spPr>
      </p:pic>
      <p:sp>
        <p:nvSpPr>
          <p:cNvPr id="3" name="Text 0"/>
          <p:cNvSpPr/>
          <p:nvPr>
            <p:ph idx="101" type="title" hasCustomPrompt="1"/>
          </p:nvPr>
        </p:nvSpPr>
        <p:spPr>
          <a:xfrm>
            <a:off x="457200" y="292608"/>
            <a:ext cx="822960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1417"/>
        </a:solidFill>
      </p:bgPr>
    </p:bg>
    <p:spTree>
      <p:nvGrpSpPr>
        <p:cNvPr id="1" name=""/>
        <p:cNvGrpSpPr/>
        <p:nvPr/>
      </p:nvGrpSpPr>
      <p:grpSpPr>
        <a:xfrm>
          <a:off x="0" y="0"/>
          <a:ext cx="0" cy="0"/>
          <a:chOff x="0" y="0"/>
          <a:chExt cx="0" cy="0"/>
        </a:xfrm>
      </p:grpSpPr>
      <p:pic>
        <p:nvPicPr>
          <p:cNvPr id="2" name="Image 0" descr="Still Here mark">    </p:cNvPr>
          <p:cNvPicPr>
            <a:picLocks noChangeAspect="1"/>
          </p:cNvPicPr>
          <p:nvPr/>
        </p:nvPicPr>
        <p:blipFill>
          <a:blip r:embed="rId1"/>
          <a:stretch>
            <a:fillRect/>
          </a:stretch>
        </p:blipFill>
        <p:spPr>
          <a:xfrm>
            <a:off x="8028432" y="4796028"/>
            <a:ext cx="182880" cy="182880"/>
          </a:xfrm>
          <a:prstGeom prst="rect">
            <a:avLst/>
          </a:prstGeom>
        </p:spPr>
      </p:pic>
      <p:sp>
        <p:nvSpPr>
          <p:cNvPr id="3" name="Text 0"/>
          <p:cNvSpPr/>
          <p:nvPr>
            <p:ph idx="101" type="title" hasCustomPrompt="1"/>
          </p:nvPr>
        </p:nvSpPr>
        <p:spPr>
          <a:xfrm>
            <a:off x="457200" y="292608"/>
            <a:ext cx="82296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121417"/>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Close">
    <p:bg>
      <p:bgPr>
        <a:solidFill>
          <a:srgbClr val="1214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4206240" cy="17373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ull Image">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slideLayout" Target="../slideLayouts/slideLayout2.xml"/><Relationship Id="rId1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6.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till Here">    </p:cNvPr>
          <p:cNvPicPr>
            <a:picLocks noChangeAspect="1"/>
          </p:cNvPicPr>
          <p:nvPr/>
        </p:nvPicPr>
        <p:blipFill>
          <a:blip r:embed="rId1"/>
          <a:stretch>
            <a:fillRect/>
          </a:stretch>
        </p:blipFill>
        <p:spPr>
          <a:xfrm>
            <a:off x="411480" y="1097280"/>
            <a:ext cx="4023360" cy="1005840"/>
          </a:xfrm>
          <a:prstGeom prst="rect">
            <a:avLst/>
          </a:prstGeom>
        </p:spPr>
      </p:pic>
      <p:sp>
        <p:nvSpPr>
          <p:cNvPr id="3" name="Text 0"/>
          <p:cNvSpPr txBox="1"/>
          <p:nvPr/>
        </p:nvSpPr>
        <p:spPr>
          <a:xfrm>
            <a:off x="548640" y="2148840"/>
            <a:ext cx="4206240" cy="457200"/>
          </a:xfrm>
          <a:prstGeom prst="rect">
            <a:avLst/>
          </a:prstGeom>
          <a:noFill/>
          <a:ln/>
        </p:spPr>
        <p:txBody>
          <a:bodyPr wrap="square" lIns="0" tIns="0" rIns="0" bIns="0" rtlCol="0" anchor="t"/>
          <a:lstStyle/>
          <a:p>
            <a:pPr indent="0" marL="0">
              <a:buNone/>
            </a:pPr>
            <a:r>
              <a:rPr lang="en-US" sz="2400" b="1" dirty="0">
                <a:solidFill>
                  <a:srgbClr val="7FD1B0"/>
                </a:solidFill>
              </a:rPr>
              <a:t>Your words. Your choice.</a:t>
            </a:r>
            <a:endParaRPr lang="en-US" sz="2400" dirty="0"/>
          </a:p>
        </p:txBody>
      </p:sp>
      <p:sp>
        <p:nvSpPr>
          <p:cNvPr id="4" name="Text 1"/>
          <p:cNvSpPr txBox="1"/>
          <p:nvPr/>
        </p:nvSpPr>
        <p:spPr>
          <a:xfrm>
            <a:off x="548640" y="2697480"/>
            <a:ext cx="3931920" cy="685800"/>
          </a:xfrm>
          <a:prstGeom prst="rect">
            <a:avLst/>
          </a:prstGeom>
          <a:noFill/>
          <a:ln/>
        </p:spPr>
        <p:txBody>
          <a:bodyPr wrap="square" lIns="0" tIns="0" rIns="0" bIns="0" rtlCol="0" anchor="t"/>
          <a:lstStyle/>
          <a:p>
            <a:pPr indent="0" marL="0">
              <a:buNone/>
            </a:pPr>
            <a:r>
              <a:rPr lang="en-US" sz="1800" dirty="0">
                <a:solidFill>
                  <a:srgbClr val="E6E8EB"/>
                </a:solidFill>
              </a:rPr>
              <a:t>Be part of the conversation while it's still happening.</a:t>
            </a:r>
            <a:endParaRPr lang="en-US" sz="1800" dirty="0"/>
          </a:p>
        </p:txBody>
      </p:sp>
      <p:sp>
        <p:nvSpPr>
          <p:cNvPr id="5" name="Text 2"/>
          <p:cNvSpPr txBox="1"/>
          <p:nvPr/>
        </p:nvSpPr>
        <p:spPr>
          <a:xfrm>
            <a:off x="548640" y="4206240"/>
            <a:ext cx="4206240" cy="274320"/>
          </a:xfrm>
          <a:prstGeom prst="rect">
            <a:avLst/>
          </a:prstGeom>
          <a:noFill/>
          <a:ln/>
        </p:spPr>
        <p:txBody>
          <a:bodyPr wrap="square" lIns="0" tIns="0" rIns="0" bIns="0" rtlCol="0" anchor="t"/>
          <a:lstStyle/>
          <a:p>
            <a:pPr indent="0" marL="0">
              <a:buNone/>
            </a:pPr>
            <a:r>
              <a:rPr lang="en-US" sz="1200" dirty="0">
                <a:solidFill>
                  <a:srgbClr val="9AA0A8"/>
                </a:solidFill>
              </a:rPr>
              <a:t>SASEHacks for Good  ·  October 24, 2026</a:t>
            </a:r>
            <a:endParaRPr lang="en-US" sz="1200" dirty="0"/>
          </a:p>
        </p:txBody>
      </p:sp>
      <p:sp>
        <p:nvSpPr>
          <p:cNvPr id="6" name="device frame"/>
          <p:cNvSpPr/>
          <p:nvPr/>
        </p:nvSpPr>
        <p:spPr>
          <a:xfrm>
            <a:off x="4937760" y="960120"/>
            <a:ext cx="3840480" cy="2910302"/>
          </a:xfrm>
          <a:prstGeom prst="roundRect">
            <a:avLst>
              <a:gd name="adj" fmla="val 3142"/>
            </a:avLst>
          </a:prstGeom>
          <a:solidFill>
            <a:srgbClr val="2B2F35"/>
          </a:solidFill>
          <a:ln w="9525">
            <a:solidFill>
              <a:srgbClr val="4A5058"/>
            </a:solidFill>
            <a:prstDash val="solid"/>
          </a:ln>
          <a:effectLst>
            <a:outerShdw sx="100000" sy="100000" kx="0" ky="0" algn="bl" rotWithShape="0" blurRad="101600" dist="25400" dir="5400000">
              <a:srgbClr val="000000">
                <a:alpha val="16000"/>
              </a:srgbClr>
            </a:outerShdw>
          </a:effectLst>
        </p:spPr>
      </p:sp>
      <p:pic>
        <p:nvPicPr>
          <p:cNvPr id="7" name="Image 1" descr="Still Here board on iPad: partner question and two reply cards">    </p:cNvPr>
          <p:cNvPicPr>
            <a:picLocks noChangeAspect="1"/>
          </p:cNvPicPr>
          <p:nvPr/>
        </p:nvPicPr>
        <p:blipFill>
          <a:blip r:embed="rId2"/>
          <a:stretch>
            <a:fillRect/>
          </a:stretch>
        </p:blipFill>
        <p:spPr>
          <a:xfrm>
            <a:off x="5001768" y="1024128"/>
            <a:ext cx="3712464" cy="2782286"/>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bg1"/>
                </a:solidFill>
              </a:rPr>
              <a:t>Imagine</a:t>
            </a:r>
            <a:endParaRPr lang="en-US" sz="3200" dirty="0"/>
          </a:p>
        </p:txBody>
      </p:sp>
      <p:sp>
        <p:nvSpPr>
          <p:cNvPr id="3" name="Text 1"/>
          <p:cNvSpPr txBox="1"/>
          <p:nvPr/>
        </p:nvSpPr>
        <p:spPr>
          <a:xfrm>
            <a:off x="457200" y="1600200"/>
            <a:ext cx="3840480" cy="502920"/>
          </a:xfrm>
          <a:prstGeom prst="rect">
            <a:avLst/>
          </a:prstGeom>
          <a:noFill/>
          <a:ln/>
        </p:spPr>
        <p:txBody>
          <a:bodyPr wrap="square" lIns="0" tIns="0" rIns="0" bIns="0" rtlCol="0" anchor="t"/>
          <a:lstStyle/>
          <a:p>
            <a:pPr indent="0" marL="0">
              <a:buNone/>
            </a:pPr>
            <a:r>
              <a:rPr lang="en-US" sz="2800" b="1" dirty="0">
                <a:solidFill>
                  <a:srgbClr val="FFFFFF"/>
                </a:solidFill>
              </a:rPr>
              <a:t>You know your answer.</a:t>
            </a:r>
            <a:endParaRPr lang="en-US" sz="2800" dirty="0"/>
          </a:p>
        </p:txBody>
      </p:sp>
      <p:sp>
        <p:nvSpPr>
          <p:cNvPr id="4" name="Text 2"/>
          <p:cNvSpPr txBox="1"/>
          <p:nvPr/>
        </p:nvSpPr>
        <p:spPr>
          <a:xfrm>
            <a:off x="457200" y="2194560"/>
            <a:ext cx="3657600" cy="914400"/>
          </a:xfrm>
          <a:prstGeom prst="rect">
            <a:avLst/>
          </a:prstGeom>
          <a:noFill/>
          <a:ln/>
        </p:spPr>
        <p:txBody>
          <a:bodyPr wrap="square" lIns="0" tIns="0" rIns="0" bIns="0" rtlCol="0" anchor="t"/>
          <a:lstStyle/>
          <a:p>
            <a:pPr indent="0" marL="0">
              <a:buNone/>
            </a:pPr>
            <a:r>
              <a:rPr lang="en-US" sz="2000" dirty="0">
                <a:solidFill>
                  <a:srgbClr val="C9CDD2"/>
                </a:solidFill>
              </a:rPr>
              <a:t>By the time you can say it, everyone has moved on.</a:t>
            </a:r>
            <a:endParaRPr lang="en-US" sz="2000" dirty="0"/>
          </a:p>
        </p:txBody>
      </p:sp>
      <p:sp>
        <p:nvSpPr>
          <p:cNvPr id="5" name="Text 3"/>
          <p:cNvSpPr txBox="1"/>
          <p:nvPr/>
        </p:nvSpPr>
        <p:spPr>
          <a:xfrm>
            <a:off x="4617720" y="1097280"/>
            <a:ext cx="1828800" cy="228600"/>
          </a:xfrm>
          <a:prstGeom prst="rect">
            <a:avLst/>
          </a:prstGeom>
          <a:noFill/>
          <a:ln/>
        </p:spPr>
        <p:txBody>
          <a:bodyPr wrap="square" lIns="0" tIns="0" rIns="0" bIns="0" rtlCol="0" anchor="t"/>
          <a:lstStyle/>
          <a:p>
            <a:pPr indent="0" marL="0">
              <a:buNone/>
            </a:pPr>
            <a:r>
              <a:rPr lang="en-US" sz="1100" dirty="0">
                <a:solidFill>
                  <a:srgbClr val="9AA0A8"/>
                </a:solidFill>
              </a:rPr>
              <a:t>Friend</a:t>
            </a:r>
            <a:endParaRPr lang="en-US" sz="1100" dirty="0"/>
          </a:p>
        </p:txBody>
      </p:sp>
      <p:sp>
        <p:nvSpPr>
          <p:cNvPr id="6" name="chat bubble"/>
          <p:cNvSpPr/>
          <p:nvPr/>
        </p:nvSpPr>
        <p:spPr>
          <a:xfrm>
            <a:off x="4572000" y="1371600"/>
            <a:ext cx="4114800" cy="640080"/>
          </a:xfrm>
          <a:prstGeom prst="roundRect">
            <a:avLst>
              <a:gd name="adj" fmla="val 31429"/>
            </a:avLst>
          </a:prstGeom>
          <a:solidFill>
            <a:srgbClr val="2B2F35"/>
          </a:solidFill>
          <a:ln w="12700">
            <a:solidFill>
              <a:srgbClr val="2B2F35"/>
            </a:solidFill>
            <a:prstDash val="solid"/>
          </a:ln>
        </p:spPr>
      </p:sp>
      <p:sp>
        <p:nvSpPr>
          <p:cNvPr id="7" name="Text 5"/>
          <p:cNvSpPr txBox="1"/>
          <p:nvPr/>
        </p:nvSpPr>
        <p:spPr>
          <a:xfrm>
            <a:off x="4754880" y="1371600"/>
            <a:ext cx="3749040" cy="640080"/>
          </a:xfrm>
          <a:prstGeom prst="rect">
            <a:avLst/>
          </a:prstGeom>
          <a:noFill/>
          <a:ln/>
        </p:spPr>
        <p:txBody>
          <a:bodyPr wrap="square" lIns="0" tIns="0" rIns="0" bIns="0" rtlCol="0" anchor="ctr"/>
          <a:lstStyle/>
          <a:p>
            <a:pPr algn="l" indent="0" marL="0">
              <a:buNone/>
            </a:pPr>
            <a:r>
              <a:rPr lang="en-US" sz="1800" dirty="0">
                <a:solidFill>
                  <a:srgbClr val="FFFFFF"/>
                </a:solidFill>
              </a:rPr>
              <a:t>“Are you coming to dinner tonight?”</a:t>
            </a:r>
            <a:endParaRPr lang="en-US" sz="1800" dirty="0"/>
          </a:p>
        </p:txBody>
      </p:sp>
      <p:sp>
        <p:nvSpPr>
          <p:cNvPr id="8" name="Text 6"/>
          <p:cNvSpPr txBox="1"/>
          <p:nvPr/>
        </p:nvSpPr>
        <p:spPr>
          <a:xfrm>
            <a:off x="6675120" y="2212848"/>
            <a:ext cx="1965960" cy="228600"/>
          </a:xfrm>
          <a:prstGeom prst="rect">
            <a:avLst/>
          </a:prstGeom>
          <a:noFill/>
          <a:ln/>
        </p:spPr>
        <p:txBody>
          <a:bodyPr wrap="square" lIns="0" tIns="0" rIns="0" bIns="0" rtlCol="0" anchor="t"/>
          <a:lstStyle/>
          <a:p>
            <a:pPr algn="r" indent="0" marL="0">
              <a:buNone/>
            </a:pPr>
            <a:r>
              <a:rPr lang="en-US" sz="1100" dirty="0">
                <a:solidFill>
                  <a:srgbClr val="9AA0A8"/>
                </a:solidFill>
              </a:rPr>
              <a:t>You</a:t>
            </a:r>
            <a:endParaRPr lang="en-US" sz="1100" dirty="0"/>
          </a:p>
        </p:txBody>
      </p:sp>
      <p:sp>
        <p:nvSpPr>
          <p:cNvPr id="9" name="chat bubble"/>
          <p:cNvSpPr/>
          <p:nvPr/>
        </p:nvSpPr>
        <p:spPr>
          <a:xfrm>
            <a:off x="6126480" y="2487168"/>
            <a:ext cx="2560320" cy="566928"/>
          </a:xfrm>
          <a:prstGeom prst="roundRect">
            <a:avLst>
              <a:gd name="adj" fmla="val 35484"/>
            </a:avLst>
          </a:prstGeom>
          <a:solidFill>
            <a:srgbClr val="121417"/>
          </a:solidFill>
          <a:ln w="15875">
            <a:solidFill>
              <a:srgbClr val="7FD1B0"/>
            </a:solidFill>
            <a:prstDash val="dash"/>
          </a:ln>
        </p:spPr>
      </p:sp>
      <p:sp>
        <p:nvSpPr>
          <p:cNvPr id="10" name="Text 8"/>
          <p:cNvSpPr txBox="1"/>
          <p:nvPr/>
        </p:nvSpPr>
        <p:spPr>
          <a:xfrm>
            <a:off x="6309360" y="2487168"/>
            <a:ext cx="2194560" cy="566928"/>
          </a:xfrm>
          <a:prstGeom prst="rect">
            <a:avLst/>
          </a:prstGeom>
          <a:noFill/>
          <a:ln/>
        </p:spPr>
        <p:txBody>
          <a:bodyPr wrap="square" lIns="0" tIns="0" rIns="0" bIns="0" rtlCol="0" anchor="ctr"/>
          <a:lstStyle/>
          <a:p>
            <a:pPr algn="l" indent="0" marL="0">
              <a:buNone/>
            </a:pPr>
            <a:r>
              <a:rPr lang="en-US" sz="1800" dirty="0">
                <a:solidFill>
                  <a:srgbClr val="7FD1B0"/>
                </a:solidFill>
              </a:rPr>
              <a:t>Y - e - s ,  I ...</a:t>
            </a:r>
            <a:endParaRPr lang="en-US" sz="1800" dirty="0"/>
          </a:p>
        </p:txBody>
      </p:sp>
      <p:sp>
        <p:nvSpPr>
          <p:cNvPr id="11" name="chat bubble"/>
          <p:cNvSpPr/>
          <p:nvPr/>
        </p:nvSpPr>
        <p:spPr>
          <a:xfrm>
            <a:off x="4572000" y="3429000"/>
            <a:ext cx="3657600" cy="566928"/>
          </a:xfrm>
          <a:prstGeom prst="roundRect">
            <a:avLst>
              <a:gd name="adj" fmla="val 35484"/>
            </a:avLst>
          </a:prstGeom>
          <a:solidFill>
            <a:srgbClr val="2B2F35">
              <a:alpha val="45000"/>
            </a:srgbClr>
          </a:solidFill>
          <a:ln w="12700">
            <a:solidFill>
              <a:srgbClr val="2B2F35">
                <a:alpha val="45000"/>
              </a:srgbClr>
            </a:solidFill>
            <a:prstDash val="solid"/>
          </a:ln>
        </p:spPr>
      </p:sp>
      <p:sp>
        <p:nvSpPr>
          <p:cNvPr id="12" name="Text 10"/>
          <p:cNvSpPr txBox="1"/>
          <p:nvPr/>
        </p:nvSpPr>
        <p:spPr>
          <a:xfrm>
            <a:off x="4754880" y="3429000"/>
            <a:ext cx="3291840" cy="566928"/>
          </a:xfrm>
          <a:prstGeom prst="rect">
            <a:avLst/>
          </a:prstGeom>
          <a:noFill/>
          <a:ln/>
        </p:spPr>
        <p:txBody>
          <a:bodyPr wrap="square" lIns="0" tIns="0" rIns="0" bIns="0" rtlCol="0" anchor="ctr"/>
          <a:lstStyle/>
          <a:p>
            <a:pPr algn="l" indent="0" marL="0">
              <a:buNone/>
            </a:pPr>
            <a:r>
              <a:rPr lang="en-US" sz="1500" i="1" dirty="0">
                <a:solidFill>
                  <a:srgbClr val="FFFFFF">
                    <a:alpha val="45000"/>
                  </a:srgbClr>
                </a:solidFill>
              </a:rPr>
              <a:t>“She's probably tired, she'll skip it.”</a:t>
            </a:r>
            <a:endParaRPr lang="en-US" sz="1500" dirty="0"/>
          </a:p>
        </p:txBody>
      </p:sp>
      <p:sp>
        <p:nvSpPr>
          <p:cNvPr id="13" name="Text 11"/>
          <p:cNvSpPr txBox="1"/>
          <p:nvPr/>
        </p:nvSpPr>
        <p:spPr>
          <a:xfrm>
            <a:off x="457200" y="4754880"/>
            <a:ext cx="4114800" cy="256032"/>
          </a:xfrm>
          <a:prstGeom prst="rect">
            <a:avLst/>
          </a:prstGeom>
          <a:noFill/>
          <a:ln/>
        </p:spPr>
        <p:txBody>
          <a:bodyPr wrap="square" lIns="0" tIns="0" rIns="0" bIns="0" rtlCol="0" anchor="ctr"/>
          <a:lstStyle/>
          <a:p>
            <a:pPr indent="0" marL="0">
              <a:buNone/>
            </a:pPr>
            <a:r>
              <a:rPr lang="en-US" sz="1000" dirty="0">
                <a:solidFill>
                  <a:srgbClr val="9AA0A8"/>
                </a:solidFill>
              </a:rPr>
              <a:t>Illustrative scenario, not a real person.</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The conversation keeps moving</a:t>
            </a:r>
            <a:endParaRPr lang="en-US" sz="3200" dirty="0"/>
          </a:p>
        </p:txBody>
      </p:sp>
      <p:sp>
        <p:nvSpPr>
          <p:cNvPr id="3" name="card"/>
          <p:cNvSpPr/>
          <p:nvPr/>
        </p:nvSpPr>
        <p:spPr>
          <a:xfrm>
            <a:off x="457200" y="1188720"/>
            <a:ext cx="3977640" cy="1783080"/>
          </a:xfrm>
          <a:prstGeom prst="roundRect">
            <a:avLst>
              <a:gd name="adj" fmla="val 615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4" name="Text 2"/>
          <p:cNvSpPr txBox="1"/>
          <p:nvPr/>
        </p:nvSpPr>
        <p:spPr>
          <a:xfrm>
            <a:off x="731520" y="1298448"/>
            <a:ext cx="3566160" cy="914400"/>
          </a:xfrm>
          <a:prstGeom prst="rect">
            <a:avLst/>
          </a:prstGeom>
          <a:noFill/>
          <a:ln/>
        </p:spPr>
        <p:txBody>
          <a:bodyPr wrap="square" lIns="0" tIns="0" rIns="0" bIns="0" rtlCol="0" anchor="ctr"/>
          <a:lstStyle/>
          <a:p>
            <a:pPr indent="0" marL="0">
              <a:buNone/>
            </a:pPr>
            <a:r>
              <a:rPr lang="en-US" sz="6000" b="1" dirty="0">
                <a:solidFill>
                  <a:srgbClr val="0B5D46"/>
                </a:solidFill>
              </a:rPr>
              <a:t>5 million+</a:t>
            </a:r>
            <a:endParaRPr lang="en-US" sz="6000" dirty="0"/>
          </a:p>
        </p:txBody>
      </p:sp>
      <p:sp>
        <p:nvSpPr>
          <p:cNvPr id="5" name="Text 3"/>
          <p:cNvSpPr txBox="1"/>
          <p:nvPr/>
        </p:nvSpPr>
        <p:spPr>
          <a:xfrm>
            <a:off x="731520" y="2240280"/>
            <a:ext cx="3520440" cy="640080"/>
          </a:xfrm>
          <a:prstGeom prst="rect">
            <a:avLst/>
          </a:prstGeom>
          <a:noFill/>
          <a:ln/>
        </p:spPr>
        <p:txBody>
          <a:bodyPr wrap="square" lIns="0" tIns="0" rIns="0" bIns="0" rtlCol="0" anchor="t"/>
          <a:lstStyle/>
          <a:p>
            <a:pPr indent="0" marL="0">
              <a:buNone/>
            </a:pPr>
            <a:r>
              <a:rPr lang="en-US" sz="1500" dirty="0">
                <a:solidFill>
                  <a:srgbClr val="464B53"/>
                </a:solidFill>
              </a:rPr>
              <a:t>people in the U.S. cannot rely on speech alone (estimate) [1]</a:t>
            </a:r>
            <a:endParaRPr lang="en-US" sz="1500" dirty="0"/>
          </a:p>
        </p:txBody>
      </p:sp>
      <p:sp>
        <p:nvSpPr>
          <p:cNvPr id="6" name="card"/>
          <p:cNvSpPr/>
          <p:nvPr/>
        </p:nvSpPr>
        <p:spPr>
          <a:xfrm>
            <a:off x="4709160" y="1188720"/>
            <a:ext cx="3977640" cy="1783080"/>
          </a:xfrm>
          <a:prstGeom prst="roundRect">
            <a:avLst>
              <a:gd name="adj" fmla="val 615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7" name="Text 5"/>
          <p:cNvSpPr txBox="1"/>
          <p:nvPr/>
        </p:nvSpPr>
        <p:spPr>
          <a:xfrm>
            <a:off x="4983480" y="1298448"/>
            <a:ext cx="3566160" cy="914400"/>
          </a:xfrm>
          <a:prstGeom prst="rect">
            <a:avLst/>
          </a:prstGeom>
          <a:noFill/>
          <a:ln/>
        </p:spPr>
        <p:txBody>
          <a:bodyPr wrap="square" lIns="0" tIns="0" rIns="0" bIns="0" rtlCol="0" anchor="ctr"/>
          <a:lstStyle/>
          <a:p>
            <a:pPr indent="0" marL="0">
              <a:buNone/>
            </a:pPr>
            <a:r>
              <a:rPr lang="en-US" sz="6000" b="1" dirty="0">
                <a:solidFill>
                  <a:srgbClr val="0B5D46"/>
                </a:solidFill>
              </a:rPr>
              <a:t>Most</a:t>
            </a:r>
            <a:endParaRPr lang="en-US" sz="6000" dirty="0"/>
          </a:p>
        </p:txBody>
      </p:sp>
      <p:sp>
        <p:nvSpPr>
          <p:cNvPr id="8" name="Text 6"/>
          <p:cNvSpPr txBox="1"/>
          <p:nvPr/>
        </p:nvSpPr>
        <p:spPr>
          <a:xfrm>
            <a:off x="4983480" y="2240280"/>
            <a:ext cx="3520440" cy="640080"/>
          </a:xfrm>
          <a:prstGeom prst="rect">
            <a:avLst/>
          </a:prstGeom>
          <a:noFill/>
          <a:ln/>
        </p:spPr>
        <p:txBody>
          <a:bodyPr wrap="square" lIns="0" tIns="0" rIns="0" bIns="0" rtlCol="0" anchor="t"/>
          <a:lstStyle/>
          <a:p>
            <a:pPr indent="0" marL="0">
              <a:buNone/>
            </a:pPr>
            <a:r>
              <a:rPr lang="en-US" sz="1500" dirty="0">
                <a:solidFill>
                  <a:srgbClr val="464B53"/>
                </a:solidFill>
              </a:rPr>
              <a:t>people with ALS gradually lose the ability to speak [2]</a:t>
            </a:r>
            <a:endParaRPr lang="en-US" sz="1500" dirty="0"/>
          </a:p>
        </p:txBody>
      </p:sp>
      <p:sp>
        <p:nvSpPr>
          <p:cNvPr id="9" name="chat bubble"/>
          <p:cNvSpPr/>
          <p:nvPr/>
        </p:nvSpPr>
        <p:spPr>
          <a:xfrm>
            <a:off x="457200" y="3429000"/>
            <a:ext cx="1783080" cy="457200"/>
          </a:xfrm>
          <a:prstGeom prst="roundRect">
            <a:avLst>
              <a:gd name="adj" fmla="val 44000"/>
            </a:avLst>
          </a:prstGeom>
          <a:solidFill>
            <a:srgbClr val="E2F2EC"/>
          </a:solidFill>
          <a:ln w="12700">
            <a:solidFill>
              <a:srgbClr val="E2F2EC"/>
            </a:solidFill>
            <a:prstDash val="solid"/>
          </a:ln>
        </p:spPr>
      </p:sp>
      <p:sp>
        <p:nvSpPr>
          <p:cNvPr id="10" name="Text 8"/>
          <p:cNvSpPr txBox="1"/>
          <p:nvPr/>
        </p:nvSpPr>
        <p:spPr>
          <a:xfrm>
            <a:off x="640080" y="3429000"/>
            <a:ext cx="1417320" cy="457200"/>
          </a:xfrm>
          <a:prstGeom prst="rect">
            <a:avLst/>
          </a:prstGeom>
          <a:noFill/>
          <a:ln/>
        </p:spPr>
        <p:txBody>
          <a:bodyPr wrap="square" lIns="0" tIns="0" rIns="0" bIns="0" rtlCol="0" anchor="ctr"/>
          <a:lstStyle/>
          <a:p>
            <a:pPr algn="l" indent="0" marL="0">
              <a:buNone/>
            </a:pPr>
            <a:r>
              <a:rPr lang="en-US" sz="1400" b="1" dirty="0">
                <a:solidFill>
                  <a:srgbClr val="0B5D46"/>
                </a:solidFill>
              </a:rPr>
              <a:t>“Dinner tonight?”</a:t>
            </a:r>
            <a:endParaRPr lang="en-US" sz="1400" dirty="0"/>
          </a:p>
        </p:txBody>
      </p:sp>
      <p:sp>
        <p:nvSpPr>
          <p:cNvPr id="11" name="spelling bar"/>
          <p:cNvSpPr/>
          <p:nvPr/>
        </p:nvSpPr>
        <p:spPr>
          <a:xfrm>
            <a:off x="2377440" y="3538728"/>
            <a:ext cx="4023360" cy="237744"/>
          </a:xfrm>
          <a:prstGeom prst="roundRect">
            <a:avLst>
              <a:gd name="adj" fmla="val 50000"/>
            </a:avLst>
          </a:prstGeom>
          <a:solidFill>
            <a:srgbClr val="D5D8DC"/>
          </a:solidFill>
          <a:ln w="12700">
            <a:solidFill>
              <a:srgbClr val="D5D8DC"/>
            </a:solidFill>
            <a:prstDash val="solid"/>
          </a:ln>
        </p:spPr>
      </p:sp>
      <p:sp>
        <p:nvSpPr>
          <p:cNvPr id="12" name="Text 10"/>
          <p:cNvSpPr txBox="1"/>
          <p:nvPr/>
        </p:nvSpPr>
        <p:spPr>
          <a:xfrm>
            <a:off x="2377440" y="3813048"/>
            <a:ext cx="4023360" cy="274320"/>
          </a:xfrm>
          <a:prstGeom prst="rect">
            <a:avLst/>
          </a:prstGeom>
          <a:noFill/>
          <a:ln/>
        </p:spPr>
        <p:txBody>
          <a:bodyPr wrap="square" lIns="0" tIns="0" rIns="0" bIns="0" rtlCol="0" anchor="t"/>
          <a:lstStyle/>
          <a:p>
            <a:pPr algn="ctr" indent="0" marL="0">
              <a:buNone/>
            </a:pPr>
            <a:r>
              <a:rPr lang="en-US" sz="1200" dirty="0">
                <a:solidFill>
                  <a:srgbClr val="464B53"/>
                </a:solidFill>
              </a:rPr>
              <a:t>spelling a reply, letter by letter</a:t>
            </a:r>
            <a:endParaRPr lang="en-US" sz="1200" dirty="0"/>
          </a:p>
        </p:txBody>
      </p:sp>
      <p:sp>
        <p:nvSpPr>
          <p:cNvPr id="13" name="chat bubble"/>
          <p:cNvSpPr/>
          <p:nvPr/>
        </p:nvSpPr>
        <p:spPr>
          <a:xfrm>
            <a:off x="6537960" y="3429000"/>
            <a:ext cx="2148840" cy="457200"/>
          </a:xfrm>
          <a:prstGeom prst="roundRect">
            <a:avLst>
              <a:gd name="adj" fmla="val 44000"/>
            </a:avLst>
          </a:prstGeom>
          <a:solidFill>
            <a:srgbClr val="ECEDEF"/>
          </a:solidFill>
          <a:ln w="12700">
            <a:solidFill>
              <a:srgbClr val="ECEDEF"/>
            </a:solidFill>
            <a:prstDash val="solid"/>
          </a:ln>
        </p:spPr>
      </p:sp>
      <p:sp>
        <p:nvSpPr>
          <p:cNvPr id="14" name="Text 12"/>
          <p:cNvSpPr txBox="1"/>
          <p:nvPr/>
        </p:nvSpPr>
        <p:spPr>
          <a:xfrm>
            <a:off x="6720840" y="3429000"/>
            <a:ext cx="1783080" cy="457200"/>
          </a:xfrm>
          <a:prstGeom prst="rect">
            <a:avLst/>
          </a:prstGeom>
          <a:noFill/>
          <a:ln/>
        </p:spPr>
        <p:txBody>
          <a:bodyPr wrap="square" lIns="0" tIns="0" rIns="0" bIns="0" rtlCol="0" anchor="ctr"/>
          <a:lstStyle/>
          <a:p>
            <a:pPr algn="l" indent="0" marL="0">
              <a:buNone/>
            </a:pPr>
            <a:r>
              <a:rPr lang="en-US" sz="1400" dirty="0">
                <a:solidFill>
                  <a:srgbClr val="464B53"/>
                </a:solidFill>
              </a:rPr>
              <a:t>Already moved on</a:t>
            </a:r>
            <a:endParaRPr lang="en-US" sz="1400" dirty="0"/>
          </a:p>
        </p:txBody>
      </p:sp>
      <p:sp>
        <p:nvSpPr>
          <p:cNvPr id="15" name="Text 13"/>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800" b="1" dirty="0">
                <a:solidFill>
                  <a:srgbClr val="121417"/>
                </a:solidFill>
              </a:rPr>
              <a:t>Spelling a reply takes longer than the moment lasts.</a:t>
            </a:r>
            <a:endParaRPr lang="en-US" sz="1800" dirty="0"/>
          </a:p>
        </p:txBody>
      </p:sp>
      <p:sp>
        <p:nvSpPr>
          <p:cNvPr id="16" name="Text 14"/>
          <p:cNvSpPr txBox="1"/>
          <p:nvPr/>
        </p:nvSpPr>
        <p:spPr>
          <a:xfrm>
            <a:off x="457200" y="4754880"/>
            <a:ext cx="7406640" cy="256032"/>
          </a:xfrm>
          <a:prstGeom prst="rect">
            <a:avLst/>
          </a:prstGeom>
          <a:noFill/>
          <a:ln/>
        </p:spPr>
        <p:txBody>
          <a:bodyPr wrap="square" lIns="0" tIns="0" rIns="0" bIns="0" rtlCol="0" anchor="ctr"/>
          <a:lstStyle/>
          <a:p>
            <a:pPr indent="0" marL="0">
              <a:buNone/>
            </a:pPr>
            <a:r>
              <a:rPr lang="en-US" sz="1000" dirty="0">
                <a:solidFill>
                  <a:srgbClr val="464B53"/>
                </a:solidFill>
              </a:rPr>
              <a:t>[1] CommunicationFIRST, organization estimate (accessed 2026-10-24).  [2] Eshghi et al., Scientific Reports 12:15713 (2022).</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Speed, cost, and authorship</a:t>
            </a:r>
            <a:endParaRPr lang="en-US" sz="3200" dirty="0"/>
          </a:p>
        </p:txBody>
      </p:sp>
      <p:sp>
        <p:nvSpPr>
          <p:cNvPr id="3" name="theme banner"/>
          <p:cNvSpPr/>
          <p:nvPr/>
        </p:nvSpPr>
        <p:spPr>
          <a:xfrm>
            <a:off x="457200" y="1097280"/>
            <a:ext cx="8229600" cy="457200"/>
          </a:xfrm>
          <a:prstGeom prst="roundRect">
            <a:avLst>
              <a:gd name="adj" fmla="val 20000"/>
            </a:avLst>
          </a:prstGeom>
          <a:solidFill>
            <a:srgbClr val="E2F2EC"/>
          </a:solidFill>
          <a:ln w="12700">
            <a:solidFill>
              <a:srgbClr val="E2F2EC"/>
            </a:solidFill>
            <a:prstDash val="solid"/>
          </a:ln>
        </p:spPr>
      </p:sp>
      <p:sp>
        <p:nvSpPr>
          <p:cNvPr id="4" name="Text 2"/>
          <p:cNvSpPr txBox="1"/>
          <p:nvPr/>
        </p:nvSpPr>
        <p:spPr>
          <a:xfrm>
            <a:off x="640080" y="1097280"/>
            <a:ext cx="7863840" cy="457200"/>
          </a:xfrm>
          <a:prstGeom prst="rect">
            <a:avLst/>
          </a:prstGeom>
          <a:noFill/>
          <a:ln/>
        </p:spPr>
        <p:txBody>
          <a:bodyPr wrap="square" lIns="0" tIns="0" rIns="0" bIns="0" rtlCol="0" anchor="ctr"/>
          <a:lstStyle/>
          <a:p>
            <a:pPr indent="0" marL="0">
              <a:buNone/>
            </a:pPr>
            <a:r>
              <a:rPr lang="en-US" sz="1300" b="1" dirty="0">
                <a:solidFill>
                  <a:srgbClr val="0B5D46"/>
                </a:solidFill>
              </a:rPr>
              <a:t>SASEHacks for Good:  </a:t>
            </a:r>
            <a:pPr indent="0" marL="0">
              <a:buNone/>
            </a:pPr>
            <a:r>
              <a:rPr lang="en-US" sz="1300" i="1" dirty="0">
                <a:solidFill>
                  <a:srgbClr val="0B5D46"/>
                </a:solidFill>
              </a:rPr>
              <a:t>“Build creative and innovative solutions to create a positive change in the community or the world.”</a:t>
            </a:r>
            <a:endParaRPr lang="en-US" sz="1300" dirty="0"/>
          </a:p>
        </p:txBody>
      </p:sp>
      <p:sp>
        <p:nvSpPr>
          <p:cNvPr id="5" name="icon LuTimer"/>
          <p:cNvSpPr/>
          <p:nvPr/>
        </p:nvSpPr>
        <p:spPr>
          <a:xfrm>
            <a:off x="457200" y="1828800"/>
            <a:ext cx="502920" cy="502920"/>
          </a:xfrm>
          <a:prstGeom prst="ellipse">
            <a:avLst/>
          </a:prstGeom>
          <a:solidFill>
            <a:srgbClr val="0B5D46"/>
          </a:solidFill>
          <a:ln w="12700">
            <a:solidFill>
              <a:srgbClr val="0B5D46"/>
            </a:solidFill>
            <a:prstDash val="solid"/>
          </a:ln>
        </p:spPr>
      </p:sp>
      <p:pic>
        <p:nvPicPr>
          <p:cNvPr id="6" name="Image 0" descr="preencoded.png">    </p:cNvPr>
          <p:cNvPicPr>
            <a:picLocks noChangeAspect="1"/>
          </p:cNvPicPr>
          <p:nvPr/>
        </p:nvPicPr>
        <p:blipFill>
          <a:blip r:embed="rId1"/>
          <a:stretch>
            <a:fillRect/>
          </a:stretch>
        </p:blipFill>
        <p:spPr>
          <a:xfrm>
            <a:off x="582930" y="1954530"/>
            <a:ext cx="251460" cy="251460"/>
          </a:xfrm>
          <a:prstGeom prst="rect">
            <a:avLst/>
          </a:prstGeom>
        </p:spPr>
      </p:pic>
      <p:sp>
        <p:nvSpPr>
          <p:cNvPr id="7" name="Text 4"/>
          <p:cNvSpPr txBox="1"/>
          <p:nvPr/>
        </p:nvSpPr>
        <p:spPr>
          <a:xfrm>
            <a:off x="457200" y="2423160"/>
            <a:ext cx="2651760" cy="777240"/>
          </a:xfrm>
          <a:prstGeom prst="rect">
            <a:avLst/>
          </a:prstGeom>
          <a:noFill/>
          <a:ln/>
        </p:spPr>
        <p:txBody>
          <a:bodyPr wrap="square" lIns="0" tIns="0" rIns="0" bIns="0" rtlCol="0" anchor="ctr"/>
          <a:lstStyle/>
          <a:p>
            <a:pPr indent="0" marL="0">
              <a:buNone/>
            </a:pPr>
            <a:r>
              <a:rPr lang="en-US" sz="5400" b="1" dirty="0">
                <a:solidFill>
                  <a:srgbClr val="0B5D46"/>
                </a:solidFill>
              </a:rPr>
              <a:t>~190</a:t>
            </a:r>
            <a:endParaRPr lang="en-US" sz="5400" dirty="0"/>
          </a:p>
        </p:txBody>
      </p:sp>
      <p:sp>
        <p:nvSpPr>
          <p:cNvPr id="8" name="Text 5"/>
          <p:cNvSpPr txBox="1"/>
          <p:nvPr/>
        </p:nvSpPr>
        <p:spPr>
          <a:xfrm>
            <a:off x="457200" y="3246120"/>
            <a:ext cx="2514600" cy="502920"/>
          </a:xfrm>
          <a:prstGeom prst="rect">
            <a:avLst/>
          </a:prstGeom>
          <a:noFill/>
          <a:ln/>
        </p:spPr>
        <p:txBody>
          <a:bodyPr wrap="square" lIns="0" tIns="0" rIns="0" bIns="0" rtlCol="0" anchor="t"/>
          <a:lstStyle/>
          <a:p>
            <a:pPr indent="0" marL="0">
              <a:buNone/>
            </a:pPr>
            <a:r>
              <a:rPr lang="en-US" sz="1400" dirty="0">
                <a:solidFill>
                  <a:srgbClr val="464B53"/>
                </a:solidFill>
              </a:rPr>
              <a:t>words a minute: speaking rate in one study [3]</a:t>
            </a:r>
            <a:endParaRPr lang="en-US" sz="1400" dirty="0"/>
          </a:p>
        </p:txBody>
      </p:sp>
      <p:sp>
        <p:nvSpPr>
          <p:cNvPr id="9" name="icon LuTag"/>
          <p:cNvSpPr/>
          <p:nvPr/>
        </p:nvSpPr>
        <p:spPr>
          <a:xfrm>
            <a:off x="3291840" y="1828800"/>
            <a:ext cx="502920" cy="502920"/>
          </a:xfrm>
          <a:prstGeom prst="ellipse">
            <a:avLst/>
          </a:prstGeom>
          <a:solidFill>
            <a:srgbClr val="0B5D46"/>
          </a:solidFill>
          <a:ln w="12700">
            <a:solidFill>
              <a:srgbClr val="0B5D46"/>
            </a:solidFill>
            <a:prstDash val="solid"/>
          </a:ln>
        </p:spPr>
      </p:sp>
      <p:pic>
        <p:nvPicPr>
          <p:cNvPr id="10" name="Image 1" descr="preencoded.png">    </p:cNvPr>
          <p:cNvPicPr>
            <a:picLocks noChangeAspect="1"/>
          </p:cNvPicPr>
          <p:nvPr/>
        </p:nvPicPr>
        <p:blipFill>
          <a:blip r:embed="rId2"/>
          <a:stretch>
            <a:fillRect/>
          </a:stretch>
        </p:blipFill>
        <p:spPr>
          <a:xfrm>
            <a:off x="3417570" y="1954530"/>
            <a:ext cx="251460" cy="251460"/>
          </a:xfrm>
          <a:prstGeom prst="rect">
            <a:avLst/>
          </a:prstGeom>
        </p:spPr>
      </p:pic>
      <p:sp>
        <p:nvSpPr>
          <p:cNvPr id="11" name="Text 7"/>
          <p:cNvSpPr txBox="1"/>
          <p:nvPr/>
        </p:nvSpPr>
        <p:spPr>
          <a:xfrm>
            <a:off x="3291840" y="2423160"/>
            <a:ext cx="2651760" cy="777240"/>
          </a:xfrm>
          <a:prstGeom prst="rect">
            <a:avLst/>
          </a:prstGeom>
          <a:noFill/>
          <a:ln/>
        </p:spPr>
        <p:txBody>
          <a:bodyPr wrap="square" lIns="0" tIns="0" rIns="0" bIns="0" rtlCol="0" anchor="ctr"/>
          <a:lstStyle/>
          <a:p>
            <a:pPr indent="0" marL="0">
              <a:buNone/>
            </a:pPr>
            <a:r>
              <a:rPr lang="en-US" sz="5400" b="1" dirty="0">
                <a:solidFill>
                  <a:srgbClr val="0B5D46"/>
                </a:solidFill>
              </a:rPr>
              <a:t>$10,000+</a:t>
            </a:r>
            <a:endParaRPr lang="en-US" sz="5400" dirty="0"/>
          </a:p>
        </p:txBody>
      </p:sp>
      <p:sp>
        <p:nvSpPr>
          <p:cNvPr id="12" name="Text 8"/>
          <p:cNvSpPr txBox="1"/>
          <p:nvPr/>
        </p:nvSpPr>
        <p:spPr>
          <a:xfrm>
            <a:off x="3291840" y="3246120"/>
            <a:ext cx="2514600" cy="502920"/>
          </a:xfrm>
          <a:prstGeom prst="rect">
            <a:avLst/>
          </a:prstGeom>
          <a:noFill/>
          <a:ln/>
        </p:spPr>
        <p:txBody>
          <a:bodyPr wrap="square" lIns="0" tIns="0" rIns="0" bIns="0" rtlCol="0" anchor="t"/>
          <a:lstStyle/>
          <a:p>
            <a:pPr indent="0" marL="0">
              <a:buNone/>
            </a:pPr>
            <a:r>
              <a:rPr lang="en-US" sz="1400" dirty="0">
                <a:solidFill>
                  <a:srgbClr val="464B53"/>
                </a:solidFill>
              </a:rPr>
              <a:t>what dedicated eye-gaze devices have cost [4]</a:t>
            </a:r>
            <a:endParaRPr lang="en-US" sz="1400" dirty="0"/>
          </a:p>
        </p:txBody>
      </p:sp>
      <p:sp>
        <p:nvSpPr>
          <p:cNvPr id="13" name="icon LuPenLine"/>
          <p:cNvSpPr/>
          <p:nvPr/>
        </p:nvSpPr>
        <p:spPr>
          <a:xfrm>
            <a:off x="6126480" y="1828800"/>
            <a:ext cx="502920" cy="502920"/>
          </a:xfrm>
          <a:prstGeom prst="ellipse">
            <a:avLst/>
          </a:prstGeom>
          <a:solidFill>
            <a:srgbClr val="0B5D46"/>
          </a:solidFill>
          <a:ln w="12700">
            <a:solidFill>
              <a:srgbClr val="0B5D46"/>
            </a:solidFill>
            <a:prstDash val="solid"/>
          </a:ln>
        </p:spPr>
      </p:sp>
      <p:pic>
        <p:nvPicPr>
          <p:cNvPr id="14" name="Image 2" descr="preencoded.png">    </p:cNvPr>
          <p:cNvPicPr>
            <a:picLocks noChangeAspect="1"/>
          </p:cNvPicPr>
          <p:nvPr/>
        </p:nvPicPr>
        <p:blipFill>
          <a:blip r:embed="rId3"/>
          <a:stretch>
            <a:fillRect/>
          </a:stretch>
        </p:blipFill>
        <p:spPr>
          <a:xfrm>
            <a:off x="6252210" y="1954530"/>
            <a:ext cx="251460" cy="251460"/>
          </a:xfrm>
          <a:prstGeom prst="rect">
            <a:avLst/>
          </a:prstGeom>
        </p:spPr>
      </p:pic>
      <p:sp>
        <p:nvSpPr>
          <p:cNvPr id="15" name="Text 10"/>
          <p:cNvSpPr txBox="1"/>
          <p:nvPr/>
        </p:nvSpPr>
        <p:spPr>
          <a:xfrm>
            <a:off x="6126480" y="2423160"/>
            <a:ext cx="2651760" cy="777240"/>
          </a:xfrm>
          <a:prstGeom prst="rect">
            <a:avLst/>
          </a:prstGeom>
          <a:noFill/>
          <a:ln/>
        </p:spPr>
        <p:txBody>
          <a:bodyPr wrap="square" lIns="0" tIns="0" rIns="0" bIns="0" rtlCol="0" anchor="ctr"/>
          <a:lstStyle/>
          <a:p>
            <a:pPr indent="0" marL="0">
              <a:buNone/>
            </a:pPr>
            <a:r>
              <a:rPr lang="en-US" sz="4000" b="1" dirty="0">
                <a:solidFill>
                  <a:srgbClr val="0B5D46"/>
                </a:solidFill>
              </a:rPr>
              <a:t>Your words</a:t>
            </a:r>
            <a:endParaRPr lang="en-US" sz="4000" dirty="0"/>
          </a:p>
        </p:txBody>
      </p:sp>
      <p:sp>
        <p:nvSpPr>
          <p:cNvPr id="16" name="Text 11"/>
          <p:cNvSpPr txBox="1"/>
          <p:nvPr/>
        </p:nvSpPr>
        <p:spPr>
          <a:xfrm>
            <a:off x="6126480" y="3246120"/>
            <a:ext cx="2514600" cy="502920"/>
          </a:xfrm>
          <a:prstGeom prst="rect">
            <a:avLst/>
          </a:prstGeom>
          <a:noFill/>
          <a:ln/>
        </p:spPr>
        <p:txBody>
          <a:bodyPr wrap="square" lIns="0" tIns="0" rIns="0" bIns="0" rtlCol="0" anchor="t"/>
          <a:lstStyle/>
          <a:p>
            <a:pPr indent="0" marL="0">
              <a:buNone/>
            </a:pPr>
            <a:r>
              <a:rPr lang="en-US" sz="1400" dirty="0">
                <a:solidFill>
                  <a:srgbClr val="464B53"/>
                </a:solidFill>
              </a:rPr>
              <a:t>people need speed without losing authorship</a:t>
            </a:r>
            <a:endParaRPr lang="en-US" sz="1400" dirty="0"/>
          </a:p>
        </p:txBody>
      </p:sp>
      <p:sp>
        <p:nvSpPr>
          <p:cNvPr id="17" name="Text 12"/>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700" b="1" dirty="0">
                <a:solidFill>
                  <a:srgbClr val="0B5D46"/>
                </a:solidFill>
              </a:rPr>
              <a:t>No special hardware.  </a:t>
            </a:r>
            <a:pPr indent="0" marL="0">
              <a:buNone/>
            </a:pPr>
            <a:r>
              <a:rPr lang="en-US" sz="1700" b="1" dirty="0">
                <a:solidFill>
                  <a:srgbClr val="121417"/>
                </a:solidFill>
              </a:rPr>
              <a:t>No eye tracker. No head switch. No dedicated speech device.</a:t>
            </a:r>
            <a:endParaRPr lang="en-US" sz="1700" dirty="0"/>
          </a:p>
        </p:txBody>
      </p:sp>
      <p:sp>
        <p:nvSpPr>
          <p:cNvPr id="18" name="Text 13"/>
          <p:cNvSpPr txBox="1"/>
          <p:nvPr/>
        </p:nvSpPr>
        <p:spPr>
          <a:xfrm>
            <a:off x="457200" y="4754880"/>
            <a:ext cx="7406640" cy="256032"/>
          </a:xfrm>
          <a:prstGeom prst="rect">
            <a:avLst/>
          </a:prstGeom>
          <a:noFill/>
          <a:ln/>
        </p:spPr>
        <p:txBody>
          <a:bodyPr wrap="square" lIns="0" tIns="0" rIns="0" bIns="0" rtlCol="0" anchor="ctr"/>
          <a:lstStyle/>
          <a:p>
            <a:pPr indent="0" marL="0">
              <a:buNone/>
            </a:pPr>
            <a:r>
              <a:rPr lang="en-US" sz="1000" dirty="0">
                <a:solidFill>
                  <a:srgbClr val="464B53"/>
                </a:solidFill>
              </a:rPr>
              <a:t>[3] Eshghi et al. 2022, healthy controls, mean 187.6 words/min.  [4] Montana AT Program, Tobii I-16 eye-gaze device, est. $10,695 (older model).</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No special hardware</a:t>
            </a:r>
            <a:endParaRPr lang="en-US" sz="3200" dirty="0"/>
          </a:p>
        </p:txBody>
      </p:sp>
      <p:sp>
        <p:nvSpPr>
          <p:cNvPr id="3" name="Text 1"/>
          <p:cNvSpPr txBox="1"/>
          <p:nvPr/>
        </p:nvSpPr>
        <p:spPr>
          <a:xfrm>
            <a:off x="457200" y="987552"/>
            <a:ext cx="8229600" cy="365760"/>
          </a:xfrm>
          <a:prstGeom prst="rect">
            <a:avLst/>
          </a:prstGeom>
          <a:noFill/>
          <a:ln/>
        </p:spPr>
        <p:txBody>
          <a:bodyPr wrap="square" lIns="0" tIns="0" rIns="0" bIns="0" rtlCol="0" anchor="t"/>
          <a:lstStyle/>
          <a:p>
            <a:pPr indent="0" marL="0">
              <a:buNone/>
            </a:pPr>
            <a:r>
              <a:rPr lang="en-US" sz="2000" b="1" dirty="0">
                <a:solidFill>
                  <a:srgbClr val="0B5D46"/>
                </a:solidFill>
              </a:rPr>
              <a:t>Just the iPad or phone you already have.</a:t>
            </a:r>
            <a:endParaRPr lang="en-US" sz="2000" dirty="0"/>
          </a:p>
        </p:txBody>
      </p:sp>
      <p:sp>
        <p:nvSpPr>
          <p:cNvPr id="4" name="card"/>
          <p:cNvSpPr/>
          <p:nvPr/>
        </p:nvSpPr>
        <p:spPr>
          <a:xfrm>
            <a:off x="457200" y="1645920"/>
            <a:ext cx="1783080" cy="1691640"/>
          </a:xfrm>
          <a:prstGeom prst="roundRect">
            <a:avLst>
              <a:gd name="adj" fmla="val 6486"/>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5" name="icon LuMic"/>
          <p:cNvSpPr/>
          <p:nvPr/>
        </p:nvSpPr>
        <p:spPr>
          <a:xfrm>
            <a:off x="1065276" y="1828800"/>
            <a:ext cx="566928" cy="566928"/>
          </a:xfrm>
          <a:prstGeom prst="ellipse">
            <a:avLst/>
          </a:prstGeom>
          <a:solidFill>
            <a:srgbClr val="0B5D46"/>
          </a:solidFill>
          <a:ln w="12700">
            <a:solidFill>
              <a:srgbClr val="0B5D46"/>
            </a:solidFill>
            <a:prstDash val="solid"/>
          </a:ln>
        </p:spPr>
      </p:sp>
      <p:pic>
        <p:nvPicPr>
          <p:cNvPr id="6" name="Image 0" descr="preencoded.png">    </p:cNvPr>
          <p:cNvPicPr>
            <a:picLocks noChangeAspect="1"/>
          </p:cNvPicPr>
          <p:nvPr/>
        </p:nvPicPr>
        <p:blipFill>
          <a:blip r:embed="rId1"/>
          <a:stretch>
            <a:fillRect/>
          </a:stretch>
        </p:blipFill>
        <p:spPr>
          <a:xfrm>
            <a:off x="1207008" y="1970532"/>
            <a:ext cx="283464" cy="283464"/>
          </a:xfrm>
          <a:prstGeom prst="rect">
            <a:avLst/>
          </a:prstGeom>
        </p:spPr>
      </p:pic>
      <p:sp>
        <p:nvSpPr>
          <p:cNvPr id="7" name="Text 4"/>
          <p:cNvSpPr txBox="1"/>
          <p:nvPr/>
        </p:nvSpPr>
        <p:spPr>
          <a:xfrm>
            <a:off x="548640" y="2514600"/>
            <a:ext cx="1600200" cy="320040"/>
          </a:xfrm>
          <a:prstGeom prst="rect">
            <a:avLst/>
          </a:prstGeom>
          <a:noFill/>
          <a:ln/>
        </p:spPr>
        <p:txBody>
          <a:bodyPr wrap="square" lIns="0" tIns="0" rIns="0" bIns="0" rtlCol="0" anchor="t"/>
          <a:lstStyle/>
          <a:p>
            <a:pPr algn="ctr" indent="0" marL="0">
              <a:buNone/>
            </a:pPr>
            <a:r>
              <a:rPr lang="en-US" sz="1500" b="1" dirty="0">
                <a:solidFill>
                  <a:srgbClr val="121417"/>
                </a:solidFill>
              </a:rPr>
              <a:t>The partner talks</a:t>
            </a:r>
            <a:endParaRPr lang="en-US" sz="1500" dirty="0"/>
          </a:p>
        </p:txBody>
      </p:sp>
      <p:sp>
        <p:nvSpPr>
          <p:cNvPr id="8" name="Text 5"/>
          <p:cNvSpPr txBox="1"/>
          <p:nvPr/>
        </p:nvSpPr>
        <p:spPr>
          <a:xfrm>
            <a:off x="548640" y="2834640"/>
            <a:ext cx="1600200" cy="411480"/>
          </a:xfrm>
          <a:prstGeom prst="rect">
            <a:avLst/>
          </a:prstGeom>
          <a:noFill/>
          <a:ln/>
        </p:spPr>
        <p:txBody>
          <a:bodyPr wrap="square" lIns="0" tIns="0" rIns="0" bIns="0" rtlCol="0" anchor="t"/>
          <a:lstStyle/>
          <a:p>
            <a:pPr algn="ctr" indent="0" marL="0">
              <a:buNone/>
            </a:pPr>
            <a:r>
              <a:rPr lang="en-US" sz="1200" dirty="0">
                <a:solidFill>
                  <a:srgbClr val="464B53"/>
                </a:solidFill>
              </a:rPr>
              <a:t>Hands-free listening</a:t>
            </a:r>
            <a:endParaRPr lang="en-US" sz="1200" dirty="0"/>
          </a:p>
        </p:txBody>
      </p:sp>
      <p:sp>
        <p:nvSpPr>
          <p:cNvPr id="9" name="Shape 6"/>
          <p:cNvSpPr/>
          <p:nvPr/>
        </p:nvSpPr>
        <p:spPr>
          <a:xfrm>
            <a:off x="2295144" y="2487168"/>
            <a:ext cx="256032" cy="914"/>
          </a:xfrm>
          <a:prstGeom prst="line">
            <a:avLst/>
          </a:prstGeom>
          <a:noFill/>
          <a:ln w="19050">
            <a:solidFill>
              <a:srgbClr val="0B5D46"/>
            </a:solidFill>
            <a:prstDash val="solid"/>
            <a:tailEnd type="triangle"/>
          </a:ln>
        </p:spPr>
      </p:sp>
      <p:sp>
        <p:nvSpPr>
          <p:cNvPr id="10" name="card"/>
          <p:cNvSpPr/>
          <p:nvPr/>
        </p:nvSpPr>
        <p:spPr>
          <a:xfrm>
            <a:off x="2606040" y="1645920"/>
            <a:ext cx="1783080" cy="1691640"/>
          </a:xfrm>
          <a:prstGeom prst="roundRect">
            <a:avLst>
              <a:gd name="adj" fmla="val 6486"/>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1" name="icon LuMessagesSquare"/>
          <p:cNvSpPr/>
          <p:nvPr/>
        </p:nvSpPr>
        <p:spPr>
          <a:xfrm>
            <a:off x="3214116" y="1828800"/>
            <a:ext cx="566928" cy="566928"/>
          </a:xfrm>
          <a:prstGeom prst="ellipse">
            <a:avLst/>
          </a:prstGeom>
          <a:solidFill>
            <a:srgbClr val="0B5D46"/>
          </a:solidFill>
          <a:ln w="12700">
            <a:solidFill>
              <a:srgbClr val="0B5D46"/>
            </a:solidFill>
            <a:prstDash val="solid"/>
          </a:ln>
        </p:spPr>
      </p:sp>
      <p:pic>
        <p:nvPicPr>
          <p:cNvPr id="12" name="Image 1" descr="preencoded.png">    </p:cNvPr>
          <p:cNvPicPr>
            <a:picLocks noChangeAspect="1"/>
          </p:cNvPicPr>
          <p:nvPr/>
        </p:nvPicPr>
        <p:blipFill>
          <a:blip r:embed="rId2"/>
          <a:stretch>
            <a:fillRect/>
          </a:stretch>
        </p:blipFill>
        <p:spPr>
          <a:xfrm>
            <a:off x="3355848" y="1970532"/>
            <a:ext cx="283464" cy="283464"/>
          </a:xfrm>
          <a:prstGeom prst="rect">
            <a:avLst/>
          </a:prstGeom>
        </p:spPr>
      </p:pic>
      <p:sp>
        <p:nvSpPr>
          <p:cNvPr id="13" name="Text 9"/>
          <p:cNvSpPr txBox="1"/>
          <p:nvPr/>
        </p:nvSpPr>
        <p:spPr>
          <a:xfrm>
            <a:off x="2697480" y="2514600"/>
            <a:ext cx="1600200" cy="320040"/>
          </a:xfrm>
          <a:prstGeom prst="rect">
            <a:avLst/>
          </a:prstGeom>
          <a:noFill/>
          <a:ln/>
        </p:spPr>
        <p:txBody>
          <a:bodyPr wrap="square" lIns="0" tIns="0" rIns="0" bIns="0" rtlCol="0" anchor="t"/>
          <a:lstStyle/>
          <a:p>
            <a:pPr algn="ctr" indent="0" marL="0">
              <a:buNone/>
            </a:pPr>
            <a:r>
              <a:rPr lang="en-US" sz="1500" b="1" dirty="0">
                <a:solidFill>
                  <a:srgbClr val="121417"/>
                </a:solidFill>
              </a:rPr>
              <a:t>Two likely replies</a:t>
            </a:r>
            <a:endParaRPr lang="en-US" sz="1500" dirty="0"/>
          </a:p>
        </p:txBody>
      </p:sp>
      <p:sp>
        <p:nvSpPr>
          <p:cNvPr id="14" name="Text 10"/>
          <p:cNvSpPr txBox="1"/>
          <p:nvPr/>
        </p:nvSpPr>
        <p:spPr>
          <a:xfrm>
            <a:off x="2697480" y="2834640"/>
            <a:ext cx="1600200" cy="411480"/>
          </a:xfrm>
          <a:prstGeom prst="rect">
            <a:avLst/>
          </a:prstGeom>
          <a:noFill/>
          <a:ln/>
        </p:spPr>
        <p:txBody>
          <a:bodyPr wrap="square" lIns="0" tIns="0" rIns="0" bIns="0" rtlCol="0" anchor="t"/>
          <a:lstStyle/>
          <a:p>
            <a:pPr algn="ctr" indent="0" marL="0">
              <a:buNone/>
            </a:pPr>
            <a:r>
              <a:rPr lang="en-US" sz="1200" dirty="0">
                <a:solidFill>
                  <a:srgbClr val="464B53"/>
                </a:solidFill>
              </a:rPr>
              <a:t>plus Other ways to answer</a:t>
            </a:r>
            <a:endParaRPr lang="en-US" sz="1200" dirty="0"/>
          </a:p>
        </p:txBody>
      </p:sp>
      <p:sp>
        <p:nvSpPr>
          <p:cNvPr id="15" name="Shape 11"/>
          <p:cNvSpPr/>
          <p:nvPr/>
        </p:nvSpPr>
        <p:spPr>
          <a:xfrm>
            <a:off x="4443984" y="2487168"/>
            <a:ext cx="256032" cy="914"/>
          </a:xfrm>
          <a:prstGeom prst="line">
            <a:avLst/>
          </a:prstGeom>
          <a:noFill/>
          <a:ln w="19050">
            <a:solidFill>
              <a:srgbClr val="0B5D46"/>
            </a:solidFill>
            <a:prstDash val="solid"/>
            <a:tailEnd type="triangle"/>
          </a:ln>
        </p:spPr>
      </p:sp>
      <p:sp>
        <p:nvSpPr>
          <p:cNvPr id="16" name="card"/>
          <p:cNvSpPr/>
          <p:nvPr/>
        </p:nvSpPr>
        <p:spPr>
          <a:xfrm>
            <a:off x="4754880" y="1645920"/>
            <a:ext cx="1783080" cy="1691640"/>
          </a:xfrm>
          <a:prstGeom prst="roundRect">
            <a:avLst>
              <a:gd name="adj" fmla="val 6486"/>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7" name="icon LuScanFace"/>
          <p:cNvSpPr/>
          <p:nvPr/>
        </p:nvSpPr>
        <p:spPr>
          <a:xfrm>
            <a:off x="5362956" y="1828800"/>
            <a:ext cx="566928" cy="566928"/>
          </a:xfrm>
          <a:prstGeom prst="ellipse">
            <a:avLst/>
          </a:prstGeom>
          <a:solidFill>
            <a:srgbClr val="0B5D46"/>
          </a:solidFill>
          <a:ln w="12700">
            <a:solidFill>
              <a:srgbClr val="0B5D46"/>
            </a:solidFill>
            <a:prstDash val="solid"/>
          </a:ln>
        </p:spPr>
      </p:sp>
      <p:pic>
        <p:nvPicPr>
          <p:cNvPr id="18" name="Image 2" descr="preencoded.png">    </p:cNvPr>
          <p:cNvPicPr>
            <a:picLocks noChangeAspect="1"/>
          </p:cNvPicPr>
          <p:nvPr/>
        </p:nvPicPr>
        <p:blipFill>
          <a:blip r:embed="rId3"/>
          <a:stretch>
            <a:fillRect/>
          </a:stretch>
        </p:blipFill>
        <p:spPr>
          <a:xfrm>
            <a:off x="5504688" y="1970532"/>
            <a:ext cx="283464" cy="283464"/>
          </a:xfrm>
          <a:prstGeom prst="rect">
            <a:avLst/>
          </a:prstGeom>
        </p:spPr>
      </p:pic>
      <p:sp>
        <p:nvSpPr>
          <p:cNvPr id="19" name="Text 14"/>
          <p:cNvSpPr txBox="1"/>
          <p:nvPr/>
        </p:nvSpPr>
        <p:spPr>
          <a:xfrm>
            <a:off x="4846320" y="2514600"/>
            <a:ext cx="1600200" cy="320040"/>
          </a:xfrm>
          <a:prstGeom prst="rect">
            <a:avLst/>
          </a:prstGeom>
          <a:noFill/>
          <a:ln/>
        </p:spPr>
        <p:txBody>
          <a:bodyPr wrap="square" lIns="0" tIns="0" rIns="0" bIns="0" rtlCol="0" anchor="t"/>
          <a:lstStyle/>
          <a:p>
            <a:pPr algn="ctr" indent="0" marL="0">
              <a:buNone/>
            </a:pPr>
            <a:r>
              <a:rPr lang="en-US" sz="1500" b="1" dirty="0">
                <a:solidFill>
                  <a:srgbClr val="121417"/>
                </a:solidFill>
              </a:rPr>
              <a:t>Eyebrows move</a:t>
            </a:r>
            <a:endParaRPr lang="en-US" sz="1500" dirty="0"/>
          </a:p>
        </p:txBody>
      </p:sp>
      <p:sp>
        <p:nvSpPr>
          <p:cNvPr id="20" name="Text 15"/>
          <p:cNvSpPr txBox="1"/>
          <p:nvPr/>
        </p:nvSpPr>
        <p:spPr>
          <a:xfrm>
            <a:off x="4846320" y="2834640"/>
            <a:ext cx="1600200" cy="411480"/>
          </a:xfrm>
          <a:prstGeom prst="rect">
            <a:avLst/>
          </a:prstGeom>
          <a:noFill/>
          <a:ln/>
        </p:spPr>
        <p:txBody>
          <a:bodyPr wrap="square" lIns="0" tIns="0" rIns="0" bIns="0" rtlCol="0" anchor="t"/>
          <a:lstStyle/>
          <a:p>
            <a:pPr algn="ctr" indent="0" marL="0">
              <a:buNone/>
            </a:pPr>
            <a:r>
              <a:rPr lang="en-US" sz="1200" dirty="0">
                <a:solidFill>
                  <a:srgbClr val="464B53"/>
                </a:solidFill>
              </a:rPr>
              <a:t>A long blink chooses</a:t>
            </a:r>
            <a:endParaRPr lang="en-US" sz="1200" dirty="0"/>
          </a:p>
        </p:txBody>
      </p:sp>
      <p:sp>
        <p:nvSpPr>
          <p:cNvPr id="21" name="Shape 16"/>
          <p:cNvSpPr/>
          <p:nvPr/>
        </p:nvSpPr>
        <p:spPr>
          <a:xfrm>
            <a:off x="6592824" y="2487168"/>
            <a:ext cx="256032" cy="914"/>
          </a:xfrm>
          <a:prstGeom prst="line">
            <a:avLst/>
          </a:prstGeom>
          <a:noFill/>
          <a:ln w="19050">
            <a:solidFill>
              <a:srgbClr val="0B5D46"/>
            </a:solidFill>
            <a:prstDash val="solid"/>
            <a:tailEnd type="triangle"/>
          </a:ln>
        </p:spPr>
      </p:sp>
      <p:sp>
        <p:nvSpPr>
          <p:cNvPr id="22" name="card"/>
          <p:cNvSpPr/>
          <p:nvPr/>
        </p:nvSpPr>
        <p:spPr>
          <a:xfrm>
            <a:off x="6903720" y="1645920"/>
            <a:ext cx="1783080" cy="1691640"/>
          </a:xfrm>
          <a:prstGeom prst="roundRect">
            <a:avLst>
              <a:gd name="adj" fmla="val 6486"/>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23" name="icon LuVolume2"/>
          <p:cNvSpPr/>
          <p:nvPr/>
        </p:nvSpPr>
        <p:spPr>
          <a:xfrm>
            <a:off x="7511796" y="1828800"/>
            <a:ext cx="566928" cy="566928"/>
          </a:xfrm>
          <a:prstGeom prst="ellipse">
            <a:avLst/>
          </a:prstGeom>
          <a:solidFill>
            <a:srgbClr val="0B5D46"/>
          </a:solidFill>
          <a:ln w="12700">
            <a:solidFill>
              <a:srgbClr val="0B5D46"/>
            </a:solidFill>
            <a:prstDash val="solid"/>
          </a:ln>
        </p:spPr>
      </p:sp>
      <p:pic>
        <p:nvPicPr>
          <p:cNvPr id="24" name="Image 3" descr="preencoded.png">    </p:cNvPr>
          <p:cNvPicPr>
            <a:picLocks noChangeAspect="1"/>
          </p:cNvPicPr>
          <p:nvPr/>
        </p:nvPicPr>
        <p:blipFill>
          <a:blip r:embed="rId4"/>
          <a:stretch>
            <a:fillRect/>
          </a:stretch>
        </p:blipFill>
        <p:spPr>
          <a:xfrm>
            <a:off x="7653528" y="1970532"/>
            <a:ext cx="283464" cy="283464"/>
          </a:xfrm>
          <a:prstGeom prst="rect">
            <a:avLst/>
          </a:prstGeom>
        </p:spPr>
      </p:pic>
      <p:sp>
        <p:nvSpPr>
          <p:cNvPr id="25" name="Text 19"/>
          <p:cNvSpPr txBox="1"/>
          <p:nvPr/>
        </p:nvSpPr>
        <p:spPr>
          <a:xfrm>
            <a:off x="6995160" y="2514600"/>
            <a:ext cx="1600200" cy="320040"/>
          </a:xfrm>
          <a:prstGeom prst="rect">
            <a:avLst/>
          </a:prstGeom>
          <a:noFill/>
          <a:ln/>
        </p:spPr>
        <p:txBody>
          <a:bodyPr wrap="square" lIns="0" tIns="0" rIns="0" bIns="0" rtlCol="0" anchor="t"/>
          <a:lstStyle/>
          <a:p>
            <a:pPr algn="ctr" indent="0" marL="0">
              <a:buNone/>
            </a:pPr>
            <a:r>
              <a:rPr lang="en-US" sz="1500" b="1" dirty="0">
                <a:solidFill>
                  <a:srgbClr val="121417"/>
                </a:solidFill>
              </a:rPr>
              <a:t>A natural voice</a:t>
            </a:r>
            <a:endParaRPr lang="en-US" sz="1500" dirty="0"/>
          </a:p>
        </p:txBody>
      </p:sp>
      <p:sp>
        <p:nvSpPr>
          <p:cNvPr id="26" name="Text 20"/>
          <p:cNvSpPr txBox="1"/>
          <p:nvPr/>
        </p:nvSpPr>
        <p:spPr>
          <a:xfrm>
            <a:off x="6995160" y="2834640"/>
            <a:ext cx="1600200" cy="411480"/>
          </a:xfrm>
          <a:prstGeom prst="rect">
            <a:avLst/>
          </a:prstGeom>
          <a:noFill/>
          <a:ln/>
        </p:spPr>
        <p:txBody>
          <a:bodyPr wrap="square" lIns="0" tIns="0" rIns="0" bIns="0" rtlCol="0" anchor="t"/>
          <a:lstStyle/>
          <a:p>
            <a:pPr algn="ctr" indent="0" marL="0">
              <a:buNone/>
            </a:pPr>
            <a:r>
              <a:rPr lang="en-US" sz="1200" dirty="0">
                <a:solidFill>
                  <a:srgbClr val="464B53"/>
                </a:solidFill>
              </a:rPr>
              <a:t>speaks the chosen words</a:t>
            </a:r>
            <a:endParaRPr lang="en-US" sz="1200" dirty="0"/>
          </a:p>
        </p:txBody>
      </p:sp>
      <p:sp>
        <p:nvSpPr>
          <p:cNvPr id="27" name="Shape 21"/>
          <p:cNvSpPr/>
          <p:nvPr/>
        </p:nvSpPr>
        <p:spPr>
          <a:xfrm>
            <a:off x="7795260" y="3337560"/>
            <a:ext cx="914" cy="182880"/>
          </a:xfrm>
          <a:prstGeom prst="line">
            <a:avLst/>
          </a:prstGeom>
          <a:noFill/>
          <a:ln w="15875">
            <a:solidFill>
              <a:srgbClr val="0B5D46"/>
            </a:solidFill>
            <a:prstDash val="solid"/>
          </a:ln>
        </p:spPr>
      </p:sp>
      <p:sp>
        <p:nvSpPr>
          <p:cNvPr id="28" name="Shape 22"/>
          <p:cNvSpPr/>
          <p:nvPr/>
        </p:nvSpPr>
        <p:spPr>
          <a:xfrm>
            <a:off x="1348740" y="3520440"/>
            <a:ext cx="6446520" cy="914"/>
          </a:xfrm>
          <a:prstGeom prst="line">
            <a:avLst/>
          </a:prstGeom>
          <a:noFill/>
          <a:ln w="15875">
            <a:solidFill>
              <a:srgbClr val="0B5D46"/>
            </a:solidFill>
            <a:prstDash val="solid"/>
          </a:ln>
        </p:spPr>
      </p:sp>
      <p:sp>
        <p:nvSpPr>
          <p:cNvPr id="29" name="Shape 23"/>
          <p:cNvSpPr/>
          <p:nvPr/>
        </p:nvSpPr>
        <p:spPr>
          <a:xfrm flipV="1">
            <a:off x="1348740" y="3364992"/>
            <a:ext cx="914" cy="155448"/>
          </a:xfrm>
          <a:prstGeom prst="line">
            <a:avLst/>
          </a:prstGeom>
          <a:noFill/>
          <a:ln w="15875">
            <a:solidFill>
              <a:srgbClr val="0B5D46"/>
            </a:solidFill>
            <a:prstDash val="solid"/>
            <a:tailEnd type="triangle"/>
          </a:ln>
        </p:spPr>
      </p:sp>
      <p:sp>
        <p:nvSpPr>
          <p:cNvPr id="30" name="Text 24"/>
          <p:cNvSpPr txBox="1"/>
          <p:nvPr/>
        </p:nvSpPr>
        <p:spPr>
          <a:xfrm>
            <a:off x="3657600" y="3547872"/>
            <a:ext cx="1828800" cy="228600"/>
          </a:xfrm>
          <a:prstGeom prst="rect">
            <a:avLst/>
          </a:prstGeom>
          <a:noFill/>
          <a:ln/>
        </p:spPr>
        <p:txBody>
          <a:bodyPr wrap="square" lIns="0" tIns="0" rIns="0" bIns="0" rtlCol="0" anchor="t"/>
          <a:lstStyle/>
          <a:p>
            <a:pPr algn="ctr" indent="0" marL="0">
              <a:buNone/>
            </a:pPr>
            <a:r>
              <a:rPr lang="en-US" sz="1100" i="1" dirty="0">
                <a:solidFill>
                  <a:srgbClr val="0B5D46"/>
                </a:solidFill>
              </a:rPr>
              <a:t>next turn</a:t>
            </a:r>
            <a:endParaRPr lang="en-US" sz="1100" dirty="0"/>
          </a:p>
        </p:txBody>
      </p:sp>
      <p:sp>
        <p:nvSpPr>
          <p:cNvPr id="31" name="Text 25"/>
          <p:cNvSpPr txBox="1"/>
          <p:nvPr/>
        </p:nvSpPr>
        <p:spPr>
          <a:xfrm>
            <a:off x="457200" y="4023360"/>
            <a:ext cx="5303520" cy="365760"/>
          </a:xfrm>
          <a:prstGeom prst="rect">
            <a:avLst/>
          </a:prstGeom>
          <a:noFill/>
          <a:ln/>
        </p:spPr>
        <p:txBody>
          <a:bodyPr wrap="square" lIns="0" tIns="0" rIns="0" bIns="0" rtlCol="0" anchor="t"/>
          <a:lstStyle/>
          <a:p>
            <a:pPr indent="0" marL="0">
              <a:buNone/>
            </a:pPr>
            <a:r>
              <a:rPr lang="en-US" sz="1700" b="1" i="1" dirty="0">
                <a:solidFill>
                  <a:srgbClr val="121417"/>
                </a:solidFill>
              </a:rPr>
              <a:t>Be part of the conversation while it's still happening.</a:t>
            </a:r>
            <a:endParaRPr lang="en-US" sz="1700" dirty="0"/>
          </a:p>
        </p:txBody>
      </p:sp>
      <p:pic>
        <p:nvPicPr>
          <p:cNvPr id="32" name="Image 4" descr="iPad">    </p:cNvPr>
          <p:cNvPicPr>
            <a:picLocks noChangeAspect="1"/>
          </p:cNvPicPr>
          <p:nvPr/>
        </p:nvPicPr>
        <p:blipFill>
          <a:blip r:embed="rId5"/>
          <a:stretch>
            <a:fillRect/>
          </a:stretch>
        </p:blipFill>
        <p:spPr>
          <a:xfrm>
            <a:off x="6172200" y="3950208"/>
            <a:ext cx="457200" cy="457200"/>
          </a:xfrm>
          <a:prstGeom prst="rect">
            <a:avLst/>
          </a:prstGeom>
        </p:spPr>
      </p:pic>
      <p:sp>
        <p:nvSpPr>
          <p:cNvPr id="33" name="Text 26"/>
          <p:cNvSpPr txBox="1"/>
          <p:nvPr/>
        </p:nvSpPr>
        <p:spPr>
          <a:xfrm>
            <a:off x="6675120" y="4041648"/>
            <a:ext cx="868680" cy="274320"/>
          </a:xfrm>
          <a:prstGeom prst="rect">
            <a:avLst/>
          </a:prstGeom>
          <a:noFill/>
          <a:ln/>
        </p:spPr>
        <p:txBody>
          <a:bodyPr wrap="square" lIns="0" tIns="0" rIns="0" bIns="0" rtlCol="0" anchor="t"/>
          <a:lstStyle/>
          <a:p>
            <a:pPr indent="0" marL="0">
              <a:buNone/>
            </a:pPr>
            <a:r>
              <a:rPr lang="en-US" sz="1200" b="1" dirty="0">
                <a:solidFill>
                  <a:srgbClr val="0B5D46"/>
                </a:solidFill>
              </a:rPr>
              <a:t>iPad today</a:t>
            </a:r>
            <a:endParaRPr lang="en-US" sz="1200" dirty="0"/>
          </a:p>
        </p:txBody>
      </p:sp>
      <p:pic>
        <p:nvPicPr>
          <p:cNvPr id="34" name="Image 5" descr="Phone">    </p:cNvPr>
          <p:cNvPicPr>
            <a:picLocks noChangeAspect="1"/>
          </p:cNvPicPr>
          <p:nvPr/>
        </p:nvPicPr>
        <p:blipFill>
          <a:blip r:embed="rId6"/>
          <a:stretch>
            <a:fillRect/>
          </a:stretch>
        </p:blipFill>
        <p:spPr>
          <a:xfrm>
            <a:off x="7589520" y="3977640"/>
            <a:ext cx="384048" cy="384048"/>
          </a:xfrm>
          <a:prstGeom prst="rect">
            <a:avLst/>
          </a:prstGeom>
        </p:spPr>
      </p:pic>
      <p:sp>
        <p:nvSpPr>
          <p:cNvPr id="35" name="Text 27"/>
          <p:cNvSpPr txBox="1"/>
          <p:nvPr/>
        </p:nvSpPr>
        <p:spPr>
          <a:xfrm>
            <a:off x="8001000" y="4041648"/>
            <a:ext cx="548640" cy="274320"/>
          </a:xfrm>
          <a:prstGeom prst="rect">
            <a:avLst/>
          </a:prstGeom>
          <a:noFill/>
          <a:ln/>
        </p:spPr>
        <p:txBody>
          <a:bodyPr wrap="square" lIns="0" tIns="0" rIns="0" bIns="0" rtlCol="0" anchor="t"/>
          <a:lstStyle/>
          <a:p>
            <a:pPr indent="0" marL="0">
              <a:buNone/>
            </a:pPr>
            <a:r>
              <a:rPr lang="en-US" sz="1200" dirty="0">
                <a:solidFill>
                  <a:srgbClr val="464B53"/>
                </a:solidFill>
              </a:rPr>
              <a:t>next</a:t>
            </a:r>
            <a:endParaRPr lang="en-US" sz="1200" dirty="0"/>
          </a:p>
        </p:txBody>
      </p:sp>
      <p:sp>
        <p:nvSpPr>
          <p:cNvPr id="36" name="Text 28"/>
          <p:cNvSpPr txBox="1"/>
          <p:nvPr/>
        </p:nvSpPr>
        <p:spPr>
          <a:xfrm>
            <a:off x="457200" y="4754880"/>
            <a:ext cx="7406640" cy="256032"/>
          </a:xfrm>
          <a:prstGeom prst="rect">
            <a:avLst/>
          </a:prstGeom>
          <a:noFill/>
          <a:ln/>
        </p:spPr>
        <p:txBody>
          <a:bodyPr wrap="square" lIns="0" tIns="0" rIns="0" bIns="0" rtlCol="0" anchor="ctr"/>
          <a:lstStyle/>
          <a:p>
            <a:pPr indent="0" marL="0">
              <a:buNone/>
            </a:pPr>
            <a:r>
              <a:rPr lang="en-US" sz="1000" dirty="0">
                <a:solidFill>
                  <a:srgbClr val="464B53"/>
                </a:solidFill>
              </a:rPr>
              <a:t>Tested on iPad today; phone support next.</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Live: two conversations</a:t>
            </a:r>
            <a:endParaRPr lang="en-US" sz="3200" dirty="0"/>
          </a:p>
        </p:txBody>
      </p:sp>
      <p:sp>
        <p:nvSpPr>
          <p:cNvPr id="3" name="device frame"/>
          <p:cNvSpPr/>
          <p:nvPr/>
        </p:nvSpPr>
        <p:spPr>
          <a:xfrm>
            <a:off x="515253" y="1143000"/>
            <a:ext cx="3861534" cy="2926080"/>
          </a:xfrm>
          <a:prstGeom prst="roundRect">
            <a:avLst>
              <a:gd name="adj" fmla="val 3125"/>
            </a:avLst>
          </a:prstGeom>
          <a:solidFill>
            <a:srgbClr val="1B1E22"/>
          </a:solidFill>
          <a:ln w="9525">
            <a:solidFill>
              <a:srgbClr val="1B1E22"/>
            </a:solidFill>
            <a:prstDash val="solid"/>
          </a:ln>
          <a:effectLst>
            <a:outerShdw sx="100000" sy="100000" kx="0" ky="0" algn="bl" rotWithShape="0" blurRad="101600" dist="25400" dir="5400000">
              <a:srgbClr val="000000">
                <a:alpha val="16000"/>
              </a:srgbClr>
            </a:outerShdw>
          </a:effectLst>
        </p:spPr>
      </p:sp>
      <p:pic>
        <p:nvPicPr>
          <p:cNvPr id="4" name="Image 0" descr="Board: partner asked Are you coming to dinner tonight, two live replies and Other ways to answer">    </p:cNvPr>
          <p:cNvPicPr>
            <a:picLocks noChangeAspect="1"/>
          </p:cNvPicPr>
          <p:nvPr/>
        </p:nvPicPr>
        <p:blipFill>
          <a:blip r:embed="rId1"/>
          <a:stretch>
            <a:fillRect/>
          </a:stretch>
        </p:blipFill>
        <p:spPr>
          <a:xfrm>
            <a:off x="579261" y="1207008"/>
            <a:ext cx="3733518" cy="2798064"/>
          </a:xfrm>
          <a:prstGeom prst="rect">
            <a:avLst/>
          </a:prstGeom>
        </p:spPr>
      </p:pic>
      <p:sp>
        <p:nvSpPr>
          <p:cNvPr id="5" name="device frame"/>
          <p:cNvSpPr/>
          <p:nvPr/>
        </p:nvSpPr>
        <p:spPr>
          <a:xfrm>
            <a:off x="4767213" y="1143000"/>
            <a:ext cx="3861534" cy="2926080"/>
          </a:xfrm>
          <a:prstGeom prst="roundRect">
            <a:avLst>
              <a:gd name="adj" fmla="val 3125"/>
            </a:avLst>
          </a:prstGeom>
          <a:solidFill>
            <a:srgbClr val="1B1E22"/>
          </a:solidFill>
          <a:ln w="9525">
            <a:solidFill>
              <a:srgbClr val="1B1E22"/>
            </a:solidFill>
            <a:prstDash val="solid"/>
          </a:ln>
          <a:effectLst>
            <a:outerShdw sx="100000" sy="100000" kx="0" ky="0" algn="bl" rotWithShape="0" blurRad="101600" dist="25400" dir="5400000">
              <a:srgbClr val="000000">
                <a:alpha val="16000"/>
              </a:srgbClr>
            </a:outerShdw>
          </a:effectLst>
        </p:spPr>
      </p:sp>
      <p:pic>
        <p:nvPicPr>
          <p:cNvPr id="6" name="Image 1" descr="Board: partner asked How was your day, two replies and Other ways to answer">    </p:cNvPr>
          <p:cNvPicPr>
            <a:picLocks noChangeAspect="1"/>
          </p:cNvPicPr>
          <p:nvPr/>
        </p:nvPicPr>
        <p:blipFill>
          <a:blip r:embed="rId2"/>
          <a:stretch>
            <a:fillRect/>
          </a:stretch>
        </p:blipFill>
        <p:spPr>
          <a:xfrm>
            <a:off x="4831221" y="1207008"/>
            <a:ext cx="3733518" cy="2798064"/>
          </a:xfrm>
          <a:prstGeom prst="rect">
            <a:avLst/>
          </a:prstGeom>
        </p:spPr>
      </p:pic>
      <p:sp>
        <p:nvSpPr>
          <p:cNvPr id="7" name="Text 3"/>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600" b="1" dirty="0">
                <a:solidFill>
                  <a:srgbClr val="0B5D46"/>
                </a:solidFill>
              </a:rPr>
              <a:t>Watch: </a:t>
            </a:r>
            <a:pPr indent="0" marL="0">
              <a:buNone/>
            </a:pPr>
            <a:r>
              <a:rPr lang="en-US" sz="1600" dirty="0">
                <a:solidFill>
                  <a:srgbClr val="121417"/>
                </a:solidFill>
              </a:rPr>
              <a:t>eyebrows move, long blink speaks, Other ways when nothing fits.</a:t>
            </a:r>
            <a:endParaRPr lang="en-US" sz="1600" dirty="0"/>
          </a:p>
        </p:txBody>
      </p:sp>
      <p:sp>
        <p:nvSpPr>
          <p:cNvPr id="8" name="Text 4"/>
          <p:cNvSpPr txBox="1"/>
          <p:nvPr/>
        </p:nvSpPr>
        <p:spPr>
          <a:xfrm>
            <a:off x="457200" y="4754880"/>
            <a:ext cx="7406640" cy="256032"/>
          </a:xfrm>
          <a:prstGeom prst="rect">
            <a:avLst/>
          </a:prstGeom>
          <a:noFill/>
          <a:ln/>
        </p:spPr>
        <p:txBody>
          <a:bodyPr wrap="square" lIns="0" tIns="0" rIns="0" bIns="0" rtlCol="0" anchor="ctr"/>
          <a:lstStyle/>
          <a:p>
            <a:pPr indent="0" marL="0">
              <a:buNone/>
            </a:pPr>
            <a:r>
              <a:rPr lang="en-US" sz="1000" dirty="0">
                <a:solidFill>
                  <a:srgbClr val="464B53"/>
                </a:solidFill>
              </a:rPr>
              <a:t>Current build, iPad-size browser view, Live AI replies (wording varies run to run).</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Raise. Hold. Drop. Blink.</a:t>
            </a:r>
            <a:endParaRPr lang="en-US" sz="3200" dirty="0"/>
          </a:p>
        </p:txBody>
      </p:sp>
      <p:sp>
        <p:nvSpPr>
          <p:cNvPr id="3" name="card"/>
          <p:cNvSpPr/>
          <p:nvPr/>
        </p:nvSpPr>
        <p:spPr>
          <a:xfrm>
            <a:off x="457200" y="1188720"/>
            <a:ext cx="5120640" cy="676656"/>
          </a:xfrm>
          <a:prstGeom prst="roundRect">
            <a:avLst>
              <a:gd name="adj" fmla="val 16216"/>
            </a:avLst>
          </a:prstGeom>
          <a:solidFill>
            <a:srgbClr val="FFFFFF"/>
          </a:solidFill>
          <a:ln w="9525">
            <a:solidFill>
              <a:srgbClr val="D9DCE0"/>
            </a:solidFill>
            <a:prstDash val="solid"/>
          </a:ln>
        </p:spPr>
      </p:sp>
      <p:sp>
        <p:nvSpPr>
          <p:cNvPr id="4" name="icon LuArrowUp"/>
          <p:cNvSpPr/>
          <p:nvPr/>
        </p:nvSpPr>
        <p:spPr>
          <a:xfrm>
            <a:off x="594360" y="1298448"/>
            <a:ext cx="457200" cy="457200"/>
          </a:xfrm>
          <a:prstGeom prst="ellipse">
            <a:avLst/>
          </a:prstGeom>
          <a:solidFill>
            <a:srgbClr val="0B5D46"/>
          </a:solidFill>
          <a:ln w="12700">
            <a:solidFill>
              <a:srgbClr val="0B5D46"/>
            </a:solidFill>
            <a:prstDash val="solid"/>
          </a:ln>
        </p:spPr>
      </p:sp>
      <p:pic>
        <p:nvPicPr>
          <p:cNvPr id="5" name="Image 0" descr="preencoded.png">    </p:cNvPr>
          <p:cNvPicPr>
            <a:picLocks noChangeAspect="1"/>
          </p:cNvPicPr>
          <p:nvPr/>
        </p:nvPicPr>
        <p:blipFill>
          <a:blip r:embed="rId1"/>
          <a:stretch>
            <a:fillRect/>
          </a:stretch>
        </p:blipFill>
        <p:spPr>
          <a:xfrm>
            <a:off x="708660" y="1412748"/>
            <a:ext cx="228600" cy="228600"/>
          </a:xfrm>
          <a:prstGeom prst="rect">
            <a:avLst/>
          </a:prstGeom>
        </p:spPr>
      </p:pic>
      <p:sp>
        <p:nvSpPr>
          <p:cNvPr id="6" name="Text 3"/>
          <p:cNvSpPr txBox="1"/>
          <p:nvPr/>
        </p:nvSpPr>
        <p:spPr>
          <a:xfrm>
            <a:off x="1234440" y="1188720"/>
            <a:ext cx="2011680" cy="676656"/>
          </a:xfrm>
          <a:prstGeom prst="rect">
            <a:avLst/>
          </a:prstGeom>
          <a:noFill/>
          <a:ln/>
        </p:spPr>
        <p:txBody>
          <a:bodyPr wrap="square" lIns="0" tIns="0" rIns="0" bIns="0" rtlCol="0" anchor="ctr"/>
          <a:lstStyle/>
          <a:p>
            <a:pPr indent="0" marL="0">
              <a:buNone/>
            </a:pPr>
            <a:r>
              <a:rPr lang="en-US" sz="1700" b="1" dirty="0">
                <a:solidFill>
                  <a:srgbClr val="121417"/>
                </a:solidFill>
              </a:rPr>
              <a:t>Raise eyebrows</a:t>
            </a:r>
            <a:endParaRPr lang="en-US" sz="1700" dirty="0"/>
          </a:p>
        </p:txBody>
      </p:sp>
      <p:pic>
        <p:nvPicPr>
          <p:cNvPr id="7" name="Image 1" descr="preencoded.png">    </p:cNvPr>
          <p:cNvPicPr>
            <a:picLocks noChangeAspect="1"/>
          </p:cNvPicPr>
          <p:nvPr/>
        </p:nvPicPr>
        <p:blipFill>
          <a:blip r:embed="rId2"/>
          <a:stretch>
            <a:fillRect/>
          </a:stretch>
        </p:blipFill>
        <p:spPr>
          <a:xfrm>
            <a:off x="3200400" y="1408176"/>
            <a:ext cx="237744" cy="237744"/>
          </a:xfrm>
          <a:prstGeom prst="rect">
            <a:avLst/>
          </a:prstGeom>
        </p:spPr>
      </p:pic>
      <p:sp>
        <p:nvSpPr>
          <p:cNvPr id="8" name="Text 4"/>
          <p:cNvSpPr txBox="1"/>
          <p:nvPr/>
        </p:nvSpPr>
        <p:spPr>
          <a:xfrm>
            <a:off x="3611880" y="1188720"/>
            <a:ext cx="1874520" cy="676656"/>
          </a:xfrm>
          <a:prstGeom prst="rect">
            <a:avLst/>
          </a:prstGeom>
          <a:noFill/>
          <a:ln/>
        </p:spPr>
        <p:txBody>
          <a:bodyPr wrap="square" lIns="0" tIns="0" rIns="0" bIns="0" rtlCol="0" anchor="ctr"/>
          <a:lstStyle/>
          <a:p>
            <a:pPr indent="0" marL="0">
              <a:buNone/>
            </a:pPr>
            <a:r>
              <a:rPr lang="en-US" sz="1600" b="1" dirty="0">
                <a:solidFill>
                  <a:srgbClr val="0B5D46"/>
                </a:solidFill>
              </a:rPr>
              <a:t>Next</a:t>
            </a:r>
            <a:endParaRPr lang="en-US" sz="1600" dirty="0"/>
          </a:p>
        </p:txBody>
      </p:sp>
      <p:sp>
        <p:nvSpPr>
          <p:cNvPr id="9" name="card"/>
          <p:cNvSpPr/>
          <p:nvPr/>
        </p:nvSpPr>
        <p:spPr>
          <a:xfrm>
            <a:off x="457200" y="1993392"/>
            <a:ext cx="5120640" cy="676656"/>
          </a:xfrm>
          <a:prstGeom prst="roundRect">
            <a:avLst>
              <a:gd name="adj" fmla="val 16216"/>
            </a:avLst>
          </a:prstGeom>
          <a:solidFill>
            <a:srgbClr val="FFFFFF"/>
          </a:solidFill>
          <a:ln w="9525">
            <a:solidFill>
              <a:srgbClr val="D9DCE0"/>
            </a:solidFill>
            <a:prstDash val="solid"/>
          </a:ln>
        </p:spPr>
      </p:sp>
      <p:sp>
        <p:nvSpPr>
          <p:cNvPr id="10" name="icon LuRepeat"/>
          <p:cNvSpPr/>
          <p:nvPr/>
        </p:nvSpPr>
        <p:spPr>
          <a:xfrm>
            <a:off x="594360" y="2103120"/>
            <a:ext cx="457200" cy="457200"/>
          </a:xfrm>
          <a:prstGeom prst="ellipse">
            <a:avLst/>
          </a:prstGeom>
          <a:solidFill>
            <a:srgbClr val="0B5D46"/>
          </a:solidFill>
          <a:ln w="12700">
            <a:solidFill>
              <a:srgbClr val="0B5D46"/>
            </a:solidFill>
            <a:prstDash val="solid"/>
          </a:ln>
        </p:spPr>
      </p:sp>
      <p:pic>
        <p:nvPicPr>
          <p:cNvPr id="11" name="Image 2" descr="preencoded.png">    </p:cNvPr>
          <p:cNvPicPr>
            <a:picLocks noChangeAspect="1"/>
          </p:cNvPicPr>
          <p:nvPr/>
        </p:nvPicPr>
        <p:blipFill>
          <a:blip r:embed="rId3"/>
          <a:stretch>
            <a:fillRect/>
          </a:stretch>
        </p:blipFill>
        <p:spPr>
          <a:xfrm>
            <a:off x="708660" y="2217420"/>
            <a:ext cx="228600" cy="228600"/>
          </a:xfrm>
          <a:prstGeom prst="rect">
            <a:avLst/>
          </a:prstGeom>
        </p:spPr>
      </p:pic>
      <p:sp>
        <p:nvSpPr>
          <p:cNvPr id="12" name="Text 7"/>
          <p:cNvSpPr txBox="1"/>
          <p:nvPr/>
        </p:nvSpPr>
        <p:spPr>
          <a:xfrm>
            <a:off x="1234440" y="1993392"/>
            <a:ext cx="2011680" cy="676656"/>
          </a:xfrm>
          <a:prstGeom prst="rect">
            <a:avLst/>
          </a:prstGeom>
          <a:noFill/>
          <a:ln/>
        </p:spPr>
        <p:txBody>
          <a:bodyPr wrap="square" lIns="0" tIns="0" rIns="0" bIns="0" rtlCol="0" anchor="ctr"/>
          <a:lstStyle/>
          <a:p>
            <a:pPr indent="0" marL="0">
              <a:buNone/>
            </a:pPr>
            <a:r>
              <a:rPr lang="en-US" sz="1700" b="1" dirty="0">
                <a:solidFill>
                  <a:srgbClr val="121417"/>
                </a:solidFill>
              </a:rPr>
              <a:t>Keep them up</a:t>
            </a:r>
            <a:endParaRPr lang="en-US" sz="1700" dirty="0"/>
          </a:p>
        </p:txBody>
      </p:sp>
      <p:pic>
        <p:nvPicPr>
          <p:cNvPr id="13" name="Image 3" descr="preencoded.png">    </p:cNvPr>
          <p:cNvPicPr>
            <a:picLocks noChangeAspect="1"/>
          </p:cNvPicPr>
          <p:nvPr/>
        </p:nvPicPr>
        <p:blipFill>
          <a:blip r:embed="rId4"/>
          <a:stretch>
            <a:fillRect/>
          </a:stretch>
        </p:blipFill>
        <p:spPr>
          <a:xfrm>
            <a:off x="3200400" y="2212848"/>
            <a:ext cx="237744" cy="237744"/>
          </a:xfrm>
          <a:prstGeom prst="rect">
            <a:avLst/>
          </a:prstGeom>
        </p:spPr>
      </p:pic>
      <p:sp>
        <p:nvSpPr>
          <p:cNvPr id="14" name="Text 8"/>
          <p:cNvSpPr txBox="1"/>
          <p:nvPr/>
        </p:nvSpPr>
        <p:spPr>
          <a:xfrm>
            <a:off x="3611880" y="1993392"/>
            <a:ext cx="1874520" cy="676656"/>
          </a:xfrm>
          <a:prstGeom prst="rect">
            <a:avLst/>
          </a:prstGeom>
          <a:noFill/>
          <a:ln/>
        </p:spPr>
        <p:txBody>
          <a:bodyPr wrap="square" lIns="0" tIns="0" rIns="0" bIns="0" rtlCol="0" anchor="ctr"/>
          <a:lstStyle/>
          <a:p>
            <a:pPr indent="0" marL="0">
              <a:buNone/>
            </a:pPr>
            <a:r>
              <a:rPr lang="en-US" sz="1600" b="1" dirty="0">
                <a:solidFill>
                  <a:srgbClr val="0B5D46"/>
                </a:solidFill>
              </a:rPr>
              <a:t>Keep moving</a:t>
            </a:r>
            <a:endParaRPr lang="en-US" sz="1600" dirty="0"/>
          </a:p>
        </p:txBody>
      </p:sp>
      <p:sp>
        <p:nvSpPr>
          <p:cNvPr id="15" name="card"/>
          <p:cNvSpPr/>
          <p:nvPr/>
        </p:nvSpPr>
        <p:spPr>
          <a:xfrm>
            <a:off x="457200" y="2798064"/>
            <a:ext cx="5120640" cy="676656"/>
          </a:xfrm>
          <a:prstGeom prst="roundRect">
            <a:avLst>
              <a:gd name="adj" fmla="val 16216"/>
            </a:avLst>
          </a:prstGeom>
          <a:solidFill>
            <a:srgbClr val="FFFFFF"/>
          </a:solidFill>
          <a:ln w="9525">
            <a:solidFill>
              <a:srgbClr val="D9DCE0"/>
            </a:solidFill>
            <a:prstDash val="solid"/>
          </a:ln>
        </p:spPr>
      </p:sp>
      <p:sp>
        <p:nvSpPr>
          <p:cNvPr id="16" name="icon LuUndo2"/>
          <p:cNvSpPr/>
          <p:nvPr/>
        </p:nvSpPr>
        <p:spPr>
          <a:xfrm>
            <a:off x="594360" y="2907792"/>
            <a:ext cx="457200" cy="457200"/>
          </a:xfrm>
          <a:prstGeom prst="ellipse">
            <a:avLst/>
          </a:prstGeom>
          <a:solidFill>
            <a:srgbClr val="0B5D46"/>
          </a:solidFill>
          <a:ln w="12700">
            <a:solidFill>
              <a:srgbClr val="0B5D46"/>
            </a:solidFill>
            <a:prstDash val="solid"/>
          </a:ln>
        </p:spPr>
      </p:sp>
      <p:pic>
        <p:nvPicPr>
          <p:cNvPr id="17" name="Image 4" descr="preencoded.png">    </p:cNvPr>
          <p:cNvPicPr>
            <a:picLocks noChangeAspect="1"/>
          </p:cNvPicPr>
          <p:nvPr/>
        </p:nvPicPr>
        <p:blipFill>
          <a:blip r:embed="rId5"/>
          <a:stretch>
            <a:fillRect/>
          </a:stretch>
        </p:blipFill>
        <p:spPr>
          <a:xfrm>
            <a:off x="708660" y="3022092"/>
            <a:ext cx="228600" cy="228600"/>
          </a:xfrm>
          <a:prstGeom prst="rect">
            <a:avLst/>
          </a:prstGeom>
        </p:spPr>
      </p:pic>
      <p:sp>
        <p:nvSpPr>
          <p:cNvPr id="18" name="Text 11"/>
          <p:cNvSpPr txBox="1"/>
          <p:nvPr/>
        </p:nvSpPr>
        <p:spPr>
          <a:xfrm>
            <a:off x="1234440" y="2798064"/>
            <a:ext cx="2011680" cy="676656"/>
          </a:xfrm>
          <a:prstGeom prst="rect">
            <a:avLst/>
          </a:prstGeom>
          <a:noFill/>
          <a:ln/>
        </p:spPr>
        <p:txBody>
          <a:bodyPr wrap="square" lIns="0" tIns="0" rIns="0" bIns="0" rtlCol="0" anchor="ctr"/>
          <a:lstStyle/>
          <a:p>
            <a:pPr indent="0" marL="0">
              <a:buNone/>
            </a:pPr>
            <a:r>
              <a:rPr lang="en-US" sz="1700" b="1" dirty="0">
                <a:solidFill>
                  <a:srgbClr val="121417"/>
                </a:solidFill>
              </a:rPr>
              <a:t>Jaw drop</a:t>
            </a:r>
            <a:endParaRPr lang="en-US" sz="1700" dirty="0"/>
          </a:p>
        </p:txBody>
      </p:sp>
      <p:pic>
        <p:nvPicPr>
          <p:cNvPr id="19" name="Image 5" descr="preencoded.png">    </p:cNvPr>
          <p:cNvPicPr>
            <a:picLocks noChangeAspect="1"/>
          </p:cNvPicPr>
          <p:nvPr/>
        </p:nvPicPr>
        <p:blipFill>
          <a:blip r:embed="rId6"/>
          <a:stretch>
            <a:fillRect/>
          </a:stretch>
        </p:blipFill>
        <p:spPr>
          <a:xfrm>
            <a:off x="3200400" y="3017520"/>
            <a:ext cx="237744" cy="237744"/>
          </a:xfrm>
          <a:prstGeom prst="rect">
            <a:avLst/>
          </a:prstGeom>
        </p:spPr>
      </p:pic>
      <p:sp>
        <p:nvSpPr>
          <p:cNvPr id="20" name="Text 12"/>
          <p:cNvSpPr txBox="1"/>
          <p:nvPr/>
        </p:nvSpPr>
        <p:spPr>
          <a:xfrm>
            <a:off x="3611880" y="2798064"/>
            <a:ext cx="1874520" cy="676656"/>
          </a:xfrm>
          <a:prstGeom prst="rect">
            <a:avLst/>
          </a:prstGeom>
          <a:noFill/>
          <a:ln/>
        </p:spPr>
        <p:txBody>
          <a:bodyPr wrap="square" lIns="0" tIns="0" rIns="0" bIns="0" rtlCol="0" anchor="ctr"/>
          <a:lstStyle/>
          <a:p>
            <a:pPr indent="0" marL="0">
              <a:buNone/>
            </a:pPr>
            <a:r>
              <a:rPr lang="en-US" sz="1600" b="1" dirty="0">
                <a:solidFill>
                  <a:srgbClr val="0B5D46"/>
                </a:solidFill>
              </a:rPr>
              <a:t>Back</a:t>
            </a:r>
            <a:endParaRPr lang="en-US" sz="1600" dirty="0"/>
          </a:p>
        </p:txBody>
      </p:sp>
      <p:sp>
        <p:nvSpPr>
          <p:cNvPr id="21" name="card"/>
          <p:cNvSpPr/>
          <p:nvPr/>
        </p:nvSpPr>
        <p:spPr>
          <a:xfrm>
            <a:off x="457200" y="3602736"/>
            <a:ext cx="5120640" cy="676656"/>
          </a:xfrm>
          <a:prstGeom prst="roundRect">
            <a:avLst>
              <a:gd name="adj" fmla="val 16216"/>
            </a:avLst>
          </a:prstGeom>
          <a:solidFill>
            <a:srgbClr val="FFFFFF"/>
          </a:solidFill>
          <a:ln w="9525">
            <a:solidFill>
              <a:srgbClr val="D9DCE0"/>
            </a:solidFill>
            <a:prstDash val="solid"/>
          </a:ln>
        </p:spPr>
      </p:sp>
      <p:sp>
        <p:nvSpPr>
          <p:cNvPr id="22" name="icon LuEyeOff"/>
          <p:cNvSpPr/>
          <p:nvPr/>
        </p:nvSpPr>
        <p:spPr>
          <a:xfrm>
            <a:off x="594360" y="3712464"/>
            <a:ext cx="457200" cy="457200"/>
          </a:xfrm>
          <a:prstGeom prst="ellipse">
            <a:avLst/>
          </a:prstGeom>
          <a:solidFill>
            <a:srgbClr val="0B5D46"/>
          </a:solidFill>
          <a:ln w="12700">
            <a:solidFill>
              <a:srgbClr val="0B5D46"/>
            </a:solidFill>
            <a:prstDash val="solid"/>
          </a:ln>
        </p:spPr>
      </p:sp>
      <p:pic>
        <p:nvPicPr>
          <p:cNvPr id="23" name="Image 6" descr="preencoded.png">    </p:cNvPr>
          <p:cNvPicPr>
            <a:picLocks noChangeAspect="1"/>
          </p:cNvPicPr>
          <p:nvPr/>
        </p:nvPicPr>
        <p:blipFill>
          <a:blip r:embed="rId7"/>
          <a:stretch>
            <a:fillRect/>
          </a:stretch>
        </p:blipFill>
        <p:spPr>
          <a:xfrm>
            <a:off x="708660" y="3826764"/>
            <a:ext cx="228600" cy="228600"/>
          </a:xfrm>
          <a:prstGeom prst="rect">
            <a:avLst/>
          </a:prstGeom>
        </p:spPr>
      </p:pic>
      <p:sp>
        <p:nvSpPr>
          <p:cNvPr id="24" name="Text 15"/>
          <p:cNvSpPr txBox="1"/>
          <p:nvPr/>
        </p:nvSpPr>
        <p:spPr>
          <a:xfrm>
            <a:off x="1234440" y="3602736"/>
            <a:ext cx="2011680" cy="676656"/>
          </a:xfrm>
          <a:prstGeom prst="rect">
            <a:avLst/>
          </a:prstGeom>
          <a:noFill/>
          <a:ln/>
        </p:spPr>
        <p:txBody>
          <a:bodyPr wrap="square" lIns="0" tIns="0" rIns="0" bIns="0" rtlCol="0" anchor="ctr"/>
          <a:lstStyle/>
          <a:p>
            <a:pPr indent="0" marL="0">
              <a:buNone/>
            </a:pPr>
            <a:r>
              <a:rPr lang="en-US" sz="1700" b="1" dirty="0">
                <a:solidFill>
                  <a:srgbClr val="121417"/>
                </a:solidFill>
              </a:rPr>
              <a:t>Long blink</a:t>
            </a:r>
            <a:endParaRPr lang="en-US" sz="1700" dirty="0"/>
          </a:p>
        </p:txBody>
      </p:sp>
      <p:pic>
        <p:nvPicPr>
          <p:cNvPr id="25" name="Image 7" descr="preencoded.png">    </p:cNvPr>
          <p:cNvPicPr>
            <a:picLocks noChangeAspect="1"/>
          </p:cNvPicPr>
          <p:nvPr/>
        </p:nvPicPr>
        <p:blipFill>
          <a:blip r:embed="rId8"/>
          <a:stretch>
            <a:fillRect/>
          </a:stretch>
        </p:blipFill>
        <p:spPr>
          <a:xfrm>
            <a:off x="3200400" y="3822192"/>
            <a:ext cx="237744" cy="237744"/>
          </a:xfrm>
          <a:prstGeom prst="rect">
            <a:avLst/>
          </a:prstGeom>
        </p:spPr>
      </p:pic>
      <p:sp>
        <p:nvSpPr>
          <p:cNvPr id="26" name="Text 16"/>
          <p:cNvSpPr txBox="1"/>
          <p:nvPr/>
        </p:nvSpPr>
        <p:spPr>
          <a:xfrm>
            <a:off x="3611880" y="3602736"/>
            <a:ext cx="1874520" cy="676656"/>
          </a:xfrm>
          <a:prstGeom prst="rect">
            <a:avLst/>
          </a:prstGeom>
          <a:noFill/>
          <a:ln/>
        </p:spPr>
        <p:txBody>
          <a:bodyPr wrap="square" lIns="0" tIns="0" rIns="0" bIns="0" rtlCol="0" anchor="ctr"/>
          <a:lstStyle/>
          <a:p>
            <a:pPr indent="0" marL="0">
              <a:buNone/>
            </a:pPr>
            <a:r>
              <a:rPr lang="en-US" sz="1600" b="1" dirty="0">
                <a:solidFill>
                  <a:srgbClr val="0B5D46"/>
                </a:solidFill>
              </a:rPr>
              <a:t>Choose, or stop speech</a:t>
            </a:r>
            <a:endParaRPr lang="en-US" sz="1600" dirty="0"/>
          </a:p>
        </p:txBody>
      </p:sp>
      <p:sp>
        <p:nvSpPr>
          <p:cNvPr id="27" name="callout"/>
          <p:cNvSpPr/>
          <p:nvPr/>
        </p:nvSpPr>
        <p:spPr>
          <a:xfrm>
            <a:off x="5943600" y="1188720"/>
            <a:ext cx="2743200" cy="3090672"/>
          </a:xfrm>
          <a:prstGeom prst="roundRect">
            <a:avLst>
              <a:gd name="adj" fmla="val 4000"/>
            </a:avLst>
          </a:prstGeom>
          <a:solidFill>
            <a:srgbClr val="E2F2EC"/>
          </a:solidFill>
          <a:ln w="12700">
            <a:solidFill>
              <a:srgbClr val="E2F2EC"/>
            </a:solidFill>
            <a:prstDash val="solid"/>
          </a:ln>
        </p:spPr>
      </p:sp>
      <p:sp>
        <p:nvSpPr>
          <p:cNvPr id="28" name="icon LuEyeOff"/>
          <p:cNvSpPr/>
          <p:nvPr/>
        </p:nvSpPr>
        <p:spPr>
          <a:xfrm>
            <a:off x="6217920" y="1463040"/>
            <a:ext cx="548640" cy="548640"/>
          </a:xfrm>
          <a:prstGeom prst="ellipse">
            <a:avLst/>
          </a:prstGeom>
          <a:solidFill>
            <a:srgbClr val="0B5D46"/>
          </a:solidFill>
          <a:ln w="12700">
            <a:solidFill>
              <a:srgbClr val="0B5D46"/>
            </a:solidFill>
            <a:prstDash val="solid"/>
          </a:ln>
        </p:spPr>
      </p:sp>
      <p:pic>
        <p:nvPicPr>
          <p:cNvPr id="29" name="Image 8" descr="preencoded.png">    </p:cNvPr>
          <p:cNvPicPr>
            <a:picLocks noChangeAspect="1"/>
          </p:cNvPicPr>
          <p:nvPr/>
        </p:nvPicPr>
        <p:blipFill>
          <a:blip r:embed="rId9"/>
          <a:stretch>
            <a:fillRect/>
          </a:stretch>
        </p:blipFill>
        <p:spPr>
          <a:xfrm>
            <a:off x="6355080" y="1600200"/>
            <a:ext cx="274320" cy="274320"/>
          </a:xfrm>
          <a:prstGeom prst="rect">
            <a:avLst/>
          </a:prstGeom>
        </p:spPr>
      </p:pic>
      <p:sp>
        <p:nvSpPr>
          <p:cNvPr id="30" name="Text 19"/>
          <p:cNvSpPr txBox="1"/>
          <p:nvPr/>
        </p:nvSpPr>
        <p:spPr>
          <a:xfrm>
            <a:off x="6217920" y="2194560"/>
            <a:ext cx="2286000" cy="914400"/>
          </a:xfrm>
          <a:prstGeom prst="rect">
            <a:avLst/>
          </a:prstGeom>
          <a:noFill/>
          <a:ln/>
        </p:spPr>
        <p:txBody>
          <a:bodyPr wrap="square" lIns="0" tIns="0" rIns="0" bIns="0" rtlCol="0" anchor="t"/>
          <a:lstStyle/>
          <a:p>
            <a:pPr indent="0" marL="0">
              <a:buNone/>
            </a:pPr>
            <a:r>
              <a:rPr lang="en-US" sz="2800" b="1" dirty="0">
                <a:solidFill>
                  <a:srgbClr val="0B5D46"/>
                </a:solidFill>
              </a:rPr>
              <a:t>Blink always wins</a:t>
            </a:r>
            <a:endParaRPr lang="en-US" sz="2800" dirty="0"/>
          </a:p>
        </p:txBody>
      </p:sp>
      <p:sp>
        <p:nvSpPr>
          <p:cNvPr id="31" name="Text 20"/>
          <p:cNvSpPr txBox="1"/>
          <p:nvPr/>
        </p:nvSpPr>
        <p:spPr>
          <a:xfrm>
            <a:off x="6217920" y="3108960"/>
            <a:ext cx="2286000" cy="1051560"/>
          </a:xfrm>
          <a:prstGeom prst="rect">
            <a:avLst/>
          </a:prstGeom>
          <a:noFill/>
          <a:ln/>
        </p:spPr>
        <p:txBody>
          <a:bodyPr wrap="square" lIns="0" tIns="0" rIns="0" bIns="0" rtlCol="0" anchor="t"/>
          <a:lstStyle/>
          <a:p>
            <a:pPr indent="0" marL="0">
              <a:buNone/>
            </a:pPr>
            <a:r>
              <a:rPr lang="en-US" sz="1300" dirty="0">
                <a:solidFill>
                  <a:srgbClr val="464B53"/>
                </a:solidFill>
              </a:rPr>
              <a:t>If a blink and a raise overlap, the ambiguous input is thrown away. Touch, keyboard, and switch still work.</a:t>
            </a:r>
            <a:endParaRPr lang="en-US" sz="1300" dirty="0"/>
          </a:p>
        </p:txBody>
      </p:sp>
      <p:sp>
        <p:nvSpPr>
          <p:cNvPr id="32" name="Text 21"/>
          <p:cNvSpPr txBox="1"/>
          <p:nvPr/>
        </p:nvSpPr>
        <p:spPr>
          <a:xfrm>
            <a:off x="457200" y="4754880"/>
            <a:ext cx="7406640" cy="256032"/>
          </a:xfrm>
          <a:prstGeom prst="rect">
            <a:avLst/>
          </a:prstGeom>
          <a:noFill/>
          <a:ln/>
        </p:spPr>
        <p:txBody>
          <a:bodyPr wrap="square" lIns="0" tIns="0" rIns="0" bIns="0" rtlCol="0" anchor="ctr"/>
          <a:lstStyle/>
          <a:p>
            <a:pPr indent="0" marL="0">
              <a:buNone/>
            </a:pPr>
            <a:r>
              <a:rPr lang="en-US" sz="1000" dirty="0">
                <a:solidFill>
                  <a:srgbClr val="464B53"/>
                </a:solidFill>
              </a:rPr>
              <a:t>Gesture logic tested with unit and synthetic-frame tests; reliability on people not yet measured.</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Calibrated to your face</a:t>
            </a:r>
            <a:endParaRPr lang="en-US" sz="3200" dirty="0"/>
          </a:p>
        </p:txBody>
      </p:sp>
      <p:sp>
        <p:nvSpPr>
          <p:cNvPr id="3" name="Text 1"/>
          <p:cNvSpPr txBox="1"/>
          <p:nvPr/>
        </p:nvSpPr>
        <p:spPr>
          <a:xfrm>
            <a:off x="457200" y="1051560"/>
            <a:ext cx="7863840" cy="548640"/>
          </a:xfrm>
          <a:prstGeom prst="rect">
            <a:avLst/>
          </a:prstGeom>
          <a:noFill/>
          <a:ln/>
        </p:spPr>
        <p:txBody>
          <a:bodyPr wrap="square" lIns="0" tIns="0" rIns="0" bIns="0" rtlCol="0" anchor="t"/>
          <a:lstStyle/>
          <a:p>
            <a:pPr indent="0" marL="0">
              <a:buNone/>
            </a:pPr>
            <a:r>
              <a:rPr lang="en-US" sz="1600" dirty="0">
                <a:solidFill>
                  <a:srgbClr val="464B53"/>
                </a:solidFill>
              </a:rPr>
              <a:t>A short guided calibration learns your resting face, your eyebrow raise, and your natural vs deliberate blinks.</a:t>
            </a:r>
            <a:endParaRPr lang="en-US" sz="1600" dirty="0"/>
          </a:p>
        </p:txBody>
      </p:sp>
      <p:sp>
        <p:nvSpPr>
          <p:cNvPr id="4" name="card"/>
          <p:cNvSpPr/>
          <p:nvPr/>
        </p:nvSpPr>
        <p:spPr>
          <a:xfrm>
            <a:off x="457200" y="1874520"/>
            <a:ext cx="1188720" cy="1737360"/>
          </a:xfrm>
          <a:prstGeom prst="roundRect">
            <a:avLst>
              <a:gd name="adj" fmla="val 9231"/>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5" name="Text 3"/>
          <p:cNvSpPr txBox="1"/>
          <p:nvPr/>
        </p:nvSpPr>
        <p:spPr>
          <a:xfrm>
            <a:off x="566928" y="1965960"/>
            <a:ext cx="274320" cy="228600"/>
          </a:xfrm>
          <a:prstGeom prst="rect">
            <a:avLst/>
          </a:prstGeom>
          <a:noFill/>
          <a:ln/>
        </p:spPr>
        <p:txBody>
          <a:bodyPr wrap="square" lIns="0" tIns="0" rIns="0" bIns="0" rtlCol="0" anchor="t"/>
          <a:lstStyle/>
          <a:p>
            <a:pPr indent="0" marL="0">
              <a:buNone/>
            </a:pPr>
            <a:r>
              <a:rPr lang="en-US" sz="1100" b="1" dirty="0">
                <a:solidFill>
                  <a:srgbClr val="8A9099"/>
                </a:solidFill>
              </a:rPr>
              <a:t>1</a:t>
            </a:r>
            <a:endParaRPr lang="en-US" sz="1100" dirty="0"/>
          </a:p>
        </p:txBody>
      </p:sp>
      <p:sp>
        <p:nvSpPr>
          <p:cNvPr id="6" name="icon LuSmile"/>
          <p:cNvSpPr/>
          <p:nvPr/>
        </p:nvSpPr>
        <p:spPr>
          <a:xfrm>
            <a:off x="800100" y="2148840"/>
            <a:ext cx="502920" cy="502920"/>
          </a:xfrm>
          <a:prstGeom prst="ellipse">
            <a:avLst/>
          </a:prstGeom>
          <a:solidFill>
            <a:srgbClr val="0B5D46"/>
          </a:solidFill>
          <a:ln w="12700">
            <a:solidFill>
              <a:srgbClr val="0B5D46"/>
            </a:solidFill>
            <a:prstDash val="solid"/>
          </a:ln>
        </p:spPr>
      </p:sp>
      <p:pic>
        <p:nvPicPr>
          <p:cNvPr id="7" name="Image 0" descr="preencoded.png">    </p:cNvPr>
          <p:cNvPicPr>
            <a:picLocks noChangeAspect="1"/>
          </p:cNvPicPr>
          <p:nvPr/>
        </p:nvPicPr>
        <p:blipFill>
          <a:blip r:embed="rId1"/>
          <a:stretch>
            <a:fillRect/>
          </a:stretch>
        </p:blipFill>
        <p:spPr>
          <a:xfrm>
            <a:off x="925830" y="2274570"/>
            <a:ext cx="251460" cy="251460"/>
          </a:xfrm>
          <a:prstGeom prst="rect">
            <a:avLst/>
          </a:prstGeom>
        </p:spPr>
      </p:pic>
      <p:sp>
        <p:nvSpPr>
          <p:cNvPr id="8" name="Text 5"/>
          <p:cNvSpPr txBox="1"/>
          <p:nvPr/>
        </p:nvSpPr>
        <p:spPr>
          <a:xfrm>
            <a:off x="530352" y="2743200"/>
            <a:ext cx="1042416" cy="502920"/>
          </a:xfrm>
          <a:prstGeom prst="rect">
            <a:avLst/>
          </a:prstGeom>
          <a:noFill/>
          <a:ln/>
        </p:spPr>
        <p:txBody>
          <a:bodyPr wrap="square" lIns="0" tIns="0" rIns="0" bIns="0" rtlCol="0" anchor="ctr"/>
          <a:lstStyle/>
          <a:p>
            <a:pPr algn="ctr" indent="0" marL="0">
              <a:buNone/>
            </a:pPr>
            <a:r>
              <a:rPr lang="en-US" sz="1400" b="1" dirty="0">
                <a:solidFill>
                  <a:srgbClr val="121417"/>
                </a:solidFill>
              </a:rPr>
              <a:t>Hold still</a:t>
            </a:r>
            <a:endParaRPr lang="en-US" sz="1400" dirty="0"/>
          </a:p>
        </p:txBody>
      </p:sp>
      <p:sp>
        <p:nvSpPr>
          <p:cNvPr id="9" name="Text 6"/>
          <p:cNvSpPr txBox="1"/>
          <p:nvPr/>
        </p:nvSpPr>
        <p:spPr>
          <a:xfrm>
            <a:off x="530352" y="3246120"/>
            <a:ext cx="1042416" cy="274320"/>
          </a:xfrm>
          <a:prstGeom prst="rect">
            <a:avLst/>
          </a:prstGeom>
          <a:noFill/>
          <a:ln/>
        </p:spPr>
        <p:txBody>
          <a:bodyPr wrap="square" lIns="0" tIns="0" rIns="0" bIns="0" rtlCol="0" anchor="t"/>
          <a:lstStyle/>
          <a:p>
            <a:pPr algn="ctr" indent="0" marL="0">
              <a:buNone/>
            </a:pPr>
            <a:r>
              <a:rPr lang="en-US" sz="1200" dirty="0">
                <a:solidFill>
                  <a:srgbClr val="464B53"/>
                </a:solidFill>
              </a:rPr>
              <a:t>1 s</a:t>
            </a:r>
            <a:endParaRPr lang="en-US" sz="1200" dirty="0"/>
          </a:p>
        </p:txBody>
      </p:sp>
      <p:sp>
        <p:nvSpPr>
          <p:cNvPr id="10" name="card"/>
          <p:cNvSpPr/>
          <p:nvPr/>
        </p:nvSpPr>
        <p:spPr>
          <a:xfrm>
            <a:off x="1783080" y="1874520"/>
            <a:ext cx="1188720" cy="1737360"/>
          </a:xfrm>
          <a:prstGeom prst="roundRect">
            <a:avLst>
              <a:gd name="adj" fmla="val 9231"/>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1" name="Text 8"/>
          <p:cNvSpPr txBox="1"/>
          <p:nvPr/>
        </p:nvSpPr>
        <p:spPr>
          <a:xfrm>
            <a:off x="1892808" y="1965960"/>
            <a:ext cx="274320" cy="228600"/>
          </a:xfrm>
          <a:prstGeom prst="rect">
            <a:avLst/>
          </a:prstGeom>
          <a:noFill/>
          <a:ln/>
        </p:spPr>
        <p:txBody>
          <a:bodyPr wrap="square" lIns="0" tIns="0" rIns="0" bIns="0" rtlCol="0" anchor="t"/>
          <a:lstStyle/>
          <a:p>
            <a:pPr indent="0" marL="0">
              <a:buNone/>
            </a:pPr>
            <a:r>
              <a:rPr lang="en-US" sz="1100" b="1" dirty="0">
                <a:solidFill>
                  <a:srgbClr val="8A9099"/>
                </a:solidFill>
              </a:rPr>
              <a:t>2</a:t>
            </a:r>
            <a:endParaRPr lang="en-US" sz="1100" dirty="0"/>
          </a:p>
        </p:txBody>
      </p:sp>
      <p:sp>
        <p:nvSpPr>
          <p:cNvPr id="12" name="icon LuEye"/>
          <p:cNvSpPr/>
          <p:nvPr/>
        </p:nvSpPr>
        <p:spPr>
          <a:xfrm>
            <a:off x="2125980" y="2148840"/>
            <a:ext cx="502920" cy="502920"/>
          </a:xfrm>
          <a:prstGeom prst="ellipse">
            <a:avLst/>
          </a:prstGeom>
          <a:solidFill>
            <a:srgbClr val="0B5D46"/>
          </a:solidFill>
          <a:ln w="12700">
            <a:solidFill>
              <a:srgbClr val="0B5D46"/>
            </a:solidFill>
            <a:prstDash val="solid"/>
          </a:ln>
        </p:spPr>
      </p:sp>
      <p:pic>
        <p:nvPicPr>
          <p:cNvPr id="13" name="Image 1" descr="preencoded.png">    </p:cNvPr>
          <p:cNvPicPr>
            <a:picLocks noChangeAspect="1"/>
          </p:cNvPicPr>
          <p:nvPr/>
        </p:nvPicPr>
        <p:blipFill>
          <a:blip r:embed="rId2"/>
          <a:stretch>
            <a:fillRect/>
          </a:stretch>
        </p:blipFill>
        <p:spPr>
          <a:xfrm>
            <a:off x="2251710" y="2274570"/>
            <a:ext cx="251460" cy="251460"/>
          </a:xfrm>
          <a:prstGeom prst="rect">
            <a:avLst/>
          </a:prstGeom>
        </p:spPr>
      </p:pic>
      <p:sp>
        <p:nvSpPr>
          <p:cNvPr id="14" name="Text 10"/>
          <p:cNvSpPr txBox="1"/>
          <p:nvPr/>
        </p:nvSpPr>
        <p:spPr>
          <a:xfrm>
            <a:off x="1856232" y="2743200"/>
            <a:ext cx="1042416" cy="502920"/>
          </a:xfrm>
          <a:prstGeom prst="rect">
            <a:avLst/>
          </a:prstGeom>
          <a:noFill/>
          <a:ln/>
        </p:spPr>
        <p:txBody>
          <a:bodyPr wrap="square" lIns="0" tIns="0" rIns="0" bIns="0" rtlCol="0" anchor="ctr"/>
          <a:lstStyle/>
          <a:p>
            <a:pPr algn="ctr" indent="0" marL="0">
              <a:buNone/>
            </a:pPr>
            <a:r>
              <a:rPr lang="en-US" sz="1400" b="1" dirty="0">
                <a:solidFill>
                  <a:srgbClr val="121417"/>
                </a:solidFill>
              </a:rPr>
              <a:t>Eyes open</a:t>
            </a:r>
            <a:endParaRPr lang="en-US" sz="1400" dirty="0"/>
          </a:p>
        </p:txBody>
      </p:sp>
      <p:sp>
        <p:nvSpPr>
          <p:cNvPr id="15" name="Text 11"/>
          <p:cNvSpPr txBox="1"/>
          <p:nvPr/>
        </p:nvSpPr>
        <p:spPr>
          <a:xfrm>
            <a:off x="1856232" y="3246120"/>
            <a:ext cx="1042416" cy="274320"/>
          </a:xfrm>
          <a:prstGeom prst="rect">
            <a:avLst/>
          </a:prstGeom>
          <a:noFill/>
          <a:ln/>
        </p:spPr>
        <p:txBody>
          <a:bodyPr wrap="square" lIns="0" tIns="0" rIns="0" bIns="0" rtlCol="0" anchor="t"/>
          <a:lstStyle/>
          <a:p>
            <a:pPr algn="ctr" indent="0" marL="0">
              <a:buNone/>
            </a:pPr>
            <a:r>
              <a:rPr lang="en-US" sz="1200" dirty="0">
                <a:solidFill>
                  <a:srgbClr val="464B53"/>
                </a:solidFill>
              </a:rPr>
              <a:t>3 s</a:t>
            </a:r>
            <a:endParaRPr lang="en-US" sz="1200" dirty="0"/>
          </a:p>
        </p:txBody>
      </p:sp>
      <p:sp>
        <p:nvSpPr>
          <p:cNvPr id="16" name="card"/>
          <p:cNvSpPr/>
          <p:nvPr/>
        </p:nvSpPr>
        <p:spPr>
          <a:xfrm>
            <a:off x="3108960" y="1874520"/>
            <a:ext cx="1188720" cy="1737360"/>
          </a:xfrm>
          <a:prstGeom prst="roundRect">
            <a:avLst>
              <a:gd name="adj" fmla="val 9231"/>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7" name="Text 13"/>
          <p:cNvSpPr txBox="1"/>
          <p:nvPr/>
        </p:nvSpPr>
        <p:spPr>
          <a:xfrm>
            <a:off x="3218688" y="1965960"/>
            <a:ext cx="274320" cy="228600"/>
          </a:xfrm>
          <a:prstGeom prst="rect">
            <a:avLst/>
          </a:prstGeom>
          <a:noFill/>
          <a:ln/>
        </p:spPr>
        <p:txBody>
          <a:bodyPr wrap="square" lIns="0" tIns="0" rIns="0" bIns="0" rtlCol="0" anchor="t"/>
          <a:lstStyle/>
          <a:p>
            <a:pPr indent="0" marL="0">
              <a:buNone/>
            </a:pPr>
            <a:r>
              <a:rPr lang="en-US" sz="1100" b="1" dirty="0">
                <a:solidFill>
                  <a:srgbClr val="8A9099"/>
                </a:solidFill>
              </a:rPr>
              <a:t>3</a:t>
            </a:r>
            <a:endParaRPr lang="en-US" sz="1100" dirty="0"/>
          </a:p>
        </p:txBody>
      </p:sp>
      <p:sp>
        <p:nvSpPr>
          <p:cNvPr id="18" name="icon LuEye"/>
          <p:cNvSpPr/>
          <p:nvPr/>
        </p:nvSpPr>
        <p:spPr>
          <a:xfrm>
            <a:off x="3451860" y="2148840"/>
            <a:ext cx="502920" cy="502920"/>
          </a:xfrm>
          <a:prstGeom prst="ellipse">
            <a:avLst/>
          </a:prstGeom>
          <a:solidFill>
            <a:srgbClr val="0B5D46"/>
          </a:solidFill>
          <a:ln w="12700">
            <a:solidFill>
              <a:srgbClr val="0B5D46"/>
            </a:solidFill>
            <a:prstDash val="solid"/>
          </a:ln>
        </p:spPr>
      </p:sp>
      <p:pic>
        <p:nvPicPr>
          <p:cNvPr id="19" name="Image 2" descr="preencoded.png">    </p:cNvPr>
          <p:cNvPicPr>
            <a:picLocks noChangeAspect="1"/>
          </p:cNvPicPr>
          <p:nvPr/>
        </p:nvPicPr>
        <p:blipFill>
          <a:blip r:embed="rId3"/>
          <a:stretch>
            <a:fillRect/>
          </a:stretch>
        </p:blipFill>
        <p:spPr>
          <a:xfrm>
            <a:off x="3577590" y="2274570"/>
            <a:ext cx="251460" cy="251460"/>
          </a:xfrm>
          <a:prstGeom prst="rect">
            <a:avLst/>
          </a:prstGeom>
        </p:spPr>
      </p:pic>
      <p:sp>
        <p:nvSpPr>
          <p:cNvPr id="20" name="Text 15"/>
          <p:cNvSpPr txBox="1"/>
          <p:nvPr/>
        </p:nvSpPr>
        <p:spPr>
          <a:xfrm>
            <a:off x="3182112" y="2743200"/>
            <a:ext cx="1042416" cy="502920"/>
          </a:xfrm>
          <a:prstGeom prst="rect">
            <a:avLst/>
          </a:prstGeom>
          <a:noFill/>
          <a:ln/>
        </p:spPr>
        <p:txBody>
          <a:bodyPr wrap="square" lIns="0" tIns="0" rIns="0" bIns="0" rtlCol="0" anchor="ctr"/>
          <a:lstStyle/>
          <a:p>
            <a:pPr algn="ctr" indent="0" marL="0">
              <a:buNone/>
            </a:pPr>
            <a:r>
              <a:rPr lang="en-US" sz="1400" b="1" dirty="0">
                <a:solidFill>
                  <a:srgbClr val="121417"/>
                </a:solidFill>
              </a:rPr>
              <a:t>Blink normally</a:t>
            </a:r>
            <a:endParaRPr lang="en-US" sz="1400" dirty="0"/>
          </a:p>
        </p:txBody>
      </p:sp>
      <p:sp>
        <p:nvSpPr>
          <p:cNvPr id="21" name="Text 16"/>
          <p:cNvSpPr txBox="1"/>
          <p:nvPr/>
        </p:nvSpPr>
        <p:spPr>
          <a:xfrm>
            <a:off x="3182112" y="3246120"/>
            <a:ext cx="1042416" cy="274320"/>
          </a:xfrm>
          <a:prstGeom prst="rect">
            <a:avLst/>
          </a:prstGeom>
          <a:noFill/>
          <a:ln/>
        </p:spPr>
        <p:txBody>
          <a:bodyPr wrap="square" lIns="0" tIns="0" rIns="0" bIns="0" rtlCol="0" anchor="t"/>
          <a:lstStyle/>
          <a:p>
            <a:pPr algn="ctr" indent="0" marL="0">
              <a:buNone/>
            </a:pPr>
            <a:r>
              <a:rPr lang="en-US" sz="1200" dirty="0">
                <a:solidFill>
                  <a:srgbClr val="464B53"/>
                </a:solidFill>
              </a:rPr>
              <a:t>8 s</a:t>
            </a:r>
            <a:endParaRPr lang="en-US" sz="1200" dirty="0"/>
          </a:p>
        </p:txBody>
      </p:sp>
      <p:sp>
        <p:nvSpPr>
          <p:cNvPr id="22" name="card"/>
          <p:cNvSpPr/>
          <p:nvPr/>
        </p:nvSpPr>
        <p:spPr>
          <a:xfrm>
            <a:off x="4434840" y="1874520"/>
            <a:ext cx="1188720" cy="1737360"/>
          </a:xfrm>
          <a:prstGeom prst="roundRect">
            <a:avLst>
              <a:gd name="adj" fmla="val 9231"/>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23" name="Text 18"/>
          <p:cNvSpPr txBox="1"/>
          <p:nvPr/>
        </p:nvSpPr>
        <p:spPr>
          <a:xfrm>
            <a:off x="4544568" y="1965960"/>
            <a:ext cx="274320" cy="228600"/>
          </a:xfrm>
          <a:prstGeom prst="rect">
            <a:avLst/>
          </a:prstGeom>
          <a:noFill/>
          <a:ln/>
        </p:spPr>
        <p:txBody>
          <a:bodyPr wrap="square" lIns="0" tIns="0" rIns="0" bIns="0" rtlCol="0" anchor="t"/>
          <a:lstStyle/>
          <a:p>
            <a:pPr indent="0" marL="0">
              <a:buNone/>
            </a:pPr>
            <a:r>
              <a:rPr lang="en-US" sz="1100" b="1" dirty="0">
                <a:solidFill>
                  <a:srgbClr val="8A9099"/>
                </a:solidFill>
              </a:rPr>
              <a:t>4</a:t>
            </a:r>
            <a:endParaRPr lang="en-US" sz="1100" dirty="0"/>
          </a:p>
        </p:txBody>
      </p:sp>
      <p:sp>
        <p:nvSpPr>
          <p:cNvPr id="24" name="icon LuEyeOff"/>
          <p:cNvSpPr/>
          <p:nvPr/>
        </p:nvSpPr>
        <p:spPr>
          <a:xfrm>
            <a:off x="4777740" y="2148840"/>
            <a:ext cx="502920" cy="502920"/>
          </a:xfrm>
          <a:prstGeom prst="ellipse">
            <a:avLst/>
          </a:prstGeom>
          <a:solidFill>
            <a:srgbClr val="0B5D46"/>
          </a:solidFill>
          <a:ln w="12700">
            <a:solidFill>
              <a:srgbClr val="0B5D46"/>
            </a:solidFill>
            <a:prstDash val="solid"/>
          </a:ln>
        </p:spPr>
      </p:sp>
      <p:pic>
        <p:nvPicPr>
          <p:cNvPr id="25" name="Image 3" descr="preencoded.png">    </p:cNvPr>
          <p:cNvPicPr>
            <a:picLocks noChangeAspect="1"/>
          </p:cNvPicPr>
          <p:nvPr/>
        </p:nvPicPr>
        <p:blipFill>
          <a:blip r:embed="rId4"/>
          <a:stretch>
            <a:fillRect/>
          </a:stretch>
        </p:blipFill>
        <p:spPr>
          <a:xfrm>
            <a:off x="4903470" y="2274570"/>
            <a:ext cx="251460" cy="251460"/>
          </a:xfrm>
          <a:prstGeom prst="rect">
            <a:avLst/>
          </a:prstGeom>
        </p:spPr>
      </p:pic>
      <p:sp>
        <p:nvSpPr>
          <p:cNvPr id="26" name="Text 20"/>
          <p:cNvSpPr txBox="1"/>
          <p:nvPr/>
        </p:nvSpPr>
        <p:spPr>
          <a:xfrm>
            <a:off x="4507992" y="2743200"/>
            <a:ext cx="1042416" cy="502920"/>
          </a:xfrm>
          <a:prstGeom prst="rect">
            <a:avLst/>
          </a:prstGeom>
          <a:noFill/>
          <a:ln/>
        </p:spPr>
        <p:txBody>
          <a:bodyPr wrap="square" lIns="0" tIns="0" rIns="0" bIns="0" rtlCol="0" anchor="ctr"/>
          <a:lstStyle/>
          <a:p>
            <a:pPr algn="ctr" indent="0" marL="0">
              <a:buNone/>
            </a:pPr>
            <a:r>
              <a:rPr lang="en-US" sz="1400" b="1" dirty="0">
                <a:solidFill>
                  <a:srgbClr val="121417"/>
                </a:solidFill>
              </a:rPr>
              <a:t>Long blink x4</a:t>
            </a:r>
            <a:endParaRPr lang="en-US" sz="1400" dirty="0"/>
          </a:p>
        </p:txBody>
      </p:sp>
      <p:sp>
        <p:nvSpPr>
          <p:cNvPr id="27" name="Text 21"/>
          <p:cNvSpPr txBox="1"/>
          <p:nvPr/>
        </p:nvSpPr>
        <p:spPr>
          <a:xfrm>
            <a:off x="4507992" y="3246120"/>
            <a:ext cx="1042416" cy="274320"/>
          </a:xfrm>
          <a:prstGeom prst="rect">
            <a:avLst/>
          </a:prstGeom>
          <a:noFill/>
          <a:ln/>
        </p:spPr>
        <p:txBody>
          <a:bodyPr wrap="square" lIns="0" tIns="0" rIns="0" bIns="0" rtlCol="0" anchor="t"/>
          <a:lstStyle/>
          <a:p>
            <a:pPr algn="ctr" indent="0" marL="0">
              <a:buNone/>
            </a:pPr>
            <a:r>
              <a:rPr lang="en-US" sz="1200" dirty="0">
                <a:solidFill>
                  <a:srgbClr val="464B53"/>
                </a:solidFill>
              </a:rPr>
              <a:t>deliberate</a:t>
            </a:r>
            <a:endParaRPr lang="en-US" sz="1200" dirty="0"/>
          </a:p>
        </p:txBody>
      </p:sp>
      <p:sp>
        <p:nvSpPr>
          <p:cNvPr id="28" name="card"/>
          <p:cNvSpPr/>
          <p:nvPr/>
        </p:nvSpPr>
        <p:spPr>
          <a:xfrm>
            <a:off x="5760720" y="1874520"/>
            <a:ext cx="1188720" cy="1737360"/>
          </a:xfrm>
          <a:prstGeom prst="roundRect">
            <a:avLst>
              <a:gd name="adj" fmla="val 9231"/>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29" name="Text 23"/>
          <p:cNvSpPr txBox="1"/>
          <p:nvPr/>
        </p:nvSpPr>
        <p:spPr>
          <a:xfrm>
            <a:off x="5870448" y="1965960"/>
            <a:ext cx="274320" cy="228600"/>
          </a:xfrm>
          <a:prstGeom prst="rect">
            <a:avLst/>
          </a:prstGeom>
          <a:noFill/>
          <a:ln/>
        </p:spPr>
        <p:txBody>
          <a:bodyPr wrap="square" lIns="0" tIns="0" rIns="0" bIns="0" rtlCol="0" anchor="t"/>
          <a:lstStyle/>
          <a:p>
            <a:pPr indent="0" marL="0">
              <a:buNone/>
            </a:pPr>
            <a:r>
              <a:rPr lang="en-US" sz="1100" b="1" dirty="0">
                <a:solidFill>
                  <a:srgbClr val="8A9099"/>
                </a:solidFill>
              </a:rPr>
              <a:t>5</a:t>
            </a:r>
            <a:endParaRPr lang="en-US" sz="1100" dirty="0"/>
          </a:p>
        </p:txBody>
      </p:sp>
      <p:sp>
        <p:nvSpPr>
          <p:cNvPr id="30" name="icon LuArrowUp"/>
          <p:cNvSpPr/>
          <p:nvPr/>
        </p:nvSpPr>
        <p:spPr>
          <a:xfrm>
            <a:off x="6103620" y="2148840"/>
            <a:ext cx="502920" cy="502920"/>
          </a:xfrm>
          <a:prstGeom prst="ellipse">
            <a:avLst/>
          </a:prstGeom>
          <a:solidFill>
            <a:srgbClr val="0B5D46"/>
          </a:solidFill>
          <a:ln w="12700">
            <a:solidFill>
              <a:srgbClr val="0B5D46"/>
            </a:solidFill>
            <a:prstDash val="solid"/>
          </a:ln>
        </p:spPr>
      </p:sp>
      <p:pic>
        <p:nvPicPr>
          <p:cNvPr id="31" name="Image 4" descr="preencoded.png">    </p:cNvPr>
          <p:cNvPicPr>
            <a:picLocks noChangeAspect="1"/>
          </p:cNvPicPr>
          <p:nvPr/>
        </p:nvPicPr>
        <p:blipFill>
          <a:blip r:embed="rId5"/>
          <a:stretch>
            <a:fillRect/>
          </a:stretch>
        </p:blipFill>
        <p:spPr>
          <a:xfrm>
            <a:off x="6229350" y="2274570"/>
            <a:ext cx="251460" cy="251460"/>
          </a:xfrm>
          <a:prstGeom prst="rect">
            <a:avLst/>
          </a:prstGeom>
        </p:spPr>
      </p:pic>
      <p:sp>
        <p:nvSpPr>
          <p:cNvPr id="32" name="Text 25"/>
          <p:cNvSpPr txBox="1"/>
          <p:nvPr/>
        </p:nvSpPr>
        <p:spPr>
          <a:xfrm>
            <a:off x="5833872" y="2743200"/>
            <a:ext cx="1042416" cy="502920"/>
          </a:xfrm>
          <a:prstGeom prst="rect">
            <a:avLst/>
          </a:prstGeom>
          <a:noFill/>
          <a:ln/>
        </p:spPr>
        <p:txBody>
          <a:bodyPr wrap="square" lIns="0" tIns="0" rIns="0" bIns="0" rtlCol="0" anchor="ctr"/>
          <a:lstStyle/>
          <a:p>
            <a:pPr algn="ctr" indent="0" marL="0">
              <a:buNone/>
            </a:pPr>
            <a:r>
              <a:rPr lang="en-US" sz="1400" b="1" dirty="0">
                <a:solidFill>
                  <a:srgbClr val="121417"/>
                </a:solidFill>
              </a:rPr>
              <a:t>Raise eyebrows</a:t>
            </a:r>
            <a:endParaRPr lang="en-US" sz="1400" dirty="0"/>
          </a:p>
        </p:txBody>
      </p:sp>
      <p:sp>
        <p:nvSpPr>
          <p:cNvPr id="33" name="Text 26"/>
          <p:cNvSpPr txBox="1"/>
          <p:nvPr/>
        </p:nvSpPr>
        <p:spPr>
          <a:xfrm>
            <a:off x="5833872" y="3246120"/>
            <a:ext cx="1042416" cy="274320"/>
          </a:xfrm>
          <a:prstGeom prst="rect">
            <a:avLst/>
          </a:prstGeom>
          <a:noFill/>
          <a:ln/>
        </p:spPr>
        <p:txBody>
          <a:bodyPr wrap="square" lIns="0" tIns="0" rIns="0" bIns="0" rtlCol="0" anchor="t"/>
          <a:lstStyle/>
          <a:p>
            <a:pPr algn="ctr" indent="0" marL="0">
              <a:buNone/>
            </a:pPr>
            <a:r>
              <a:rPr lang="en-US" sz="1200" dirty="0">
                <a:solidFill>
                  <a:srgbClr val="464B53"/>
                </a:solidFill>
              </a:rPr>
              <a:t>a few raises</a:t>
            </a:r>
            <a:endParaRPr lang="en-US" sz="1200" dirty="0"/>
          </a:p>
        </p:txBody>
      </p:sp>
      <p:sp>
        <p:nvSpPr>
          <p:cNvPr id="34" name="saved card"/>
          <p:cNvSpPr/>
          <p:nvPr/>
        </p:nvSpPr>
        <p:spPr>
          <a:xfrm>
            <a:off x="7086600" y="1874520"/>
            <a:ext cx="1600200" cy="1737360"/>
          </a:xfrm>
          <a:prstGeom prst="roundRect">
            <a:avLst>
              <a:gd name="adj" fmla="val 6857"/>
            </a:avLst>
          </a:prstGeom>
          <a:solidFill>
            <a:srgbClr val="0B5D46"/>
          </a:solidFill>
          <a:ln w="12700">
            <a:solidFill>
              <a:srgbClr val="0B5D46"/>
            </a:solidFill>
            <a:prstDash val="solid"/>
          </a:ln>
        </p:spPr>
      </p:sp>
      <p:pic>
        <p:nvPicPr>
          <p:cNvPr id="35" name="Image 5" descr="preencoded.png">    </p:cNvPr>
          <p:cNvPicPr>
            <a:picLocks noChangeAspect="1"/>
          </p:cNvPicPr>
          <p:nvPr/>
        </p:nvPicPr>
        <p:blipFill>
          <a:blip r:embed="rId6"/>
          <a:stretch>
            <a:fillRect/>
          </a:stretch>
        </p:blipFill>
        <p:spPr>
          <a:xfrm>
            <a:off x="7269480" y="2075688"/>
            <a:ext cx="365760" cy="365760"/>
          </a:xfrm>
          <a:prstGeom prst="rect">
            <a:avLst/>
          </a:prstGeom>
        </p:spPr>
      </p:pic>
      <p:sp>
        <p:nvSpPr>
          <p:cNvPr id="36" name="Text 28"/>
          <p:cNvSpPr txBox="1"/>
          <p:nvPr/>
        </p:nvSpPr>
        <p:spPr>
          <a:xfrm>
            <a:off x="7269480" y="2514600"/>
            <a:ext cx="1325880" cy="457200"/>
          </a:xfrm>
          <a:prstGeom prst="rect">
            <a:avLst/>
          </a:prstGeom>
          <a:noFill/>
          <a:ln/>
        </p:spPr>
        <p:txBody>
          <a:bodyPr wrap="square" lIns="0" tIns="0" rIns="0" bIns="0" rtlCol="0" anchor="t"/>
          <a:lstStyle/>
          <a:p>
            <a:pPr indent="0" marL="0">
              <a:buNone/>
            </a:pPr>
            <a:r>
              <a:rPr lang="en-US" sz="1500" b="1" dirty="0">
                <a:solidFill>
                  <a:srgbClr val="FFFFFF"/>
                </a:solidFill>
              </a:rPr>
              <a:t>Saved on this iPad</a:t>
            </a:r>
            <a:endParaRPr lang="en-US" sz="1500" dirty="0"/>
          </a:p>
        </p:txBody>
      </p:sp>
      <p:sp>
        <p:nvSpPr>
          <p:cNvPr id="37" name="Text 29"/>
          <p:cNvSpPr txBox="1"/>
          <p:nvPr/>
        </p:nvSpPr>
        <p:spPr>
          <a:xfrm>
            <a:off x="7269480" y="2971800"/>
            <a:ext cx="1325880" cy="548640"/>
          </a:xfrm>
          <a:prstGeom prst="rect">
            <a:avLst/>
          </a:prstGeom>
          <a:noFill/>
          <a:ln/>
        </p:spPr>
        <p:txBody>
          <a:bodyPr wrap="square" lIns="0" tIns="0" rIns="0" bIns="0" rtlCol="0" anchor="t"/>
          <a:lstStyle/>
          <a:p>
            <a:pPr indent="0" marL="0">
              <a:buNone/>
            </a:pPr>
            <a:r>
              <a:rPr lang="en-US" sz="1200" dirty="0">
                <a:solidFill>
                  <a:srgbClr val="E2F2EC"/>
                </a:solidFill>
              </a:rPr>
              <a:t>Thresholds and timing only, no images.</a:t>
            </a:r>
            <a:endParaRPr lang="en-US" sz="1200" dirty="0"/>
          </a:p>
        </p:txBody>
      </p:sp>
      <p:sp>
        <p:nvSpPr>
          <p:cNvPr id="38" name="Text 30"/>
          <p:cNvSpPr txBox="1"/>
          <p:nvPr/>
        </p:nvSpPr>
        <p:spPr>
          <a:xfrm>
            <a:off x="457200" y="3931920"/>
            <a:ext cx="8229600" cy="411480"/>
          </a:xfrm>
          <a:prstGeom prst="rect">
            <a:avLst/>
          </a:prstGeom>
          <a:noFill/>
          <a:ln/>
        </p:spPr>
        <p:txBody>
          <a:bodyPr wrap="square" lIns="0" tIns="0" rIns="0" bIns="0" rtlCol="0" anchor="t"/>
          <a:lstStyle/>
          <a:p>
            <a:pPr indent="0" marL="0">
              <a:buNone/>
            </a:pPr>
            <a:r>
              <a:rPr lang="en-US" sz="1800" b="1" dirty="0">
                <a:solidFill>
                  <a:srgbClr val="121417"/>
                </a:solidFill>
              </a:rPr>
              <a:t>Your timing, saved on this iPad.</a:t>
            </a:r>
            <a:endParaRPr lang="en-US" sz="1800" dirty="0"/>
          </a:p>
        </p:txBody>
      </p:sp>
      <p:sp>
        <p:nvSpPr>
          <p:cNvPr id="39" name="Text 31"/>
          <p:cNvSpPr txBox="1"/>
          <p:nvPr/>
        </p:nvSpPr>
        <p:spPr>
          <a:xfrm>
            <a:off x="457200" y="4754880"/>
            <a:ext cx="7406640" cy="256032"/>
          </a:xfrm>
          <a:prstGeom prst="rect">
            <a:avLst/>
          </a:prstGeom>
          <a:noFill/>
          <a:ln/>
        </p:spPr>
        <p:txBody>
          <a:bodyPr wrap="square" lIns="0" tIns="0" rIns="0" bIns="0" rtlCol="0" anchor="ctr"/>
          <a:lstStyle/>
          <a:p>
            <a:pPr indent="0" marL="0">
              <a:buNone/>
            </a:pPr>
            <a:r>
              <a:rPr lang="en-US" sz="1000" dirty="0">
                <a:solidFill>
                  <a:srgbClr val="464B53"/>
                </a:solidFill>
              </a:rPr>
              <a:t>Calibration logic verified in code; a calibration on a real person on the iPad is not yet recorded.</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It learns you, with your permission</a:t>
            </a:r>
            <a:endParaRPr lang="en-US" sz="3200" dirty="0"/>
          </a:p>
        </p:txBody>
      </p:sp>
      <p:sp>
        <p:nvSpPr>
          <p:cNvPr id="3" name="card"/>
          <p:cNvSpPr/>
          <p:nvPr/>
        </p:nvSpPr>
        <p:spPr>
          <a:xfrm>
            <a:off x="457200" y="1188720"/>
            <a:ext cx="2560320" cy="2606040"/>
          </a:xfrm>
          <a:prstGeom prst="roundRect">
            <a:avLst>
              <a:gd name="adj" fmla="val 4286"/>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4" name="icon LuRefreshCw"/>
          <p:cNvSpPr/>
          <p:nvPr/>
        </p:nvSpPr>
        <p:spPr>
          <a:xfrm>
            <a:off x="685800" y="1417320"/>
            <a:ext cx="502920" cy="502920"/>
          </a:xfrm>
          <a:prstGeom prst="ellipse">
            <a:avLst/>
          </a:prstGeom>
          <a:solidFill>
            <a:srgbClr val="0B5D46"/>
          </a:solidFill>
          <a:ln w="12700">
            <a:solidFill>
              <a:srgbClr val="0B5D46"/>
            </a:solidFill>
            <a:prstDash val="solid"/>
          </a:ln>
        </p:spPr>
      </p:sp>
      <p:pic>
        <p:nvPicPr>
          <p:cNvPr id="5" name="Image 0" descr="preencoded.png">    </p:cNvPr>
          <p:cNvPicPr>
            <a:picLocks noChangeAspect="1"/>
          </p:cNvPicPr>
          <p:nvPr/>
        </p:nvPicPr>
        <p:blipFill>
          <a:blip r:embed="rId1"/>
          <a:stretch>
            <a:fillRect/>
          </a:stretch>
        </p:blipFill>
        <p:spPr>
          <a:xfrm>
            <a:off x="811530" y="1543050"/>
            <a:ext cx="251460" cy="251460"/>
          </a:xfrm>
          <a:prstGeom prst="rect">
            <a:avLst/>
          </a:prstGeom>
        </p:spPr>
      </p:pic>
      <p:sp>
        <p:nvSpPr>
          <p:cNvPr id="6" name="Text 3"/>
          <p:cNvSpPr txBox="1"/>
          <p:nvPr/>
        </p:nvSpPr>
        <p:spPr>
          <a:xfrm>
            <a:off x="685800" y="2029968"/>
            <a:ext cx="2103120" cy="365760"/>
          </a:xfrm>
          <a:prstGeom prst="rect">
            <a:avLst/>
          </a:prstGeom>
          <a:noFill/>
          <a:ln/>
        </p:spPr>
        <p:txBody>
          <a:bodyPr wrap="square" lIns="0" tIns="0" rIns="0" bIns="0" rtlCol="0" anchor="t"/>
          <a:lstStyle/>
          <a:p>
            <a:pPr indent="0" marL="0">
              <a:buNone/>
            </a:pPr>
            <a:r>
              <a:rPr lang="en-US" sz="1700" b="1" dirty="0">
                <a:solidFill>
                  <a:srgbClr val="121417"/>
                </a:solidFill>
              </a:rPr>
              <a:t>“None of these”</a:t>
            </a:r>
            <a:endParaRPr lang="en-US" sz="1700" dirty="0"/>
          </a:p>
        </p:txBody>
      </p:sp>
      <p:sp>
        <p:nvSpPr>
          <p:cNvPr id="7" name="Text 4"/>
          <p:cNvSpPr txBox="1"/>
          <p:nvPr/>
        </p:nvSpPr>
        <p:spPr>
          <a:xfrm>
            <a:off x="685800" y="2395728"/>
            <a:ext cx="2103120" cy="731520"/>
          </a:xfrm>
          <a:prstGeom prst="rect">
            <a:avLst/>
          </a:prstGeom>
          <a:noFill/>
          <a:ln/>
        </p:spPr>
        <p:txBody>
          <a:bodyPr wrap="square" lIns="0" tIns="0" rIns="0" bIns="0" rtlCol="0" anchor="t"/>
          <a:lstStyle/>
          <a:p>
            <a:pPr indent="0" marL="0">
              <a:buNone/>
            </a:pPr>
            <a:r>
              <a:rPr lang="en-US" sz="1400" dirty="0">
                <a:solidFill>
                  <a:srgbClr val="464B53"/>
                </a:solidFill>
              </a:rPr>
              <a:t>Turn down a set of replies and the next ones take a different direction.</a:t>
            </a:r>
            <a:endParaRPr lang="en-US" sz="1400" dirty="0"/>
          </a:p>
        </p:txBody>
      </p:sp>
      <p:pic>
        <p:nvPicPr>
          <p:cNvPr id="8" name="Image 1" descr="preencoded.png">    </p:cNvPr>
          <p:cNvPicPr>
            <a:picLocks noChangeAspect="1"/>
          </p:cNvPicPr>
          <p:nvPr/>
        </p:nvPicPr>
        <p:blipFill>
          <a:blip r:embed="rId2"/>
          <a:stretch>
            <a:fillRect/>
          </a:stretch>
        </p:blipFill>
        <p:spPr>
          <a:xfrm>
            <a:off x="685800" y="3145536"/>
            <a:ext cx="237744" cy="237744"/>
          </a:xfrm>
          <a:prstGeom prst="rect">
            <a:avLst/>
          </a:prstGeom>
        </p:spPr>
      </p:pic>
      <p:sp>
        <p:nvSpPr>
          <p:cNvPr id="9" name="Text 5"/>
          <p:cNvSpPr txBox="1"/>
          <p:nvPr/>
        </p:nvSpPr>
        <p:spPr>
          <a:xfrm>
            <a:off x="987552" y="3127248"/>
            <a:ext cx="1828800" cy="274320"/>
          </a:xfrm>
          <a:prstGeom prst="rect">
            <a:avLst/>
          </a:prstGeom>
          <a:noFill/>
          <a:ln/>
        </p:spPr>
        <p:txBody>
          <a:bodyPr wrap="square" lIns="0" tIns="0" rIns="0" bIns="0" rtlCol="0" anchor="ctr"/>
          <a:lstStyle/>
          <a:p>
            <a:pPr indent="0" marL="0">
              <a:buNone/>
            </a:pPr>
            <a:r>
              <a:rPr lang="en-US" sz="1100" i="1" dirty="0">
                <a:solidFill>
                  <a:srgbClr val="0B5D46"/>
                </a:solidFill>
              </a:rPr>
              <a:t>new meanings, not paraphrases</a:t>
            </a:r>
            <a:endParaRPr lang="en-US" sz="1100" dirty="0"/>
          </a:p>
        </p:txBody>
      </p:sp>
      <p:sp>
        <p:nvSpPr>
          <p:cNvPr id="10" name="Text 6"/>
          <p:cNvSpPr txBox="1"/>
          <p:nvPr/>
        </p:nvSpPr>
        <p:spPr>
          <a:xfrm>
            <a:off x="685800" y="3474720"/>
            <a:ext cx="2103120" cy="228600"/>
          </a:xfrm>
          <a:prstGeom prst="rect">
            <a:avLst/>
          </a:prstGeom>
          <a:noFill/>
          <a:ln/>
        </p:spPr>
        <p:txBody>
          <a:bodyPr wrap="square" lIns="0" tIns="0" rIns="0" bIns="0" rtlCol="0" anchor="t"/>
          <a:lstStyle/>
          <a:p>
            <a:pPr indent="0" marL="0">
              <a:buNone/>
            </a:pPr>
            <a:r>
              <a:rPr lang="en-US" sz="1000" i="1" dirty="0">
                <a:solidFill>
                  <a:srgbClr val="8A9099"/>
                </a:solidFill>
              </a:rPr>
              <a:t>this question</a:t>
            </a:r>
            <a:endParaRPr lang="en-US" sz="1000" dirty="0"/>
          </a:p>
        </p:txBody>
      </p:sp>
      <p:sp>
        <p:nvSpPr>
          <p:cNvPr id="11" name="card"/>
          <p:cNvSpPr/>
          <p:nvPr/>
        </p:nvSpPr>
        <p:spPr>
          <a:xfrm>
            <a:off x="3291840" y="1188720"/>
            <a:ext cx="2560320" cy="2606040"/>
          </a:xfrm>
          <a:prstGeom prst="roundRect">
            <a:avLst>
              <a:gd name="adj" fmla="val 4286"/>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2" name="icon LuSparkles"/>
          <p:cNvSpPr/>
          <p:nvPr/>
        </p:nvSpPr>
        <p:spPr>
          <a:xfrm>
            <a:off x="3520440" y="1417320"/>
            <a:ext cx="502920" cy="502920"/>
          </a:xfrm>
          <a:prstGeom prst="ellipse">
            <a:avLst/>
          </a:prstGeom>
          <a:solidFill>
            <a:srgbClr val="0B5D46"/>
          </a:solidFill>
          <a:ln w="12700">
            <a:solidFill>
              <a:srgbClr val="0B5D46"/>
            </a:solidFill>
            <a:prstDash val="solid"/>
          </a:ln>
        </p:spPr>
      </p:sp>
      <p:pic>
        <p:nvPicPr>
          <p:cNvPr id="13" name="Image 2" descr="preencoded.png">    </p:cNvPr>
          <p:cNvPicPr>
            <a:picLocks noChangeAspect="1"/>
          </p:cNvPicPr>
          <p:nvPr/>
        </p:nvPicPr>
        <p:blipFill>
          <a:blip r:embed="rId3"/>
          <a:stretch>
            <a:fillRect/>
          </a:stretch>
        </p:blipFill>
        <p:spPr>
          <a:xfrm>
            <a:off x="3646170" y="1543050"/>
            <a:ext cx="251460" cy="251460"/>
          </a:xfrm>
          <a:prstGeom prst="rect">
            <a:avLst/>
          </a:prstGeom>
        </p:spPr>
      </p:pic>
      <p:sp>
        <p:nvSpPr>
          <p:cNvPr id="14" name="Text 9"/>
          <p:cNvSpPr txBox="1"/>
          <p:nvPr/>
        </p:nvSpPr>
        <p:spPr>
          <a:xfrm>
            <a:off x="3520440" y="2029968"/>
            <a:ext cx="2103120" cy="365760"/>
          </a:xfrm>
          <a:prstGeom prst="rect">
            <a:avLst/>
          </a:prstGeom>
          <a:noFill/>
          <a:ln/>
        </p:spPr>
        <p:txBody>
          <a:bodyPr wrap="square" lIns="0" tIns="0" rIns="0" bIns="0" rtlCol="0" anchor="t"/>
          <a:lstStyle/>
          <a:p>
            <a:pPr indent="0" marL="0">
              <a:buNone/>
            </a:pPr>
            <a:r>
              <a:rPr lang="en-US" sz="1700" b="1" dirty="0">
                <a:solidFill>
                  <a:srgbClr val="121417"/>
                </a:solidFill>
              </a:rPr>
              <a:t>“Shorter replies?”</a:t>
            </a:r>
            <a:endParaRPr lang="en-US" sz="1700" dirty="0"/>
          </a:p>
        </p:txBody>
      </p:sp>
      <p:sp>
        <p:nvSpPr>
          <p:cNvPr id="15" name="Text 10"/>
          <p:cNvSpPr txBox="1"/>
          <p:nvPr/>
        </p:nvSpPr>
        <p:spPr>
          <a:xfrm>
            <a:off x="3520440" y="2395728"/>
            <a:ext cx="2103120" cy="731520"/>
          </a:xfrm>
          <a:prstGeom prst="rect">
            <a:avLst/>
          </a:prstGeom>
          <a:noFill/>
          <a:ln/>
        </p:spPr>
        <p:txBody>
          <a:bodyPr wrap="square" lIns="0" tIns="0" rIns="0" bIns="0" rtlCol="0" anchor="t"/>
          <a:lstStyle/>
          <a:p>
            <a:pPr indent="0" marL="0">
              <a:buNone/>
            </a:pPr>
            <a:r>
              <a:rPr lang="en-US" sz="1400" dirty="0">
                <a:solidFill>
                  <a:srgbClr val="464B53"/>
                </a:solidFill>
              </a:rPr>
              <a:t>Wording habits can be learned in a session, if you opt in.</a:t>
            </a:r>
            <a:endParaRPr lang="en-US" sz="1400" dirty="0"/>
          </a:p>
        </p:txBody>
      </p:sp>
      <p:sp>
        <p:nvSpPr>
          <p:cNvPr id="16" name="mini button"/>
          <p:cNvSpPr/>
          <p:nvPr/>
        </p:nvSpPr>
        <p:spPr>
          <a:xfrm>
            <a:off x="3520440" y="3127248"/>
            <a:ext cx="777240" cy="274320"/>
          </a:xfrm>
          <a:prstGeom prst="roundRect">
            <a:avLst>
              <a:gd name="adj" fmla="val 50000"/>
            </a:avLst>
          </a:prstGeom>
          <a:solidFill>
            <a:srgbClr val="0B5D46"/>
          </a:solidFill>
          <a:ln w="12700">
            <a:solidFill>
              <a:srgbClr val="0B5D46"/>
            </a:solidFill>
            <a:prstDash val="solid"/>
          </a:ln>
        </p:spPr>
      </p:sp>
      <p:sp>
        <p:nvSpPr>
          <p:cNvPr id="17" name="Text 12"/>
          <p:cNvSpPr txBox="1"/>
          <p:nvPr/>
        </p:nvSpPr>
        <p:spPr>
          <a:xfrm>
            <a:off x="3520440" y="3127248"/>
            <a:ext cx="777240" cy="274320"/>
          </a:xfrm>
          <a:prstGeom prst="rect">
            <a:avLst/>
          </a:prstGeom>
          <a:noFill/>
          <a:ln/>
        </p:spPr>
        <p:txBody>
          <a:bodyPr wrap="square" lIns="0" tIns="0" rIns="0" bIns="0" rtlCol="0" anchor="ctr"/>
          <a:lstStyle/>
          <a:p>
            <a:pPr algn="ctr" indent="0" marL="0">
              <a:buNone/>
            </a:pPr>
            <a:r>
              <a:rPr lang="en-US" sz="1100" b="1" dirty="0">
                <a:solidFill>
                  <a:srgbClr val="FFFFFF"/>
                </a:solidFill>
              </a:rPr>
              <a:t>Yes</a:t>
            </a:r>
            <a:endParaRPr lang="en-US" sz="1100" dirty="0"/>
          </a:p>
        </p:txBody>
      </p:sp>
      <p:sp>
        <p:nvSpPr>
          <p:cNvPr id="18" name="mini button"/>
          <p:cNvSpPr/>
          <p:nvPr/>
        </p:nvSpPr>
        <p:spPr>
          <a:xfrm>
            <a:off x="4389120" y="3127248"/>
            <a:ext cx="777240" cy="274320"/>
          </a:xfrm>
          <a:prstGeom prst="roundRect">
            <a:avLst>
              <a:gd name="adj" fmla="val 50000"/>
            </a:avLst>
          </a:prstGeom>
          <a:solidFill>
            <a:srgbClr val="FFFFFF"/>
          </a:solidFill>
          <a:ln w="12700">
            <a:solidFill>
              <a:srgbClr val="0B5D46"/>
            </a:solidFill>
            <a:prstDash val="solid"/>
          </a:ln>
        </p:spPr>
      </p:sp>
      <p:sp>
        <p:nvSpPr>
          <p:cNvPr id="19" name="Text 14"/>
          <p:cNvSpPr txBox="1"/>
          <p:nvPr/>
        </p:nvSpPr>
        <p:spPr>
          <a:xfrm>
            <a:off x="4389120" y="3127248"/>
            <a:ext cx="777240" cy="274320"/>
          </a:xfrm>
          <a:prstGeom prst="rect">
            <a:avLst/>
          </a:prstGeom>
          <a:noFill/>
          <a:ln/>
        </p:spPr>
        <p:txBody>
          <a:bodyPr wrap="square" lIns="0" tIns="0" rIns="0" bIns="0" rtlCol="0" anchor="ctr"/>
          <a:lstStyle/>
          <a:p>
            <a:pPr algn="ctr" indent="0" marL="0">
              <a:buNone/>
            </a:pPr>
            <a:r>
              <a:rPr lang="en-US" sz="1100" b="1" dirty="0">
                <a:solidFill>
                  <a:srgbClr val="0B5D46"/>
                </a:solidFill>
              </a:rPr>
              <a:t>Not now</a:t>
            </a:r>
            <a:endParaRPr lang="en-US" sz="1100" dirty="0"/>
          </a:p>
        </p:txBody>
      </p:sp>
      <p:sp>
        <p:nvSpPr>
          <p:cNvPr id="20" name="Text 15"/>
          <p:cNvSpPr txBox="1"/>
          <p:nvPr/>
        </p:nvSpPr>
        <p:spPr>
          <a:xfrm>
            <a:off x="3520440" y="3474720"/>
            <a:ext cx="2103120" cy="228600"/>
          </a:xfrm>
          <a:prstGeom prst="rect">
            <a:avLst/>
          </a:prstGeom>
          <a:noFill/>
          <a:ln/>
        </p:spPr>
        <p:txBody>
          <a:bodyPr wrap="square" lIns="0" tIns="0" rIns="0" bIns="0" rtlCol="0" anchor="t"/>
          <a:lstStyle/>
          <a:p>
            <a:pPr indent="0" marL="0">
              <a:buNone/>
            </a:pPr>
            <a:r>
              <a:rPr lang="en-US" sz="1000" i="1" dirty="0">
                <a:solidFill>
                  <a:srgbClr val="8A9099"/>
                </a:solidFill>
              </a:rPr>
              <a:t>opt-in, this session</a:t>
            </a:r>
            <a:endParaRPr lang="en-US" sz="1000" dirty="0"/>
          </a:p>
        </p:txBody>
      </p:sp>
      <p:sp>
        <p:nvSpPr>
          <p:cNvPr id="21" name="card"/>
          <p:cNvSpPr/>
          <p:nvPr/>
        </p:nvSpPr>
        <p:spPr>
          <a:xfrm>
            <a:off x="6126480" y="1188720"/>
            <a:ext cx="2560320" cy="2606040"/>
          </a:xfrm>
          <a:prstGeom prst="roundRect">
            <a:avLst>
              <a:gd name="adj" fmla="val 4286"/>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22" name="icon LuShieldCheck"/>
          <p:cNvSpPr/>
          <p:nvPr/>
        </p:nvSpPr>
        <p:spPr>
          <a:xfrm>
            <a:off x="6355080" y="1417320"/>
            <a:ext cx="502920" cy="502920"/>
          </a:xfrm>
          <a:prstGeom prst="ellipse">
            <a:avLst/>
          </a:prstGeom>
          <a:solidFill>
            <a:srgbClr val="0B5D46"/>
          </a:solidFill>
          <a:ln w="12700">
            <a:solidFill>
              <a:srgbClr val="0B5D46"/>
            </a:solidFill>
            <a:prstDash val="solid"/>
          </a:ln>
        </p:spPr>
      </p:sp>
      <p:pic>
        <p:nvPicPr>
          <p:cNvPr id="23" name="Image 3" descr="preencoded.png">    </p:cNvPr>
          <p:cNvPicPr>
            <a:picLocks noChangeAspect="1"/>
          </p:cNvPicPr>
          <p:nvPr/>
        </p:nvPicPr>
        <p:blipFill>
          <a:blip r:embed="rId4"/>
          <a:stretch>
            <a:fillRect/>
          </a:stretch>
        </p:blipFill>
        <p:spPr>
          <a:xfrm>
            <a:off x="6480810" y="1543050"/>
            <a:ext cx="251460" cy="251460"/>
          </a:xfrm>
          <a:prstGeom prst="rect">
            <a:avLst/>
          </a:prstGeom>
        </p:spPr>
      </p:pic>
      <p:sp>
        <p:nvSpPr>
          <p:cNvPr id="24" name="Text 18"/>
          <p:cNvSpPr txBox="1"/>
          <p:nvPr/>
        </p:nvSpPr>
        <p:spPr>
          <a:xfrm>
            <a:off x="6355080" y="2029968"/>
            <a:ext cx="2103120" cy="365760"/>
          </a:xfrm>
          <a:prstGeom prst="rect">
            <a:avLst/>
          </a:prstGeom>
          <a:noFill/>
          <a:ln/>
        </p:spPr>
        <p:txBody>
          <a:bodyPr wrap="square" lIns="0" tIns="0" rIns="0" bIns="0" rtlCol="0" anchor="t"/>
          <a:lstStyle/>
          <a:p>
            <a:pPr indent="0" marL="0">
              <a:buNone/>
            </a:pPr>
            <a:r>
              <a:rPr lang="en-US" sz="1700" b="1" dirty="0">
                <a:solidFill>
                  <a:srgbClr val="121417"/>
                </a:solidFill>
              </a:rPr>
              <a:t>Saved preferences</a:t>
            </a:r>
            <a:endParaRPr lang="en-US" sz="1700" dirty="0"/>
          </a:p>
        </p:txBody>
      </p:sp>
      <p:sp>
        <p:nvSpPr>
          <p:cNvPr id="25" name="Text 19"/>
          <p:cNvSpPr txBox="1"/>
          <p:nvPr/>
        </p:nvSpPr>
        <p:spPr>
          <a:xfrm>
            <a:off x="6355080" y="2395728"/>
            <a:ext cx="2103120" cy="731520"/>
          </a:xfrm>
          <a:prstGeom prst="rect">
            <a:avLst/>
          </a:prstGeom>
          <a:noFill/>
          <a:ln/>
        </p:spPr>
        <p:txBody>
          <a:bodyPr wrap="square" lIns="0" tIns="0" rIns="0" bIns="0" rtlCol="0" anchor="t"/>
          <a:lstStyle/>
          <a:p>
            <a:pPr indent="0" marL="0">
              <a:buNone/>
            </a:pPr>
            <a:r>
              <a:rPr lang="en-US" sz="1400" dirty="0">
                <a:solidFill>
                  <a:srgbClr val="464B53"/>
                </a:solidFill>
              </a:rPr>
              <a:t>Kept only with your approval. See, pause, or delete anytime.</a:t>
            </a:r>
            <a:endParaRPr lang="en-US" sz="1400" dirty="0"/>
          </a:p>
        </p:txBody>
      </p:sp>
      <p:sp>
        <p:nvSpPr>
          <p:cNvPr id="26" name="mini button"/>
          <p:cNvSpPr/>
          <p:nvPr/>
        </p:nvSpPr>
        <p:spPr>
          <a:xfrm>
            <a:off x="6355080" y="3127248"/>
            <a:ext cx="777240" cy="274320"/>
          </a:xfrm>
          <a:prstGeom prst="roundRect">
            <a:avLst>
              <a:gd name="adj" fmla="val 50000"/>
            </a:avLst>
          </a:prstGeom>
          <a:solidFill>
            <a:srgbClr val="0B5D46"/>
          </a:solidFill>
          <a:ln w="12700">
            <a:solidFill>
              <a:srgbClr val="0B5D46"/>
            </a:solidFill>
            <a:prstDash val="solid"/>
          </a:ln>
        </p:spPr>
      </p:sp>
      <p:sp>
        <p:nvSpPr>
          <p:cNvPr id="27" name="Text 21"/>
          <p:cNvSpPr txBox="1"/>
          <p:nvPr/>
        </p:nvSpPr>
        <p:spPr>
          <a:xfrm>
            <a:off x="6355080" y="3127248"/>
            <a:ext cx="777240" cy="274320"/>
          </a:xfrm>
          <a:prstGeom prst="rect">
            <a:avLst/>
          </a:prstGeom>
          <a:noFill/>
          <a:ln/>
        </p:spPr>
        <p:txBody>
          <a:bodyPr wrap="square" lIns="0" tIns="0" rIns="0" bIns="0" rtlCol="0" anchor="ctr"/>
          <a:lstStyle/>
          <a:p>
            <a:pPr algn="ctr" indent="0" marL="0">
              <a:buNone/>
            </a:pPr>
            <a:r>
              <a:rPr lang="en-US" sz="1100" b="1" dirty="0">
                <a:solidFill>
                  <a:srgbClr val="FFFFFF"/>
                </a:solidFill>
              </a:rPr>
              <a:t>Pause</a:t>
            </a:r>
            <a:endParaRPr lang="en-US" sz="1100" dirty="0"/>
          </a:p>
        </p:txBody>
      </p:sp>
      <p:sp>
        <p:nvSpPr>
          <p:cNvPr id="28" name="mini button"/>
          <p:cNvSpPr/>
          <p:nvPr/>
        </p:nvSpPr>
        <p:spPr>
          <a:xfrm>
            <a:off x="7223760" y="3127248"/>
            <a:ext cx="777240" cy="274320"/>
          </a:xfrm>
          <a:prstGeom prst="roundRect">
            <a:avLst>
              <a:gd name="adj" fmla="val 50000"/>
            </a:avLst>
          </a:prstGeom>
          <a:solidFill>
            <a:srgbClr val="FFFFFF"/>
          </a:solidFill>
          <a:ln w="12700">
            <a:solidFill>
              <a:srgbClr val="0B5D46"/>
            </a:solidFill>
            <a:prstDash val="solid"/>
          </a:ln>
        </p:spPr>
      </p:sp>
      <p:sp>
        <p:nvSpPr>
          <p:cNvPr id="29" name="Text 23"/>
          <p:cNvSpPr txBox="1"/>
          <p:nvPr/>
        </p:nvSpPr>
        <p:spPr>
          <a:xfrm>
            <a:off x="7223760" y="3127248"/>
            <a:ext cx="777240" cy="274320"/>
          </a:xfrm>
          <a:prstGeom prst="rect">
            <a:avLst/>
          </a:prstGeom>
          <a:noFill/>
          <a:ln/>
        </p:spPr>
        <p:txBody>
          <a:bodyPr wrap="square" lIns="0" tIns="0" rIns="0" bIns="0" rtlCol="0" anchor="ctr"/>
          <a:lstStyle/>
          <a:p>
            <a:pPr algn="ctr" indent="0" marL="0">
              <a:buNone/>
            </a:pPr>
            <a:r>
              <a:rPr lang="en-US" sz="1100" b="1" dirty="0">
                <a:solidFill>
                  <a:srgbClr val="0B5D46"/>
                </a:solidFill>
              </a:rPr>
              <a:t>Delete</a:t>
            </a:r>
            <a:endParaRPr lang="en-US" sz="1100" dirty="0"/>
          </a:p>
        </p:txBody>
      </p:sp>
      <p:sp>
        <p:nvSpPr>
          <p:cNvPr id="30" name="Text 24"/>
          <p:cNvSpPr txBox="1"/>
          <p:nvPr/>
        </p:nvSpPr>
        <p:spPr>
          <a:xfrm>
            <a:off x="6355080" y="3474720"/>
            <a:ext cx="2103120" cy="228600"/>
          </a:xfrm>
          <a:prstGeom prst="rect">
            <a:avLst/>
          </a:prstGeom>
          <a:noFill/>
          <a:ln/>
        </p:spPr>
        <p:txBody>
          <a:bodyPr wrap="square" lIns="0" tIns="0" rIns="0" bIns="0" rtlCol="0" anchor="t"/>
          <a:lstStyle/>
          <a:p>
            <a:pPr indent="0" marL="0">
              <a:buNone/>
            </a:pPr>
            <a:r>
              <a:rPr lang="en-US" sz="1000" i="1" dirty="0">
                <a:solidFill>
                  <a:srgbClr val="8A9099"/>
                </a:solidFill>
              </a:rPr>
              <a:t>only with approval, only on this iPad</a:t>
            </a:r>
            <a:endParaRPr lang="en-US" sz="1000" dirty="0"/>
          </a:p>
        </p:txBody>
      </p:sp>
      <p:pic>
        <p:nvPicPr>
          <p:cNvPr id="31" name="Image 4" descr="preencoded.png">    </p:cNvPr>
          <p:cNvPicPr>
            <a:picLocks noChangeAspect="1"/>
          </p:cNvPicPr>
          <p:nvPr/>
        </p:nvPicPr>
        <p:blipFill>
          <a:blip r:embed="rId5"/>
          <a:stretch>
            <a:fillRect/>
          </a:stretch>
        </p:blipFill>
        <p:spPr>
          <a:xfrm>
            <a:off x="457200" y="4041648"/>
            <a:ext cx="310896" cy="310896"/>
          </a:xfrm>
          <a:prstGeom prst="rect">
            <a:avLst/>
          </a:prstGeom>
        </p:spPr>
      </p:pic>
      <p:sp>
        <p:nvSpPr>
          <p:cNvPr id="32" name="Text 25"/>
          <p:cNvSpPr txBox="1"/>
          <p:nvPr/>
        </p:nvSpPr>
        <p:spPr>
          <a:xfrm>
            <a:off x="868680" y="4023360"/>
            <a:ext cx="7772400" cy="365760"/>
          </a:xfrm>
          <a:prstGeom prst="rect">
            <a:avLst/>
          </a:prstGeom>
          <a:noFill/>
          <a:ln/>
        </p:spPr>
        <p:txBody>
          <a:bodyPr wrap="square" lIns="0" tIns="0" rIns="0" bIns="0" rtlCol="0" anchor="ctr"/>
          <a:lstStyle/>
          <a:p>
            <a:pPr indent="0" marL="0">
              <a:buNone/>
            </a:pPr>
            <a:r>
              <a:rPr lang="en-US" sz="1700" b="1" dirty="0">
                <a:solidFill>
                  <a:srgbClr val="121417"/>
                </a:solidFill>
              </a:rPr>
              <a:t>Nothing is kept without your approval. Learning is off by default.</a:t>
            </a:r>
            <a:endParaRPr lang="en-US" sz="17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How it fits together</a:t>
            </a:r>
            <a:endParaRPr lang="en-US" sz="3200" dirty="0"/>
          </a:p>
        </p:txBody>
      </p:sp>
      <p:pic>
        <p:nvPicPr>
          <p:cNvPr id="3" name="Image 0" descr="Simplified architecture: iPad (camera, microphone, speaker), our Railway server, OpenAI and ElevenLabs">    </p:cNvPr>
          <p:cNvPicPr>
            <a:picLocks noChangeAspect="1"/>
          </p:cNvPicPr>
          <p:nvPr/>
        </p:nvPicPr>
        <p:blipFill>
          <a:blip r:embed="rId1"/>
          <a:stretch>
            <a:fillRect/>
          </a:stretch>
        </p:blipFill>
        <p:spPr>
          <a:xfrm>
            <a:off x="985192" y="1051560"/>
            <a:ext cx="7173615" cy="3474720"/>
          </a:xfrm>
          <a:prstGeom prst="rect">
            <a:avLst/>
          </a:prstGeom>
        </p:spPr>
      </p:pic>
      <p:sp>
        <p:nvSpPr>
          <p:cNvPr id="4" name="Text 1"/>
          <p:cNvSpPr txBox="1"/>
          <p:nvPr/>
        </p:nvSpPr>
        <p:spPr>
          <a:xfrm>
            <a:off x="457200" y="4572000"/>
            <a:ext cx="7406640" cy="256032"/>
          </a:xfrm>
          <a:prstGeom prst="rect">
            <a:avLst/>
          </a:prstGeom>
          <a:noFill/>
          <a:ln/>
        </p:spPr>
        <p:txBody>
          <a:bodyPr wrap="square" lIns="0" tIns="0" rIns="0" bIns="0" rtlCol="0" anchor="ctr"/>
          <a:lstStyle/>
          <a:p>
            <a:pPr indent="0" marL="0">
              <a:buNone/>
            </a:pPr>
            <a:r>
              <a:rPr lang="en-US" sz="1000" dirty="0">
                <a:solidFill>
                  <a:srgbClr val="464B53"/>
                </a:solidFill>
              </a:rPr>
              <a:t>Face tracking runs on the iPad. Audio clips, text, and chosen words go to our server. Keys never leave the server.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On the iPad</a:t>
            </a:r>
            <a:endParaRPr lang="en-US" sz="3200" dirty="0"/>
          </a:p>
        </p:txBody>
      </p:sp>
      <p:sp>
        <p:nvSpPr>
          <p:cNvPr id="3" name="card"/>
          <p:cNvSpPr/>
          <p:nvPr/>
        </p:nvSpPr>
        <p:spPr>
          <a:xfrm>
            <a:off x="457200" y="1143000"/>
            <a:ext cx="3977640" cy="1627632"/>
          </a:xfrm>
          <a:prstGeom prst="roundRect">
            <a:avLst>
              <a:gd name="adj" fmla="val 6742"/>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4" name="icon LuScanFace"/>
          <p:cNvSpPr/>
          <p:nvPr/>
        </p:nvSpPr>
        <p:spPr>
          <a:xfrm>
            <a:off x="658368" y="1344168"/>
            <a:ext cx="475488" cy="475488"/>
          </a:xfrm>
          <a:prstGeom prst="ellipse">
            <a:avLst/>
          </a:prstGeom>
          <a:solidFill>
            <a:srgbClr val="0B5D46"/>
          </a:solidFill>
          <a:ln w="12700">
            <a:solidFill>
              <a:srgbClr val="0B5D46"/>
            </a:solidFill>
            <a:prstDash val="solid"/>
          </a:ln>
        </p:spPr>
      </p:sp>
      <p:pic>
        <p:nvPicPr>
          <p:cNvPr id="5" name="Image 0" descr="preencoded.png">    </p:cNvPr>
          <p:cNvPicPr>
            <a:picLocks noChangeAspect="1"/>
          </p:cNvPicPr>
          <p:nvPr/>
        </p:nvPicPr>
        <p:blipFill>
          <a:blip r:embed="rId1"/>
          <a:stretch>
            <a:fillRect/>
          </a:stretch>
        </p:blipFill>
        <p:spPr>
          <a:xfrm>
            <a:off x="777240" y="1463040"/>
            <a:ext cx="237744" cy="237744"/>
          </a:xfrm>
          <a:prstGeom prst="rect">
            <a:avLst/>
          </a:prstGeom>
        </p:spPr>
      </p:pic>
      <p:sp>
        <p:nvSpPr>
          <p:cNvPr id="6" name="Text 3"/>
          <p:cNvSpPr txBox="1"/>
          <p:nvPr/>
        </p:nvSpPr>
        <p:spPr>
          <a:xfrm>
            <a:off x="1280160" y="1325880"/>
            <a:ext cx="2971800" cy="502920"/>
          </a:xfrm>
          <a:prstGeom prst="rect">
            <a:avLst/>
          </a:prstGeom>
          <a:noFill/>
          <a:ln/>
        </p:spPr>
        <p:txBody>
          <a:bodyPr wrap="square" lIns="0" tIns="0" rIns="0" bIns="0" rtlCol="0" anchor="ctr"/>
          <a:lstStyle/>
          <a:p>
            <a:pPr indent="0" marL="0">
              <a:buNone/>
            </a:pPr>
            <a:r>
              <a:rPr lang="en-US" sz="1600" b="1" dirty="0">
                <a:solidFill>
                  <a:srgbClr val="121417"/>
                </a:solidFill>
              </a:rPr>
              <a:t>Face tracking, on device</a:t>
            </a:r>
            <a:endParaRPr lang="en-US" sz="1600" dirty="0"/>
          </a:p>
        </p:txBody>
      </p:sp>
      <p:sp>
        <p:nvSpPr>
          <p:cNvPr id="7" name="Text 4"/>
          <p:cNvSpPr txBox="1"/>
          <p:nvPr/>
        </p:nvSpPr>
        <p:spPr>
          <a:xfrm>
            <a:off x="1280160" y="1856232"/>
            <a:ext cx="2971800" cy="868680"/>
          </a:xfrm>
          <a:prstGeom prst="rect">
            <a:avLst/>
          </a:prstGeom>
          <a:noFill/>
          <a:ln/>
        </p:spPr>
        <p:txBody>
          <a:bodyPr wrap="square" lIns="0" tIns="0" rIns="0" bIns="0" rtlCol="0" anchor="t"/>
          <a:lstStyle/>
          <a:p>
            <a:pPr indent="0" marL="0">
              <a:buNone/>
            </a:pPr>
            <a:r>
              <a:rPr lang="en-US" sz="1250" dirty="0">
                <a:solidFill>
                  <a:srgbClr val="464B53"/>
                </a:solidFill>
              </a:rPr>
              <a:t>MediaPipe on the GPU, served from our own origin. Reads eye blink (both eyes, so winks never count), eyebrow raise, and jaw open. Locks onto one face.</a:t>
            </a:r>
            <a:endParaRPr lang="en-US" sz="1250" dirty="0"/>
          </a:p>
        </p:txBody>
      </p:sp>
      <p:sp>
        <p:nvSpPr>
          <p:cNvPr id="8" name="card"/>
          <p:cNvSpPr/>
          <p:nvPr/>
        </p:nvSpPr>
        <p:spPr>
          <a:xfrm>
            <a:off x="4709160" y="1143000"/>
            <a:ext cx="3977640" cy="1627632"/>
          </a:xfrm>
          <a:prstGeom prst="roundRect">
            <a:avLst>
              <a:gd name="adj" fmla="val 6742"/>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9" name="icon LuMic"/>
          <p:cNvSpPr/>
          <p:nvPr/>
        </p:nvSpPr>
        <p:spPr>
          <a:xfrm>
            <a:off x="4910328" y="1344168"/>
            <a:ext cx="475488" cy="475488"/>
          </a:xfrm>
          <a:prstGeom prst="ellipse">
            <a:avLst/>
          </a:prstGeom>
          <a:solidFill>
            <a:srgbClr val="0B5D46"/>
          </a:solidFill>
          <a:ln w="12700">
            <a:solidFill>
              <a:srgbClr val="0B5D46"/>
            </a:solidFill>
            <a:prstDash val="solid"/>
          </a:ln>
        </p:spPr>
      </p:sp>
      <p:pic>
        <p:nvPicPr>
          <p:cNvPr id="10" name="Image 1" descr="preencoded.png">    </p:cNvPr>
          <p:cNvPicPr>
            <a:picLocks noChangeAspect="1"/>
          </p:cNvPicPr>
          <p:nvPr/>
        </p:nvPicPr>
        <p:blipFill>
          <a:blip r:embed="rId2"/>
          <a:stretch>
            <a:fillRect/>
          </a:stretch>
        </p:blipFill>
        <p:spPr>
          <a:xfrm>
            <a:off x="5029200" y="1463040"/>
            <a:ext cx="237744" cy="237744"/>
          </a:xfrm>
          <a:prstGeom prst="rect">
            <a:avLst/>
          </a:prstGeom>
        </p:spPr>
      </p:pic>
      <p:sp>
        <p:nvSpPr>
          <p:cNvPr id="11" name="Text 7"/>
          <p:cNvSpPr txBox="1"/>
          <p:nvPr/>
        </p:nvSpPr>
        <p:spPr>
          <a:xfrm>
            <a:off x="5532120" y="1325880"/>
            <a:ext cx="2971800" cy="502920"/>
          </a:xfrm>
          <a:prstGeom prst="rect">
            <a:avLst/>
          </a:prstGeom>
          <a:noFill/>
          <a:ln/>
        </p:spPr>
        <p:txBody>
          <a:bodyPr wrap="square" lIns="0" tIns="0" rIns="0" bIns="0" rtlCol="0" anchor="ctr"/>
          <a:lstStyle/>
          <a:p>
            <a:pPr indent="0" marL="0">
              <a:buNone/>
            </a:pPr>
            <a:r>
              <a:rPr lang="en-US" sz="1600" b="1" dirty="0">
                <a:solidFill>
                  <a:srgbClr val="121417"/>
                </a:solidFill>
              </a:rPr>
              <a:t>Hands-free listening</a:t>
            </a:r>
            <a:endParaRPr lang="en-US" sz="1600" dirty="0"/>
          </a:p>
        </p:txBody>
      </p:sp>
      <p:sp>
        <p:nvSpPr>
          <p:cNvPr id="12" name="Text 8"/>
          <p:cNvSpPr txBox="1"/>
          <p:nvPr/>
        </p:nvSpPr>
        <p:spPr>
          <a:xfrm>
            <a:off x="5532120" y="1856232"/>
            <a:ext cx="2971800" cy="868680"/>
          </a:xfrm>
          <a:prstGeom prst="rect">
            <a:avLst/>
          </a:prstGeom>
          <a:noFill/>
          <a:ln/>
        </p:spPr>
        <p:txBody>
          <a:bodyPr wrap="square" lIns="0" tIns="0" rIns="0" bIns="0" rtlCol="0" anchor="t"/>
          <a:lstStyle/>
          <a:p>
            <a:pPr indent="0" marL="0">
              <a:buNone/>
            </a:pPr>
            <a:r>
              <a:rPr lang="en-US" sz="1250" dirty="0">
                <a:solidFill>
                  <a:srgbClr val="464B53"/>
                </a:solidFill>
              </a:rPr>
              <a:t>On-device voice activity detection. 0.65 s of silence ends an utterance. Filler like “uh huh” is ignored. Listening pauses while the app speaks.</a:t>
            </a:r>
            <a:endParaRPr lang="en-US" sz="1250" dirty="0"/>
          </a:p>
        </p:txBody>
      </p:sp>
      <p:sp>
        <p:nvSpPr>
          <p:cNvPr id="13" name="card"/>
          <p:cNvSpPr/>
          <p:nvPr/>
        </p:nvSpPr>
        <p:spPr>
          <a:xfrm>
            <a:off x="457200" y="2999232"/>
            <a:ext cx="3977640" cy="1627632"/>
          </a:xfrm>
          <a:prstGeom prst="roundRect">
            <a:avLst>
              <a:gd name="adj" fmla="val 6742"/>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4" name="icon LuCpu"/>
          <p:cNvSpPr/>
          <p:nvPr/>
        </p:nvSpPr>
        <p:spPr>
          <a:xfrm>
            <a:off x="658368" y="3200400"/>
            <a:ext cx="475488" cy="475488"/>
          </a:xfrm>
          <a:prstGeom prst="ellipse">
            <a:avLst/>
          </a:prstGeom>
          <a:solidFill>
            <a:srgbClr val="0B5D46"/>
          </a:solidFill>
          <a:ln w="12700">
            <a:solidFill>
              <a:srgbClr val="0B5D46"/>
            </a:solidFill>
            <a:prstDash val="solid"/>
          </a:ln>
        </p:spPr>
      </p:sp>
      <p:pic>
        <p:nvPicPr>
          <p:cNvPr id="15" name="Image 2" descr="preencoded.png">    </p:cNvPr>
          <p:cNvPicPr>
            <a:picLocks noChangeAspect="1"/>
          </p:cNvPicPr>
          <p:nvPr/>
        </p:nvPicPr>
        <p:blipFill>
          <a:blip r:embed="rId3"/>
          <a:stretch>
            <a:fillRect/>
          </a:stretch>
        </p:blipFill>
        <p:spPr>
          <a:xfrm>
            <a:off x="777240" y="3319272"/>
            <a:ext cx="237744" cy="237744"/>
          </a:xfrm>
          <a:prstGeom prst="rect">
            <a:avLst/>
          </a:prstGeom>
        </p:spPr>
      </p:pic>
      <p:sp>
        <p:nvSpPr>
          <p:cNvPr id="16" name="Text 11"/>
          <p:cNvSpPr txBox="1"/>
          <p:nvPr/>
        </p:nvSpPr>
        <p:spPr>
          <a:xfrm>
            <a:off x="1280160" y="3182112"/>
            <a:ext cx="2971800" cy="502920"/>
          </a:xfrm>
          <a:prstGeom prst="rect">
            <a:avLst/>
          </a:prstGeom>
          <a:noFill/>
          <a:ln/>
        </p:spPr>
        <p:txBody>
          <a:bodyPr wrap="square" lIns="0" tIns="0" rIns="0" bIns="0" rtlCol="0" anchor="ctr"/>
          <a:lstStyle/>
          <a:p>
            <a:pPr indent="0" marL="0">
              <a:buNone/>
            </a:pPr>
            <a:r>
              <a:rPr lang="en-US" sz="1600" b="1" dirty="0">
                <a:solidFill>
                  <a:srgbClr val="121417"/>
                </a:solidFill>
              </a:rPr>
              <a:t>One reducer decides everything</a:t>
            </a:r>
            <a:endParaRPr lang="en-US" sz="1600" dirty="0"/>
          </a:p>
        </p:txBody>
      </p:sp>
      <p:sp>
        <p:nvSpPr>
          <p:cNvPr id="17" name="Text 12"/>
          <p:cNvSpPr txBox="1"/>
          <p:nvPr/>
        </p:nvSpPr>
        <p:spPr>
          <a:xfrm>
            <a:off x="1280160" y="3712464"/>
            <a:ext cx="2971800" cy="868680"/>
          </a:xfrm>
          <a:prstGeom prst="rect">
            <a:avLst/>
          </a:prstGeom>
          <a:noFill/>
          <a:ln/>
        </p:spPr>
        <p:txBody>
          <a:bodyPr wrap="square" lIns="0" tIns="0" rIns="0" bIns="0" rtlCol="0" anchor="t"/>
          <a:lstStyle/>
          <a:p>
            <a:pPr indent="0" marL="0">
              <a:buNone/>
            </a:pPr>
            <a:r>
              <a:rPr lang="en-US" sz="1250" dirty="0">
                <a:solidFill>
                  <a:srgbClr val="464B53"/>
                </a:solidFill>
              </a:rPr>
              <a:t>Touch, keyboard, switch, blink, and eyebrow all become one guarded ACTIVATE. A gesture arbiter is the only source of accepted commands.</a:t>
            </a:r>
            <a:endParaRPr lang="en-US" sz="1250" dirty="0"/>
          </a:p>
        </p:txBody>
      </p:sp>
      <p:sp>
        <p:nvSpPr>
          <p:cNvPr id="18" name="card"/>
          <p:cNvSpPr/>
          <p:nvPr/>
        </p:nvSpPr>
        <p:spPr>
          <a:xfrm>
            <a:off x="4709160" y="2999232"/>
            <a:ext cx="3977640" cy="1627632"/>
          </a:xfrm>
          <a:prstGeom prst="roundRect">
            <a:avLst>
              <a:gd name="adj" fmla="val 6742"/>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9" name="icon LuTablet"/>
          <p:cNvSpPr/>
          <p:nvPr/>
        </p:nvSpPr>
        <p:spPr>
          <a:xfrm>
            <a:off x="4910328" y="3200400"/>
            <a:ext cx="475488" cy="475488"/>
          </a:xfrm>
          <a:prstGeom prst="ellipse">
            <a:avLst/>
          </a:prstGeom>
          <a:solidFill>
            <a:srgbClr val="0B5D46"/>
          </a:solidFill>
          <a:ln w="12700">
            <a:solidFill>
              <a:srgbClr val="0B5D46"/>
            </a:solidFill>
            <a:prstDash val="solid"/>
          </a:ln>
        </p:spPr>
      </p:sp>
      <p:pic>
        <p:nvPicPr>
          <p:cNvPr id="20" name="Image 3" descr="preencoded.png">    </p:cNvPr>
          <p:cNvPicPr>
            <a:picLocks noChangeAspect="1"/>
          </p:cNvPicPr>
          <p:nvPr/>
        </p:nvPicPr>
        <p:blipFill>
          <a:blip r:embed="rId4"/>
          <a:stretch>
            <a:fillRect/>
          </a:stretch>
        </p:blipFill>
        <p:spPr>
          <a:xfrm>
            <a:off x="5029200" y="3319272"/>
            <a:ext cx="237744" cy="237744"/>
          </a:xfrm>
          <a:prstGeom prst="rect">
            <a:avLst/>
          </a:prstGeom>
        </p:spPr>
      </p:pic>
      <p:sp>
        <p:nvSpPr>
          <p:cNvPr id="21" name="Text 15"/>
          <p:cNvSpPr txBox="1"/>
          <p:nvPr/>
        </p:nvSpPr>
        <p:spPr>
          <a:xfrm>
            <a:off x="5532120" y="3182112"/>
            <a:ext cx="2971800" cy="502920"/>
          </a:xfrm>
          <a:prstGeom prst="rect">
            <a:avLst/>
          </a:prstGeom>
          <a:noFill/>
          <a:ln/>
        </p:spPr>
        <p:txBody>
          <a:bodyPr wrap="square" lIns="0" tIns="0" rIns="0" bIns="0" rtlCol="0" anchor="ctr"/>
          <a:lstStyle/>
          <a:p>
            <a:pPr indent="0" marL="0">
              <a:buNone/>
            </a:pPr>
            <a:r>
              <a:rPr lang="en-US" sz="1600" b="1" dirty="0">
                <a:solidFill>
                  <a:srgbClr val="121417"/>
                </a:solidFill>
              </a:rPr>
              <a:t>Native shell</a:t>
            </a:r>
            <a:endParaRPr lang="en-US" sz="1600" dirty="0"/>
          </a:p>
        </p:txBody>
      </p:sp>
      <p:sp>
        <p:nvSpPr>
          <p:cNvPr id="22" name="Text 16"/>
          <p:cNvSpPr txBox="1"/>
          <p:nvPr/>
        </p:nvSpPr>
        <p:spPr>
          <a:xfrm>
            <a:off x="5532120" y="3712464"/>
            <a:ext cx="2971800" cy="868680"/>
          </a:xfrm>
          <a:prstGeom prst="rect">
            <a:avLst/>
          </a:prstGeom>
          <a:noFill/>
          <a:ln/>
        </p:spPr>
        <p:txBody>
          <a:bodyPr wrap="square" lIns="0" tIns="0" rIns="0" bIns="0" rtlCol="0" anchor="t"/>
          <a:lstStyle/>
          <a:p>
            <a:pPr indent="0" marL="0">
              <a:buNone/>
            </a:pPr>
            <a:r>
              <a:rPr lang="en-US" sz="1250" dirty="0">
                <a:solidFill>
                  <a:srgbClr val="464B53"/>
                </a:solidFill>
              </a:rPr>
              <a:t>SwiftUI + WKWebView. Camera and mic granted for our own site only. Audio plays without a tap. Auto-lock off.</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Server and APIs</a:t>
            </a:r>
            <a:endParaRPr lang="en-US" sz="3200" dirty="0"/>
          </a:p>
        </p:txBody>
      </p:sp>
      <p:sp>
        <p:nvSpPr>
          <p:cNvPr id="3" name="Text 1"/>
          <p:cNvSpPr txBox="1"/>
          <p:nvPr/>
        </p:nvSpPr>
        <p:spPr>
          <a:xfrm>
            <a:off x="457200" y="1005840"/>
            <a:ext cx="8229600" cy="457200"/>
          </a:xfrm>
          <a:prstGeom prst="rect">
            <a:avLst/>
          </a:prstGeom>
          <a:noFill/>
          <a:ln/>
        </p:spPr>
        <p:txBody>
          <a:bodyPr wrap="square" lIns="0" tIns="0" rIns="0" bIns="0" rtlCol="0" anchor="t"/>
          <a:lstStyle/>
          <a:p>
            <a:pPr indent="0" marL="0">
              <a:buNone/>
            </a:pPr>
            <a:r>
              <a:rPr lang="en-US" sz="1500" dirty="0">
                <a:solidFill>
                  <a:srgbClr val="464B53"/>
                </a:solidFill>
              </a:rPr>
              <a:t>Four routes on Railway. Every paid call needs an access code, is rate limited, and keeps keys on the server.</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920240"/>
                <a:gridCol w="2514600"/>
                <a:gridCol w="3794760"/>
              </a:tblGrid>
              <a:tr h="347472">
                <a:tc>
                  <a:txBody>
                    <a:bodyPr/>
                    <a:lstStyle/>
                    <a:p>
                      <a:pPr indent="0" marL="0">
                        <a:buNone/>
                      </a:pPr>
                      <a:r>
                        <a:rPr lang="en-US" sz="1200" b="1" dirty="0">
                          <a:solidFill>
                            <a:srgbClr val="121417"/>
                          </a:solidFill>
                        </a:rPr>
                        <a:t>Route</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indent="0" marL="0">
                        <a:buNone/>
                      </a:pPr>
                      <a:r>
                        <a:rPr lang="en-US" sz="1200" b="1" dirty="0">
                          <a:solidFill>
                            <a:srgbClr val="121417"/>
                          </a:solidFill>
                        </a:rPr>
                        <a:t>Calls</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indent="0" marL="0">
                        <a:buNone/>
                      </a:pPr>
                      <a:r>
                        <a:rPr lang="en-US" sz="1200" b="1" dirty="0">
                          <a:solidFill>
                            <a:srgbClr val="121417"/>
                          </a:solidFill>
                        </a:rPr>
                        <a:t>Key details</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457200">
                <a:tc>
                  <a:txBody>
                    <a:bodyPr/>
                    <a:lstStyle/>
                    <a:p>
                      <a:pPr indent="0" marL="0">
                        <a:buNone/>
                      </a:pPr>
                      <a:r>
                        <a:rPr lang="en-US" sz="1200" b="1" dirty="0">
                          <a:solidFill>
                            <a:srgbClr val="0B5D46"/>
                          </a:solidFill>
                        </a:rPr>
                        <a:t>/api/transcribe</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indent="0" marL="0">
                        <a:buNone/>
                      </a:pPr>
                      <a:r>
                        <a:rPr lang="en-US" sz="1200" dirty="0">
                          <a:solidFill>
                            <a:srgbClr val="464B53"/>
                          </a:solidFill>
                        </a:rPr>
                        <a:t>OpenAI gpt-transcribe</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indent="0" marL="0">
                        <a:buNone/>
                      </a:pPr>
                      <a:r>
                        <a:rPr lang="en-US" sz="1200" dirty="0">
                          <a:solidFill>
                            <a:srgbClr val="464B53"/>
                          </a:solidFill>
                        </a:rPr>
                        <a:t>VAD-cut clips, size and type checked, 20/min per client</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658368">
                <a:tc>
                  <a:txBody>
                    <a:bodyPr/>
                    <a:lstStyle/>
                    <a:p>
                      <a:pPr indent="0" marL="0">
                        <a:buNone/>
                      </a:pPr>
                      <a:r>
                        <a:rPr lang="en-US" sz="1200" b="1" dirty="0">
                          <a:solidFill>
                            <a:srgbClr val="0B5D46"/>
                          </a:solidFill>
                        </a:rPr>
                        <a:t>/api/replies</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indent="0" marL="0">
                        <a:buNone/>
                      </a:pPr>
                      <a:r>
                        <a:rPr lang="en-US" sz="1200" dirty="0">
                          <a:solidFill>
                            <a:srgbClr val="464B53"/>
                          </a:solidFill>
                        </a:rPr>
                        <a:t>OpenAI Responses API, gpt-6-astra</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indent="0" marL="0">
                        <a:buNone/>
                      </a:pPr>
                      <a:r>
                        <a:rPr lang="en-US" sz="1200" dirty="0">
                          <a:solidFill>
                            <a:srgbClr val="464B53"/>
                          </a:solidFill>
                        </a:rPr>
                        <a:t>Strict JSON schema, store: false, low reasoning effort. 2 replies + 3 to 5 directions. 15 s timeout, one repair retry, 30/min</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566928">
                <a:tc>
                  <a:txBody>
                    <a:bodyPr/>
                    <a:lstStyle/>
                    <a:p>
                      <a:pPr indent="0" marL="0">
                        <a:buNone/>
                      </a:pPr>
                      <a:r>
                        <a:rPr lang="en-US" sz="1200" b="1" dirty="0">
                          <a:solidFill>
                            <a:srgbClr val="0B5D46"/>
                          </a:solidFill>
                        </a:rPr>
                        <a:t>/api/speech</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indent="0" marL="0">
                        <a:buNone/>
                      </a:pPr>
                      <a:r>
                        <a:rPr lang="en-US" sz="1200" dirty="0">
                          <a:solidFill>
                            <a:srgbClr val="464B53"/>
                          </a:solidFill>
                        </a:rPr>
                        <a:t>ElevenLabs eleven_v4_turbo, Text-to-Dialogue WebSocket</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indent="0" marL="0">
                        <a:buNone/>
                      </a:pPr>
                      <a:r>
                        <a:rPr lang="en-US" sz="1200" dirty="0">
                          <a:solidFill>
                            <a:srgbClr val="464B53"/>
                          </a:solidFill>
                        </a:rPr>
                        <a:t>Exact text only (max 500 chars), prefetched into an on-device cache, 40/min</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r h="384048">
                <a:tc>
                  <a:txBody>
                    <a:bodyPr/>
                    <a:lstStyle/>
                    <a:p>
                      <a:pPr indent="0" marL="0">
                        <a:buNone/>
                      </a:pPr>
                      <a:r>
                        <a:rPr lang="en-US" sz="1200" b="1" dirty="0">
                          <a:solidFill>
                            <a:srgbClr val="0B5D46"/>
                          </a:solidFill>
                        </a:rPr>
                        <a:t>/api/status, /api/voices</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indent="0" marL="0">
                        <a:buNone/>
                      </a:pPr>
                      <a:r>
                        <a:rPr lang="en-US" sz="1200" dirty="0">
                          <a:solidFill>
                            <a:srgbClr val="464B53"/>
                          </a:solidFill>
                        </a:rPr>
                        <a:t>Config check, voice list</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c>
                  <a:txBody>
                    <a:bodyPr/>
                    <a:lstStyle/>
                    <a:p>
                      <a:pPr indent="0" marL="0">
                        <a:buNone/>
                      </a:pPr>
                      <a:r>
                        <a:rPr lang="en-US" sz="1200" dirty="0">
                          <a:solidFill>
                            <a:srgbClr val="464B53"/>
                          </a:solidFill>
                        </a:rPr>
                        <a:t>Never returns secrets</a:t>
                      </a:r>
                      <a:endParaRPr lang="en-US" sz="1200" dirty="0"/>
                    </a:p>
                  </a:txBody>
                  <a:tcPr marL="0" marR="73152" marT="54864" marB="54864" anchor="ctr">
                    <a:lnL w="0" cap="flat" cmpd="sng" algn="ctr">
                      <a:noFill/>
                    </a:lnL>
                    <a:lnR w="0" cap="flat" cmpd="sng" algn="ctr">
                      <a:noFill/>
                    </a:lnR>
                    <a:lnT w="0" cap="flat" cmpd="sng" algn="ctr">
                      <a:noFill/>
                    </a:lnT>
                    <a:lnB w="9525" cap="flat" cmpd="sng" algn="ctr">
                      <a:solidFill>
                        <a:srgbClr val="D9DCE0"/>
                      </a:solidFill>
                      <a:prstDash val="solid"/>
                      <a:round/>
                      <a:headEnd type="none" w="med" len="med"/>
                      <a:tailEnd type="none" w="med" len="med"/>
                    </a:lnB>
                  </a:tcPr>
                </a:tc>
              </a:tr>
            </a:tbl>
          </a:graphicData>
        </a:graphic>
      </p:graphicFrame>
      <p:pic>
        <p:nvPicPr>
          <p:cNvPr id="5" name="Image 0" descr="preencoded.png">    </p:cNvPr>
          <p:cNvPicPr>
            <a:picLocks noChangeAspect="1"/>
          </p:cNvPicPr>
          <p:nvPr/>
        </p:nvPicPr>
        <p:blipFill>
          <a:blip r:embed="rId1"/>
          <a:stretch>
            <a:fillRect/>
          </a:stretch>
        </p:blipFill>
        <p:spPr>
          <a:xfrm>
            <a:off x="457200" y="4160520"/>
            <a:ext cx="274320" cy="274320"/>
          </a:xfrm>
          <a:prstGeom prst="rect">
            <a:avLst/>
          </a:prstGeom>
        </p:spPr>
      </p:pic>
      <p:sp>
        <p:nvSpPr>
          <p:cNvPr id="6" name="Text 2"/>
          <p:cNvSpPr txBox="1"/>
          <p:nvPr/>
        </p:nvSpPr>
        <p:spPr>
          <a:xfrm>
            <a:off x="822960" y="4096512"/>
            <a:ext cx="7680960" cy="457200"/>
          </a:xfrm>
          <a:prstGeom prst="rect">
            <a:avLst/>
          </a:prstGeom>
          <a:noFill/>
          <a:ln/>
        </p:spPr>
        <p:txBody>
          <a:bodyPr wrap="square" lIns="0" tIns="0" rIns="0" bIns="0" rtlCol="0" anchor="ctr"/>
          <a:lstStyle/>
          <a:p>
            <a:pPr indent="0" marL="0">
              <a:buNone/>
            </a:pPr>
            <a:r>
              <a:rPr lang="en-US" sz="1100" dirty="0">
                <a:solidFill>
                  <a:srgbClr val="464B53"/>
                </a:solidFill>
              </a:rPr>
              <a:t>Access code checked with a timing-safe compare  ·  60,000-character daily voice budget  ·  HSTS, X-Frame-Options DENY, camera and mic for our own site only</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About 4 seconds to suggestions</a:t>
            </a:r>
            <a:endParaRPr lang="en-US" sz="3200" dirty="0"/>
          </a:p>
        </p:txBody>
      </p:sp>
      <p:sp>
        <p:nvSpPr>
          <p:cNvPr id="3" name="Text 1"/>
          <p:cNvSpPr txBox="1"/>
          <p:nvPr/>
        </p:nvSpPr>
        <p:spPr>
          <a:xfrm>
            <a:off x="457200" y="1143000"/>
            <a:ext cx="3017520" cy="868680"/>
          </a:xfrm>
          <a:prstGeom prst="rect">
            <a:avLst/>
          </a:prstGeom>
          <a:noFill/>
          <a:ln/>
        </p:spPr>
        <p:txBody>
          <a:bodyPr wrap="square" lIns="0" tIns="0" rIns="0" bIns="0" rtlCol="0" anchor="ctr"/>
          <a:lstStyle/>
          <a:p>
            <a:pPr indent="0" marL="0">
              <a:buNone/>
            </a:pPr>
            <a:r>
              <a:rPr lang="en-US" sz="6400" b="1" dirty="0">
                <a:solidFill>
                  <a:srgbClr val="0B5D46"/>
                </a:solidFill>
              </a:rPr>
              <a:t>3.8 s</a:t>
            </a:r>
            <a:endParaRPr lang="en-US" sz="6400" dirty="0"/>
          </a:p>
        </p:txBody>
      </p:sp>
      <p:sp>
        <p:nvSpPr>
          <p:cNvPr id="4" name="Text 2"/>
          <p:cNvSpPr txBox="1"/>
          <p:nvPr/>
        </p:nvSpPr>
        <p:spPr>
          <a:xfrm>
            <a:off x="457200" y="2011680"/>
            <a:ext cx="2834640" cy="502920"/>
          </a:xfrm>
          <a:prstGeom prst="rect">
            <a:avLst/>
          </a:prstGeom>
          <a:noFill/>
          <a:ln/>
        </p:spPr>
        <p:txBody>
          <a:bodyPr wrap="square" lIns="0" tIns="0" rIns="0" bIns="0" rtlCol="0" anchor="t"/>
          <a:lstStyle/>
          <a:p>
            <a:pPr indent="0" marL="0">
              <a:buNone/>
            </a:pPr>
            <a:r>
              <a:rPr lang="en-US" sz="1400" dirty="0">
                <a:solidFill>
                  <a:srgbClr val="464B53"/>
                </a:solidFill>
              </a:rPr>
              <a:t>median, partner stops to suggestions on screen (was 5.1 s)</a:t>
            </a:r>
            <a:endParaRPr lang="en-US" sz="1400" dirty="0"/>
          </a:p>
        </p:txBody>
      </p:sp>
      <p:sp>
        <p:nvSpPr>
          <p:cNvPr id="5" name="Text 3"/>
          <p:cNvSpPr txBox="1"/>
          <p:nvPr/>
        </p:nvSpPr>
        <p:spPr>
          <a:xfrm>
            <a:off x="457200" y="2651760"/>
            <a:ext cx="3017520" cy="685800"/>
          </a:xfrm>
          <a:prstGeom prst="rect">
            <a:avLst/>
          </a:prstGeom>
          <a:noFill/>
          <a:ln/>
        </p:spPr>
        <p:txBody>
          <a:bodyPr wrap="square" lIns="0" tIns="0" rIns="0" bIns="0" rtlCol="0" anchor="ctr"/>
          <a:lstStyle/>
          <a:p>
            <a:pPr indent="0" marL="0">
              <a:buNone/>
            </a:pPr>
            <a:r>
              <a:rPr lang="en-US" sz="4400" b="1" dirty="0">
                <a:solidFill>
                  <a:srgbClr val="121417"/>
                </a:solidFill>
              </a:rPr>
              <a:t>5.8 s</a:t>
            </a:r>
            <a:endParaRPr lang="en-US" sz="4400" dirty="0"/>
          </a:p>
        </p:txBody>
      </p:sp>
      <p:sp>
        <p:nvSpPr>
          <p:cNvPr id="6" name="Text 4"/>
          <p:cNvSpPr txBox="1"/>
          <p:nvPr/>
        </p:nvSpPr>
        <p:spPr>
          <a:xfrm>
            <a:off x="457200" y="3337560"/>
            <a:ext cx="2834640" cy="274320"/>
          </a:xfrm>
          <a:prstGeom prst="rect">
            <a:avLst/>
          </a:prstGeom>
          <a:noFill/>
          <a:ln/>
        </p:spPr>
        <p:txBody>
          <a:bodyPr wrap="square" lIns="0" tIns="0" rIns="0" bIns="0" rtlCol="0" anchor="t"/>
          <a:lstStyle/>
          <a:p>
            <a:pPr indent="0" marL="0">
              <a:buNone/>
            </a:pPr>
            <a:r>
              <a:rPr lang="en-US" sz="1400" dirty="0">
                <a:solidFill>
                  <a:srgbClr val="464B53"/>
                </a:solidFill>
              </a:rPr>
              <a:t>p90, the slow tail (was 7.8 s)</a:t>
            </a:r>
            <a:endParaRPr lang="en-US" sz="1400" dirty="0"/>
          </a:p>
        </p:txBody>
      </p:sp>
      <p:sp>
        <p:nvSpPr>
          <p:cNvPr id="7" name="Text 5"/>
          <p:cNvSpPr txBox="1"/>
          <p:nvPr/>
        </p:nvSpPr>
        <p:spPr>
          <a:xfrm>
            <a:off x="457200" y="3840480"/>
            <a:ext cx="3017520" cy="548640"/>
          </a:xfrm>
          <a:prstGeom prst="rect">
            <a:avLst/>
          </a:prstGeom>
          <a:noFill/>
          <a:ln/>
        </p:spPr>
        <p:txBody>
          <a:bodyPr wrap="square" lIns="0" tIns="0" rIns="0" bIns="0" rtlCol="0" anchor="t"/>
          <a:lstStyle/>
          <a:p>
            <a:pPr indent="0" marL="0">
              <a:buNone/>
            </a:pPr>
            <a:r>
              <a:rPr lang="en-US" sz="1400" b="1" dirty="0">
                <a:solidFill>
                  <a:srgbClr val="121417"/>
                </a:solidFill>
              </a:rPr>
              <a:t>Voice starts at the blink when audio is prefetched.</a:t>
            </a:r>
            <a:endParaRPr lang="en-US" sz="1400" dirty="0"/>
          </a:p>
        </p:txBody>
      </p:sp>
      <p:graphicFrame>
        <p:nvGraphicFramePr>
          <p:cNvPr id="8" name="Chart 0" descr=""/>
          <p:cNvGraphicFramePr/>
          <p:nvPr/>
        </p:nvGraphicFramePr>
        <p:xfrm>
          <a:off x="3657600" y="1097280"/>
          <a:ext cx="5029200" cy="33375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57200" y="4572000"/>
            <a:ext cx="7406640" cy="256032"/>
          </a:xfrm>
          <a:prstGeom prst="rect">
            <a:avLst/>
          </a:prstGeom>
          <a:noFill/>
          <a:ln/>
        </p:spPr>
        <p:txBody>
          <a:bodyPr wrap="square" lIns="0" tIns="0" rIns="0" bIns="0" rtlCol="0" anchor="ctr"/>
          <a:lstStyle/>
          <a:p>
            <a:pPr indent="0" marL="0">
              <a:buNone/>
            </a:pPr>
            <a:r>
              <a:rPr lang="en-US" sz="1000" dirty="0">
                <a:solidFill>
                  <a:srgbClr val="464B53"/>
                </a:solidFill>
              </a:rPr>
              <a:t>Mac to deployed server, synthetic speech, 10 runs per side, 0 failures. Excludes reading and gesture time. Not iPad-measured. One sample per side, not a controlled A/B.</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Safe by design, honest about limits</a:t>
            </a:r>
            <a:endParaRPr lang="en-US" sz="3200" dirty="0"/>
          </a:p>
        </p:txBody>
      </p:sp>
      <p:sp>
        <p:nvSpPr>
          <p:cNvPr id="3" name="card"/>
          <p:cNvSpPr/>
          <p:nvPr/>
        </p:nvSpPr>
        <p:spPr>
          <a:xfrm>
            <a:off x="457200" y="1143000"/>
            <a:ext cx="3977640" cy="3291840"/>
          </a:xfrm>
          <a:prstGeom prst="roundRect">
            <a:avLst>
              <a:gd name="adj" fmla="val 3333"/>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4" name="icon LuShieldCheck"/>
          <p:cNvSpPr/>
          <p:nvPr/>
        </p:nvSpPr>
        <p:spPr>
          <a:xfrm>
            <a:off x="685800" y="1325880"/>
            <a:ext cx="475488" cy="475488"/>
          </a:xfrm>
          <a:prstGeom prst="ellipse">
            <a:avLst/>
          </a:prstGeom>
          <a:solidFill>
            <a:srgbClr val="0B5D46"/>
          </a:solidFill>
          <a:ln w="12700">
            <a:solidFill>
              <a:srgbClr val="0B5D46"/>
            </a:solidFill>
            <a:prstDash val="solid"/>
          </a:ln>
        </p:spPr>
      </p:sp>
      <p:pic>
        <p:nvPicPr>
          <p:cNvPr id="5" name="Image 0" descr="preencoded.png">    </p:cNvPr>
          <p:cNvPicPr>
            <a:picLocks noChangeAspect="1"/>
          </p:cNvPicPr>
          <p:nvPr/>
        </p:nvPicPr>
        <p:blipFill>
          <a:blip r:embed="rId1"/>
          <a:stretch>
            <a:fillRect/>
          </a:stretch>
        </p:blipFill>
        <p:spPr>
          <a:xfrm>
            <a:off x="804672" y="1444752"/>
            <a:ext cx="237744" cy="237744"/>
          </a:xfrm>
          <a:prstGeom prst="rect">
            <a:avLst/>
          </a:prstGeom>
        </p:spPr>
      </p:pic>
      <p:sp>
        <p:nvSpPr>
          <p:cNvPr id="6" name="Text 3"/>
          <p:cNvSpPr txBox="1"/>
          <p:nvPr/>
        </p:nvSpPr>
        <p:spPr>
          <a:xfrm>
            <a:off x="1280160" y="1325880"/>
            <a:ext cx="2743200" cy="475488"/>
          </a:xfrm>
          <a:prstGeom prst="rect">
            <a:avLst/>
          </a:prstGeom>
          <a:noFill/>
          <a:ln/>
        </p:spPr>
        <p:txBody>
          <a:bodyPr wrap="square" lIns="0" tIns="0" rIns="0" bIns="0" rtlCol="0" anchor="ctr"/>
          <a:lstStyle/>
          <a:p>
            <a:pPr indent="0" marL="0">
              <a:buNone/>
            </a:pPr>
            <a:r>
              <a:rPr lang="en-US" sz="2000" b="1" dirty="0">
                <a:solidFill>
                  <a:srgbClr val="121417"/>
                </a:solidFill>
              </a:rPr>
              <a:t>Safety</a:t>
            </a:r>
            <a:endParaRPr lang="en-US" sz="2000" dirty="0"/>
          </a:p>
        </p:txBody>
      </p:sp>
      <p:sp>
        <p:nvSpPr>
          <p:cNvPr id="7" name="Text 4"/>
          <p:cNvSpPr txBox="1"/>
          <p:nvPr/>
        </p:nvSpPr>
        <p:spPr>
          <a:xfrm>
            <a:off x="685800" y="1965960"/>
            <a:ext cx="3566160" cy="23774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21417"/>
                </a:solidFill>
              </a:rPr>
              <a:t>Nothing is spoken without a deliberate long blink or touch</a:t>
            </a:r>
            <a:endParaRPr lang="en-US" sz="1400" dirty="0"/>
          </a:p>
          <a:p>
            <a:pPr marL="177800" indent="-177800">
              <a:spcAft>
                <a:spcPts val="700"/>
              </a:spcAft>
              <a:buSzPct val="100000"/>
              <a:buChar char="•"/>
            </a:pPr>
            <a:r>
              <a:rPr lang="en-US" sz="1400" dirty="0">
                <a:solidFill>
                  <a:srgbClr val="121417"/>
                </a:solidFill>
              </a:rPr>
              <a:t>Blink while speaking stops it; Pause button</a:t>
            </a:r>
            <a:endParaRPr lang="en-US" sz="1400" dirty="0"/>
          </a:p>
          <a:p>
            <a:pPr marL="177800" indent="-177800">
              <a:spcAft>
                <a:spcPts val="700"/>
              </a:spcAft>
              <a:buSzPct val="100000"/>
              <a:buChar char="•"/>
            </a:pPr>
            <a:r>
              <a:rPr lang="en-US" sz="1400" dirty="0">
                <a:solidFill>
                  <a:srgbClr val="121417"/>
                </a:solidFill>
              </a:rPr>
              <a:t>Review plus a separate confirm is one checkbox away</a:t>
            </a:r>
            <a:endParaRPr lang="en-US" sz="1400" dirty="0"/>
          </a:p>
          <a:p>
            <a:pPr marL="177800" indent="-177800">
              <a:spcAft>
                <a:spcPts val="700"/>
              </a:spcAft>
              <a:buSzPct val="100000"/>
              <a:buChar char="•"/>
            </a:pPr>
            <a:r>
              <a:rPr lang="en-US" sz="1400" dirty="0">
                <a:solidFill>
                  <a:srgbClr val="121417"/>
                </a:solidFill>
              </a:rPr>
              <a:t>Medication questions never get a “yes”</a:t>
            </a:r>
            <a:endParaRPr lang="en-US" sz="1400" dirty="0"/>
          </a:p>
        </p:txBody>
      </p:sp>
      <p:sp>
        <p:nvSpPr>
          <p:cNvPr id="8" name="card"/>
          <p:cNvSpPr/>
          <p:nvPr/>
        </p:nvSpPr>
        <p:spPr>
          <a:xfrm>
            <a:off x="4709160" y="1143000"/>
            <a:ext cx="3977640" cy="3291840"/>
          </a:xfrm>
          <a:prstGeom prst="roundRect">
            <a:avLst>
              <a:gd name="adj" fmla="val 3333"/>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9" name="icon LuLock"/>
          <p:cNvSpPr/>
          <p:nvPr/>
        </p:nvSpPr>
        <p:spPr>
          <a:xfrm>
            <a:off x="4937760" y="1325880"/>
            <a:ext cx="475488" cy="475488"/>
          </a:xfrm>
          <a:prstGeom prst="ellipse">
            <a:avLst/>
          </a:prstGeom>
          <a:solidFill>
            <a:srgbClr val="0B5D46"/>
          </a:solidFill>
          <a:ln w="12700">
            <a:solidFill>
              <a:srgbClr val="0B5D46"/>
            </a:solidFill>
            <a:prstDash val="solid"/>
          </a:ln>
        </p:spPr>
      </p:sp>
      <p:pic>
        <p:nvPicPr>
          <p:cNvPr id="10" name="Image 1" descr="preencoded.png">    </p:cNvPr>
          <p:cNvPicPr>
            <a:picLocks noChangeAspect="1"/>
          </p:cNvPicPr>
          <p:nvPr/>
        </p:nvPicPr>
        <p:blipFill>
          <a:blip r:embed="rId2"/>
          <a:stretch>
            <a:fillRect/>
          </a:stretch>
        </p:blipFill>
        <p:spPr>
          <a:xfrm>
            <a:off x="5056632" y="1444752"/>
            <a:ext cx="237744" cy="237744"/>
          </a:xfrm>
          <a:prstGeom prst="rect">
            <a:avLst/>
          </a:prstGeom>
        </p:spPr>
      </p:pic>
      <p:sp>
        <p:nvSpPr>
          <p:cNvPr id="11" name="Text 7"/>
          <p:cNvSpPr txBox="1"/>
          <p:nvPr/>
        </p:nvSpPr>
        <p:spPr>
          <a:xfrm>
            <a:off x="5532120" y="1325880"/>
            <a:ext cx="2743200" cy="475488"/>
          </a:xfrm>
          <a:prstGeom prst="rect">
            <a:avLst/>
          </a:prstGeom>
          <a:noFill/>
          <a:ln/>
        </p:spPr>
        <p:txBody>
          <a:bodyPr wrap="square" lIns="0" tIns="0" rIns="0" bIns="0" rtlCol="0" anchor="ctr"/>
          <a:lstStyle/>
          <a:p>
            <a:pPr indent="0" marL="0">
              <a:buNone/>
            </a:pPr>
            <a:r>
              <a:rPr lang="en-US" sz="2000" b="1" dirty="0">
                <a:solidFill>
                  <a:srgbClr val="121417"/>
                </a:solidFill>
              </a:rPr>
              <a:t>Privacy</a:t>
            </a:r>
            <a:endParaRPr lang="en-US" sz="2000" dirty="0"/>
          </a:p>
        </p:txBody>
      </p:sp>
      <p:sp>
        <p:nvSpPr>
          <p:cNvPr id="12" name="Text 8"/>
          <p:cNvSpPr txBox="1"/>
          <p:nvPr/>
        </p:nvSpPr>
        <p:spPr>
          <a:xfrm>
            <a:off x="4937760" y="1965960"/>
            <a:ext cx="3566160" cy="23774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21417"/>
                </a:solidFill>
              </a:rPr>
              <a:t>Camera frames stay on the iPad by design</a:t>
            </a:r>
            <a:endParaRPr lang="en-US" sz="1400" dirty="0"/>
          </a:p>
          <a:p>
            <a:pPr marL="177800" indent="-177800">
              <a:spcAft>
                <a:spcPts val="700"/>
              </a:spcAft>
              <a:buSzPct val="100000"/>
              <a:buChar char="•"/>
            </a:pPr>
            <a:r>
              <a:rPr lang="en-US" sz="1400" dirty="0">
                <a:solidFill>
                  <a:srgbClr val="121417"/>
                </a:solidFill>
              </a:rPr>
              <a:t>Calibration and approved preferences saved only on the iPad</a:t>
            </a:r>
            <a:endParaRPr lang="en-US" sz="1400" dirty="0"/>
          </a:p>
          <a:p>
            <a:pPr marL="177800" indent="-177800">
              <a:spcAft>
                <a:spcPts val="700"/>
              </a:spcAft>
              <a:buSzPct val="100000"/>
              <a:buChar char="•"/>
            </a:pPr>
            <a:r>
              <a:rPr lang="en-US" sz="1400" dirty="0">
                <a:solidFill>
                  <a:srgbClr val="121417"/>
                </a:solidFill>
              </a:rPr>
              <a:t>Audio clips and text to OpenAI with store: false; suggested sentences sent ahead to ElevenLabs in fast mode</a:t>
            </a:r>
            <a:endParaRPr lang="en-US" sz="1400" dirty="0"/>
          </a:p>
          <a:p>
            <a:pPr marL="177800" indent="-177800">
              <a:spcAft>
                <a:spcPts val="700"/>
              </a:spcAft>
              <a:buSzPct val="100000"/>
              <a:buChar char="•"/>
            </a:pPr>
            <a:r>
              <a:rPr lang="en-US" sz="1400" dirty="0">
                <a:solidFill>
                  <a:srgbClr val="121417"/>
                </a:solidFill>
              </a:rPr>
              <a:t>Prebuilt voice, no cloning. No zero-retention claim</a:t>
            </a:r>
            <a:endParaRPr lang="en-US" sz="1400" dirty="0"/>
          </a:p>
        </p:txBody>
      </p:sp>
      <p:sp>
        <p:nvSpPr>
          <p:cNvPr id="13" name="Text 9"/>
          <p:cNvSpPr txBox="1"/>
          <p:nvPr/>
        </p:nvSpPr>
        <p:spPr>
          <a:xfrm>
            <a:off x="457200" y="4572000"/>
            <a:ext cx="7406640" cy="256032"/>
          </a:xfrm>
          <a:prstGeom prst="rect">
            <a:avLst/>
          </a:prstGeom>
          <a:noFill/>
          <a:ln/>
        </p:spPr>
        <p:txBody>
          <a:bodyPr wrap="square" lIns="0" tIns="0" rIns="0" bIns="0" rtlCol="0" anchor="ctr"/>
          <a:lstStyle/>
          <a:p>
            <a:pPr indent="0" marL="0">
              <a:buNone/>
            </a:pPr>
            <a:r>
              <a:rPr lang="en-US" sz="1000" dirty="0">
                <a:solidFill>
                  <a:srgbClr val="464B53"/>
                </a:solidFill>
              </a:rPr>
              <a:t>14/14 synthetic safety scenarios behaved as intended (synthetic prompts, not human-reviewed). Gesture false-positive rate not yet measured.</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What we built today</a:t>
            </a:r>
            <a:endParaRPr lang="en-US" sz="3200" dirty="0"/>
          </a:p>
        </p:txBody>
      </p:sp>
      <p:sp>
        <p:nvSpPr>
          <p:cNvPr id="3" name="stat panel"/>
          <p:cNvSpPr/>
          <p:nvPr/>
        </p:nvSpPr>
        <p:spPr>
          <a:xfrm>
            <a:off x="457200" y="1143000"/>
            <a:ext cx="2331720" cy="3291840"/>
          </a:xfrm>
          <a:prstGeom prst="roundRect">
            <a:avLst>
              <a:gd name="adj" fmla="val 4706"/>
            </a:avLst>
          </a:prstGeom>
          <a:solidFill>
            <a:srgbClr val="E2F2EC"/>
          </a:solidFill>
          <a:ln w="12700">
            <a:solidFill>
              <a:srgbClr val="E2F2EC"/>
            </a:solidFill>
            <a:prstDash val="solid"/>
          </a:ln>
        </p:spPr>
      </p:sp>
      <p:sp>
        <p:nvSpPr>
          <p:cNvPr id="4" name="Text 2"/>
          <p:cNvSpPr txBox="1"/>
          <p:nvPr/>
        </p:nvSpPr>
        <p:spPr>
          <a:xfrm>
            <a:off x="685800" y="1325880"/>
            <a:ext cx="2011680" cy="914400"/>
          </a:xfrm>
          <a:prstGeom prst="rect">
            <a:avLst/>
          </a:prstGeom>
          <a:noFill/>
          <a:ln/>
        </p:spPr>
        <p:txBody>
          <a:bodyPr wrap="square" lIns="0" tIns="0" rIns="0" bIns="0" rtlCol="0" anchor="ctr"/>
          <a:lstStyle/>
          <a:p>
            <a:pPr indent="0" marL="0">
              <a:buNone/>
            </a:pPr>
            <a:r>
              <a:rPr lang="en-US" sz="6600" b="1" dirty="0">
                <a:solidFill>
                  <a:srgbClr val="0B5D46"/>
                </a:solidFill>
              </a:rPr>
              <a:t>586</a:t>
            </a:r>
            <a:endParaRPr lang="en-US" sz="6600" dirty="0"/>
          </a:p>
        </p:txBody>
      </p:sp>
      <p:sp>
        <p:nvSpPr>
          <p:cNvPr id="5" name="Text 3"/>
          <p:cNvSpPr txBox="1"/>
          <p:nvPr/>
        </p:nvSpPr>
        <p:spPr>
          <a:xfrm>
            <a:off x="685800" y="2286000"/>
            <a:ext cx="1920240" cy="731520"/>
          </a:xfrm>
          <a:prstGeom prst="rect">
            <a:avLst/>
          </a:prstGeom>
          <a:noFill/>
          <a:ln/>
        </p:spPr>
        <p:txBody>
          <a:bodyPr wrap="square" lIns="0" tIns="0" rIns="0" bIns="0" rtlCol="0" anchor="t"/>
          <a:lstStyle/>
          <a:p>
            <a:pPr indent="0" marL="0">
              <a:buNone/>
            </a:pPr>
            <a:r>
              <a:rPr lang="en-US" sz="1300" dirty="0">
                <a:solidFill>
                  <a:srgbClr val="464B53"/>
                </a:solidFill>
              </a:rPr>
              <a:t>automated tests pass (34 files, plus 2 expected fails)</a:t>
            </a:r>
            <a:endParaRPr lang="en-US" sz="1300" dirty="0"/>
          </a:p>
        </p:txBody>
      </p:sp>
      <p:sp>
        <p:nvSpPr>
          <p:cNvPr id="6" name="Text 4"/>
          <p:cNvSpPr txBox="1"/>
          <p:nvPr/>
        </p:nvSpPr>
        <p:spPr>
          <a:xfrm>
            <a:off x="685800" y="3291840"/>
            <a:ext cx="1920240" cy="822960"/>
          </a:xfrm>
          <a:prstGeom prst="rect">
            <a:avLst/>
          </a:prstGeom>
          <a:noFill/>
          <a:ln/>
        </p:spPr>
        <p:txBody>
          <a:bodyPr wrap="square" lIns="0" tIns="0" rIns="0" bIns="0" rtlCol="0" anchor="t"/>
          <a:lstStyle/>
          <a:p>
            <a:pPr indent="0" marL="0">
              <a:buNone/>
            </a:pPr>
            <a:r>
              <a:rPr lang="en-US" sz="1700" b="1" dirty="0">
                <a:solidFill>
                  <a:srgbClr val="121417"/>
                </a:solidFill>
              </a:rPr>
              <a:t>Built and deployed in one day.</a:t>
            </a:r>
            <a:endParaRPr lang="en-US" sz="1700" dirty="0"/>
          </a:p>
        </p:txBody>
      </p:sp>
      <p:sp>
        <p:nvSpPr>
          <p:cNvPr id="7" name="Text 5"/>
          <p:cNvSpPr txBox="1"/>
          <p:nvPr/>
        </p:nvSpPr>
        <p:spPr>
          <a:xfrm>
            <a:off x="3063240" y="1143000"/>
            <a:ext cx="2651760" cy="365760"/>
          </a:xfrm>
          <a:prstGeom prst="rect">
            <a:avLst/>
          </a:prstGeom>
          <a:noFill/>
          <a:ln/>
        </p:spPr>
        <p:txBody>
          <a:bodyPr wrap="square" lIns="0" tIns="0" rIns="0" bIns="0" rtlCol="0" anchor="ctr"/>
          <a:lstStyle/>
          <a:p>
            <a:pPr indent="0" marL="0">
              <a:buNone/>
            </a:pPr>
            <a:r>
              <a:rPr lang="en-US" sz="1800" b="1" dirty="0">
                <a:solidFill>
                  <a:srgbClr val="0B5D46"/>
                </a:solidFill>
              </a:rPr>
              <a:t>Verified</a:t>
            </a:r>
            <a:endParaRPr lang="en-US" sz="1800" dirty="0"/>
          </a:p>
        </p:txBody>
      </p:sp>
      <p:pic>
        <p:nvPicPr>
          <p:cNvPr id="8" name="Image 0" descr="preencoded.png">    </p:cNvPr>
          <p:cNvPicPr>
            <a:picLocks noChangeAspect="1"/>
          </p:cNvPicPr>
          <p:nvPr/>
        </p:nvPicPr>
        <p:blipFill>
          <a:blip r:embed="rId1"/>
          <a:stretch>
            <a:fillRect/>
          </a:stretch>
        </p:blipFill>
        <p:spPr>
          <a:xfrm>
            <a:off x="3063240" y="1655064"/>
            <a:ext cx="201168" cy="201168"/>
          </a:xfrm>
          <a:prstGeom prst="rect">
            <a:avLst/>
          </a:prstGeom>
        </p:spPr>
      </p:pic>
      <p:sp>
        <p:nvSpPr>
          <p:cNvPr id="9" name="Text 6"/>
          <p:cNvSpPr txBox="1"/>
          <p:nvPr/>
        </p:nvSpPr>
        <p:spPr>
          <a:xfrm>
            <a:off x="3355848" y="1600200"/>
            <a:ext cx="2514600" cy="365760"/>
          </a:xfrm>
          <a:prstGeom prst="rect">
            <a:avLst/>
          </a:prstGeom>
          <a:noFill/>
          <a:ln/>
        </p:spPr>
        <p:txBody>
          <a:bodyPr wrap="square" lIns="0" tIns="0" rIns="0" bIns="0" rtlCol="0" anchor="ctr"/>
          <a:lstStyle/>
          <a:p>
            <a:pPr indent="0" marL="0">
              <a:buNone/>
            </a:pPr>
            <a:r>
              <a:rPr lang="en-US" sz="1300" dirty="0">
                <a:solidFill>
                  <a:srgbClr val="121417"/>
                </a:solidFill>
              </a:rPr>
              <a:t>Live AI replies and transcription</a:t>
            </a:r>
            <a:endParaRPr lang="en-US" sz="1300" dirty="0"/>
          </a:p>
        </p:txBody>
      </p:sp>
      <p:pic>
        <p:nvPicPr>
          <p:cNvPr id="10" name="Image 1" descr="preencoded.png">    </p:cNvPr>
          <p:cNvPicPr>
            <a:picLocks noChangeAspect="1"/>
          </p:cNvPicPr>
          <p:nvPr/>
        </p:nvPicPr>
        <p:blipFill>
          <a:blip r:embed="rId2"/>
          <a:stretch>
            <a:fillRect/>
          </a:stretch>
        </p:blipFill>
        <p:spPr>
          <a:xfrm>
            <a:off x="3063240" y="2057400"/>
            <a:ext cx="201168" cy="201168"/>
          </a:xfrm>
          <a:prstGeom prst="rect">
            <a:avLst/>
          </a:prstGeom>
        </p:spPr>
      </p:pic>
      <p:sp>
        <p:nvSpPr>
          <p:cNvPr id="11" name="Text 7"/>
          <p:cNvSpPr txBox="1"/>
          <p:nvPr/>
        </p:nvSpPr>
        <p:spPr>
          <a:xfrm>
            <a:off x="3355848" y="2002536"/>
            <a:ext cx="2514600" cy="365760"/>
          </a:xfrm>
          <a:prstGeom prst="rect">
            <a:avLst/>
          </a:prstGeom>
          <a:noFill/>
          <a:ln/>
        </p:spPr>
        <p:txBody>
          <a:bodyPr wrap="square" lIns="0" tIns="0" rIns="0" bIns="0" rtlCol="0" anchor="ctr"/>
          <a:lstStyle/>
          <a:p>
            <a:pPr indent="0" marL="0">
              <a:buNone/>
            </a:pPr>
            <a:r>
              <a:rPr lang="en-US" sz="1300" dirty="0">
                <a:solidFill>
                  <a:srgbClr val="121417"/>
                </a:solidFill>
              </a:rPr>
              <a:t>Natural voice via server</a:t>
            </a:r>
            <a:endParaRPr lang="en-US" sz="1300" dirty="0"/>
          </a:p>
        </p:txBody>
      </p:sp>
      <p:pic>
        <p:nvPicPr>
          <p:cNvPr id="12" name="Image 2" descr="preencoded.png">    </p:cNvPr>
          <p:cNvPicPr>
            <a:picLocks noChangeAspect="1"/>
          </p:cNvPicPr>
          <p:nvPr/>
        </p:nvPicPr>
        <p:blipFill>
          <a:blip r:embed="rId3"/>
          <a:stretch>
            <a:fillRect/>
          </a:stretch>
        </p:blipFill>
        <p:spPr>
          <a:xfrm>
            <a:off x="3063240" y="2459736"/>
            <a:ext cx="201168" cy="201168"/>
          </a:xfrm>
          <a:prstGeom prst="rect">
            <a:avLst/>
          </a:prstGeom>
        </p:spPr>
      </p:pic>
      <p:sp>
        <p:nvSpPr>
          <p:cNvPr id="13" name="Text 8"/>
          <p:cNvSpPr txBox="1"/>
          <p:nvPr/>
        </p:nvSpPr>
        <p:spPr>
          <a:xfrm>
            <a:off x="3355848" y="2404872"/>
            <a:ext cx="2514600" cy="365760"/>
          </a:xfrm>
          <a:prstGeom prst="rect">
            <a:avLst/>
          </a:prstGeom>
          <a:noFill/>
          <a:ln/>
        </p:spPr>
        <p:txBody>
          <a:bodyPr wrap="square" lIns="0" tIns="0" rIns="0" bIns="0" rtlCol="0" anchor="ctr"/>
          <a:lstStyle/>
          <a:p>
            <a:pPr indent="0" marL="0">
              <a:buNone/>
            </a:pPr>
            <a:r>
              <a:rPr lang="en-US" sz="1300" dirty="0">
                <a:solidFill>
                  <a:srgbClr val="121417"/>
                </a:solidFill>
              </a:rPr>
              <a:t>Installed iPad app</a:t>
            </a:r>
            <a:endParaRPr lang="en-US" sz="1300" dirty="0"/>
          </a:p>
        </p:txBody>
      </p:sp>
      <p:pic>
        <p:nvPicPr>
          <p:cNvPr id="14" name="Image 3" descr="preencoded.png">    </p:cNvPr>
          <p:cNvPicPr>
            <a:picLocks noChangeAspect="1"/>
          </p:cNvPicPr>
          <p:nvPr/>
        </p:nvPicPr>
        <p:blipFill>
          <a:blip r:embed="rId4"/>
          <a:stretch>
            <a:fillRect/>
          </a:stretch>
        </p:blipFill>
        <p:spPr>
          <a:xfrm>
            <a:off x="3063240" y="2862072"/>
            <a:ext cx="201168" cy="201168"/>
          </a:xfrm>
          <a:prstGeom prst="rect">
            <a:avLst/>
          </a:prstGeom>
        </p:spPr>
      </p:pic>
      <p:sp>
        <p:nvSpPr>
          <p:cNvPr id="15" name="Text 9"/>
          <p:cNvSpPr txBox="1"/>
          <p:nvPr/>
        </p:nvSpPr>
        <p:spPr>
          <a:xfrm>
            <a:off x="3355848" y="2807208"/>
            <a:ext cx="2514600" cy="365760"/>
          </a:xfrm>
          <a:prstGeom prst="rect">
            <a:avLst/>
          </a:prstGeom>
          <a:noFill/>
          <a:ln/>
        </p:spPr>
        <p:txBody>
          <a:bodyPr wrap="square" lIns="0" tIns="0" rIns="0" bIns="0" rtlCol="0" anchor="ctr"/>
          <a:lstStyle/>
          <a:p>
            <a:pPr indent="0" marL="0">
              <a:buNone/>
            </a:pPr>
            <a:r>
              <a:rPr lang="en-US" sz="1300" dirty="0">
                <a:solidFill>
                  <a:srgbClr val="121417"/>
                </a:solidFill>
              </a:rPr>
              <a:t>Hands-free conversation on iPad (team test)</a:t>
            </a:r>
            <a:endParaRPr lang="en-US" sz="1300" dirty="0"/>
          </a:p>
        </p:txBody>
      </p:sp>
      <p:pic>
        <p:nvPicPr>
          <p:cNvPr id="16" name="Image 4" descr="preencoded.png">    </p:cNvPr>
          <p:cNvPicPr>
            <a:picLocks noChangeAspect="1"/>
          </p:cNvPicPr>
          <p:nvPr/>
        </p:nvPicPr>
        <p:blipFill>
          <a:blip r:embed="rId5"/>
          <a:stretch>
            <a:fillRect/>
          </a:stretch>
        </p:blipFill>
        <p:spPr>
          <a:xfrm>
            <a:off x="3063240" y="3264408"/>
            <a:ext cx="201168" cy="201168"/>
          </a:xfrm>
          <a:prstGeom prst="rect">
            <a:avLst/>
          </a:prstGeom>
        </p:spPr>
      </p:pic>
      <p:sp>
        <p:nvSpPr>
          <p:cNvPr id="17" name="Text 10"/>
          <p:cNvSpPr txBox="1"/>
          <p:nvPr/>
        </p:nvSpPr>
        <p:spPr>
          <a:xfrm>
            <a:off x="3355848" y="3209544"/>
            <a:ext cx="2514600" cy="365760"/>
          </a:xfrm>
          <a:prstGeom prst="rect">
            <a:avLst/>
          </a:prstGeom>
          <a:noFill/>
          <a:ln/>
        </p:spPr>
        <p:txBody>
          <a:bodyPr wrap="square" lIns="0" tIns="0" rIns="0" bIns="0" rtlCol="0" anchor="ctr"/>
          <a:lstStyle/>
          <a:p>
            <a:pPr indent="0" marL="0">
              <a:buNone/>
            </a:pPr>
            <a:r>
              <a:rPr lang="en-US" sz="1300" dirty="0">
                <a:solidFill>
                  <a:srgbClr val="121417"/>
                </a:solidFill>
              </a:rPr>
              <a:t>Latency measured from a Mac</a:t>
            </a:r>
            <a:endParaRPr lang="en-US" sz="1300" dirty="0"/>
          </a:p>
        </p:txBody>
      </p:sp>
      <p:pic>
        <p:nvPicPr>
          <p:cNvPr id="18" name="Image 5" descr="preencoded.png">    </p:cNvPr>
          <p:cNvPicPr>
            <a:picLocks noChangeAspect="1"/>
          </p:cNvPicPr>
          <p:nvPr/>
        </p:nvPicPr>
        <p:blipFill>
          <a:blip r:embed="rId6"/>
          <a:stretch>
            <a:fillRect/>
          </a:stretch>
        </p:blipFill>
        <p:spPr>
          <a:xfrm>
            <a:off x="3063240" y="3666744"/>
            <a:ext cx="201168" cy="201168"/>
          </a:xfrm>
          <a:prstGeom prst="rect">
            <a:avLst/>
          </a:prstGeom>
        </p:spPr>
      </p:pic>
      <p:sp>
        <p:nvSpPr>
          <p:cNvPr id="19" name="Text 11"/>
          <p:cNvSpPr txBox="1"/>
          <p:nvPr/>
        </p:nvSpPr>
        <p:spPr>
          <a:xfrm>
            <a:off x="3355848" y="3611880"/>
            <a:ext cx="2514600" cy="365760"/>
          </a:xfrm>
          <a:prstGeom prst="rect">
            <a:avLst/>
          </a:prstGeom>
          <a:noFill/>
          <a:ln/>
        </p:spPr>
        <p:txBody>
          <a:bodyPr wrap="square" lIns="0" tIns="0" rIns="0" bIns="0" rtlCol="0" anchor="ctr"/>
          <a:lstStyle/>
          <a:p>
            <a:pPr indent="0" marL="0">
              <a:buNone/>
            </a:pPr>
            <a:r>
              <a:rPr lang="en-US" sz="1300" dirty="0">
                <a:solidFill>
                  <a:srgbClr val="121417"/>
                </a:solidFill>
              </a:rPr>
              <a:t>Security probe on deployed server</a:t>
            </a:r>
            <a:endParaRPr lang="en-US" sz="1300" dirty="0"/>
          </a:p>
        </p:txBody>
      </p:sp>
      <p:pic>
        <p:nvPicPr>
          <p:cNvPr id="20" name="Image 6" descr="preencoded.png">    </p:cNvPr>
          <p:cNvPicPr>
            <a:picLocks noChangeAspect="1"/>
          </p:cNvPicPr>
          <p:nvPr/>
        </p:nvPicPr>
        <p:blipFill>
          <a:blip r:embed="rId7"/>
          <a:stretch>
            <a:fillRect/>
          </a:stretch>
        </p:blipFill>
        <p:spPr>
          <a:xfrm>
            <a:off x="3063240" y="4069080"/>
            <a:ext cx="201168" cy="201168"/>
          </a:xfrm>
          <a:prstGeom prst="rect">
            <a:avLst/>
          </a:prstGeom>
        </p:spPr>
      </p:pic>
      <p:sp>
        <p:nvSpPr>
          <p:cNvPr id="21" name="Text 12"/>
          <p:cNvSpPr txBox="1"/>
          <p:nvPr/>
        </p:nvSpPr>
        <p:spPr>
          <a:xfrm>
            <a:off x="3355848" y="4014216"/>
            <a:ext cx="2514600" cy="365760"/>
          </a:xfrm>
          <a:prstGeom prst="rect">
            <a:avLst/>
          </a:prstGeom>
          <a:noFill/>
          <a:ln/>
        </p:spPr>
        <p:txBody>
          <a:bodyPr wrap="square" lIns="0" tIns="0" rIns="0" bIns="0" rtlCol="0" anchor="ctr"/>
          <a:lstStyle/>
          <a:p>
            <a:pPr indent="0" marL="0">
              <a:buNone/>
            </a:pPr>
            <a:r>
              <a:rPr lang="en-US" sz="1300" dirty="0">
                <a:solidFill>
                  <a:srgbClr val="121417"/>
                </a:solidFill>
              </a:rPr>
              <a:t>Deployed smoke test 6/6</a:t>
            </a:r>
            <a:endParaRPr lang="en-US" sz="1300" dirty="0"/>
          </a:p>
        </p:txBody>
      </p:sp>
      <p:sp>
        <p:nvSpPr>
          <p:cNvPr id="22" name="Text 13"/>
          <p:cNvSpPr txBox="1"/>
          <p:nvPr/>
        </p:nvSpPr>
        <p:spPr>
          <a:xfrm>
            <a:off x="5943600" y="1143000"/>
            <a:ext cx="2651760" cy="365760"/>
          </a:xfrm>
          <a:prstGeom prst="rect">
            <a:avLst/>
          </a:prstGeom>
          <a:noFill/>
          <a:ln/>
        </p:spPr>
        <p:txBody>
          <a:bodyPr wrap="square" lIns="0" tIns="0" rIns="0" bIns="0" rtlCol="0" anchor="ctr"/>
          <a:lstStyle/>
          <a:p>
            <a:pPr indent="0" marL="0">
              <a:buNone/>
            </a:pPr>
            <a:r>
              <a:rPr lang="en-US" sz="1800" b="1" dirty="0">
                <a:solidFill>
                  <a:srgbClr val="464B53"/>
                </a:solidFill>
              </a:rPr>
              <a:t>Not yet</a:t>
            </a:r>
            <a:endParaRPr lang="en-US" sz="1800" dirty="0"/>
          </a:p>
        </p:txBody>
      </p:sp>
      <p:pic>
        <p:nvPicPr>
          <p:cNvPr id="23" name="Image 7" descr="preencoded.png">    </p:cNvPr>
          <p:cNvPicPr>
            <a:picLocks noChangeAspect="1"/>
          </p:cNvPicPr>
          <p:nvPr/>
        </p:nvPicPr>
        <p:blipFill>
          <a:blip r:embed="rId8"/>
          <a:stretch>
            <a:fillRect/>
          </a:stretch>
        </p:blipFill>
        <p:spPr>
          <a:xfrm>
            <a:off x="5943600" y="1655064"/>
            <a:ext cx="201168" cy="201168"/>
          </a:xfrm>
          <a:prstGeom prst="rect">
            <a:avLst/>
          </a:prstGeom>
        </p:spPr>
      </p:pic>
      <p:sp>
        <p:nvSpPr>
          <p:cNvPr id="24" name="Text 14"/>
          <p:cNvSpPr txBox="1"/>
          <p:nvPr/>
        </p:nvSpPr>
        <p:spPr>
          <a:xfrm>
            <a:off x="6236208" y="1600200"/>
            <a:ext cx="2514600" cy="365760"/>
          </a:xfrm>
          <a:prstGeom prst="rect">
            <a:avLst/>
          </a:prstGeom>
          <a:noFill/>
          <a:ln/>
        </p:spPr>
        <p:txBody>
          <a:bodyPr wrap="square" lIns="0" tIns="0" rIns="0" bIns="0" rtlCol="0" anchor="ctr"/>
          <a:lstStyle/>
          <a:p>
            <a:pPr indent="0" marL="0">
              <a:buNone/>
            </a:pPr>
            <a:r>
              <a:rPr lang="en-US" sz="1300" dirty="0">
                <a:solidFill>
                  <a:srgbClr val="121417"/>
                </a:solidFill>
              </a:rPr>
              <a:t>Gesture reliability trial</a:t>
            </a:r>
            <a:endParaRPr lang="en-US" sz="1300" dirty="0"/>
          </a:p>
        </p:txBody>
      </p:sp>
      <p:pic>
        <p:nvPicPr>
          <p:cNvPr id="25" name="Image 8" descr="preencoded.png">    </p:cNvPr>
          <p:cNvPicPr>
            <a:picLocks noChangeAspect="1"/>
          </p:cNvPicPr>
          <p:nvPr/>
        </p:nvPicPr>
        <p:blipFill>
          <a:blip r:embed="rId9"/>
          <a:stretch>
            <a:fillRect/>
          </a:stretch>
        </p:blipFill>
        <p:spPr>
          <a:xfrm>
            <a:off x="5943600" y="2057400"/>
            <a:ext cx="201168" cy="201168"/>
          </a:xfrm>
          <a:prstGeom prst="rect">
            <a:avLst/>
          </a:prstGeom>
        </p:spPr>
      </p:pic>
      <p:sp>
        <p:nvSpPr>
          <p:cNvPr id="26" name="Text 15"/>
          <p:cNvSpPr txBox="1"/>
          <p:nvPr/>
        </p:nvSpPr>
        <p:spPr>
          <a:xfrm>
            <a:off x="6236208" y="2002536"/>
            <a:ext cx="2514600" cy="365760"/>
          </a:xfrm>
          <a:prstGeom prst="rect">
            <a:avLst/>
          </a:prstGeom>
          <a:noFill/>
          <a:ln/>
        </p:spPr>
        <p:txBody>
          <a:bodyPr wrap="square" lIns="0" tIns="0" rIns="0" bIns="0" rtlCol="0" anchor="ctr"/>
          <a:lstStyle/>
          <a:p>
            <a:pPr indent="0" marL="0">
              <a:buNone/>
            </a:pPr>
            <a:r>
              <a:rPr lang="en-US" sz="1300" dirty="0">
                <a:solidFill>
                  <a:srgbClr val="121417"/>
                </a:solidFill>
              </a:rPr>
              <a:t>One-blink timing on iPad</a:t>
            </a:r>
            <a:endParaRPr lang="en-US" sz="1300" dirty="0"/>
          </a:p>
        </p:txBody>
      </p:sp>
      <p:pic>
        <p:nvPicPr>
          <p:cNvPr id="27" name="Image 9" descr="preencoded.png">    </p:cNvPr>
          <p:cNvPicPr>
            <a:picLocks noChangeAspect="1"/>
          </p:cNvPicPr>
          <p:nvPr/>
        </p:nvPicPr>
        <p:blipFill>
          <a:blip r:embed="rId10"/>
          <a:stretch>
            <a:fillRect/>
          </a:stretch>
        </p:blipFill>
        <p:spPr>
          <a:xfrm>
            <a:off x="5943600" y="2459736"/>
            <a:ext cx="201168" cy="201168"/>
          </a:xfrm>
          <a:prstGeom prst="rect">
            <a:avLst/>
          </a:prstGeom>
        </p:spPr>
      </p:pic>
      <p:sp>
        <p:nvSpPr>
          <p:cNvPr id="28" name="Text 16"/>
          <p:cNvSpPr txBox="1"/>
          <p:nvPr/>
        </p:nvSpPr>
        <p:spPr>
          <a:xfrm>
            <a:off x="6236208" y="2404872"/>
            <a:ext cx="2514600" cy="365760"/>
          </a:xfrm>
          <a:prstGeom prst="rect">
            <a:avLst/>
          </a:prstGeom>
          <a:noFill/>
          <a:ln/>
        </p:spPr>
        <p:txBody>
          <a:bodyPr wrap="square" lIns="0" tIns="0" rIns="0" bIns="0" rtlCol="0" anchor="ctr"/>
          <a:lstStyle/>
          <a:p>
            <a:pPr indent="0" marL="0">
              <a:buNone/>
            </a:pPr>
            <a:r>
              <a:rPr lang="en-US" sz="1300" dirty="0">
                <a:solidFill>
                  <a:srgbClr val="121417"/>
                </a:solidFill>
              </a:rPr>
              <a:t>Audible prefetch on iPad</a:t>
            </a:r>
            <a:endParaRPr lang="en-US" sz="1300" dirty="0"/>
          </a:p>
        </p:txBody>
      </p:sp>
      <p:pic>
        <p:nvPicPr>
          <p:cNvPr id="29" name="Image 10" descr="preencoded.png">    </p:cNvPr>
          <p:cNvPicPr>
            <a:picLocks noChangeAspect="1"/>
          </p:cNvPicPr>
          <p:nvPr/>
        </p:nvPicPr>
        <p:blipFill>
          <a:blip r:embed="rId11"/>
          <a:stretch>
            <a:fillRect/>
          </a:stretch>
        </p:blipFill>
        <p:spPr>
          <a:xfrm>
            <a:off x="5943600" y="2862072"/>
            <a:ext cx="201168" cy="201168"/>
          </a:xfrm>
          <a:prstGeom prst="rect">
            <a:avLst/>
          </a:prstGeom>
        </p:spPr>
      </p:pic>
      <p:sp>
        <p:nvSpPr>
          <p:cNvPr id="30" name="Text 17"/>
          <p:cNvSpPr txBox="1"/>
          <p:nvPr/>
        </p:nvSpPr>
        <p:spPr>
          <a:xfrm>
            <a:off x="6236208" y="2807208"/>
            <a:ext cx="2514600" cy="365760"/>
          </a:xfrm>
          <a:prstGeom prst="rect">
            <a:avLst/>
          </a:prstGeom>
          <a:noFill/>
          <a:ln/>
        </p:spPr>
        <p:txBody>
          <a:bodyPr wrap="square" lIns="0" tIns="0" rIns="0" bIns="0" rtlCol="0" anchor="ctr"/>
          <a:lstStyle/>
          <a:p>
            <a:pPr indent="0" marL="0">
              <a:buNone/>
            </a:pPr>
            <a:r>
              <a:rPr lang="en-US" sz="1300" dirty="0">
                <a:solidFill>
                  <a:srgbClr val="121417"/>
                </a:solidFill>
              </a:rPr>
              <a:t>Multi-face lock, live</a:t>
            </a:r>
            <a:endParaRPr lang="en-US" sz="1300" dirty="0"/>
          </a:p>
        </p:txBody>
      </p:sp>
      <p:pic>
        <p:nvPicPr>
          <p:cNvPr id="31" name="Image 11" descr="preencoded.png">    </p:cNvPr>
          <p:cNvPicPr>
            <a:picLocks noChangeAspect="1"/>
          </p:cNvPicPr>
          <p:nvPr/>
        </p:nvPicPr>
        <p:blipFill>
          <a:blip r:embed="rId12"/>
          <a:stretch>
            <a:fillRect/>
          </a:stretch>
        </p:blipFill>
        <p:spPr>
          <a:xfrm>
            <a:off x="5943600" y="3264408"/>
            <a:ext cx="201168" cy="201168"/>
          </a:xfrm>
          <a:prstGeom prst="rect">
            <a:avLst/>
          </a:prstGeom>
        </p:spPr>
      </p:pic>
      <p:sp>
        <p:nvSpPr>
          <p:cNvPr id="32" name="Text 18"/>
          <p:cNvSpPr txBox="1"/>
          <p:nvPr/>
        </p:nvSpPr>
        <p:spPr>
          <a:xfrm>
            <a:off x="6236208" y="3209544"/>
            <a:ext cx="2514600" cy="365760"/>
          </a:xfrm>
          <a:prstGeom prst="rect">
            <a:avLst/>
          </a:prstGeom>
          <a:noFill/>
          <a:ln/>
        </p:spPr>
        <p:txBody>
          <a:bodyPr wrap="square" lIns="0" tIns="0" rIns="0" bIns="0" rtlCol="0" anchor="ctr"/>
          <a:lstStyle/>
          <a:p>
            <a:pPr indent="0" marL="0">
              <a:buNone/>
            </a:pPr>
            <a:r>
              <a:rPr lang="en-US" sz="1300" dirty="0">
                <a:solidFill>
                  <a:srgbClr val="121417"/>
                </a:solidFill>
              </a:rPr>
              <a:t>Other ways and jaw Back by a person</a:t>
            </a:r>
            <a:endParaRPr lang="en-US" sz="1300" dirty="0"/>
          </a:p>
        </p:txBody>
      </p:sp>
      <p:pic>
        <p:nvPicPr>
          <p:cNvPr id="33" name="Image 12" descr="preencoded.png">    </p:cNvPr>
          <p:cNvPicPr>
            <a:picLocks noChangeAspect="1"/>
          </p:cNvPicPr>
          <p:nvPr/>
        </p:nvPicPr>
        <p:blipFill>
          <a:blip r:embed="rId13"/>
          <a:stretch>
            <a:fillRect/>
          </a:stretch>
        </p:blipFill>
        <p:spPr>
          <a:xfrm>
            <a:off x="5943600" y="3666744"/>
            <a:ext cx="201168" cy="201168"/>
          </a:xfrm>
          <a:prstGeom prst="rect">
            <a:avLst/>
          </a:prstGeom>
        </p:spPr>
      </p:pic>
      <p:sp>
        <p:nvSpPr>
          <p:cNvPr id="34" name="Text 19"/>
          <p:cNvSpPr txBox="1"/>
          <p:nvPr/>
        </p:nvSpPr>
        <p:spPr>
          <a:xfrm>
            <a:off x="6236208" y="3611880"/>
            <a:ext cx="2514600" cy="365760"/>
          </a:xfrm>
          <a:prstGeom prst="rect">
            <a:avLst/>
          </a:prstGeom>
          <a:noFill/>
          <a:ln/>
        </p:spPr>
        <p:txBody>
          <a:bodyPr wrap="square" lIns="0" tIns="0" rIns="0" bIns="0" rtlCol="0" anchor="ctr"/>
          <a:lstStyle/>
          <a:p>
            <a:pPr indent="0" marL="0">
              <a:buNone/>
            </a:pPr>
            <a:r>
              <a:rPr lang="en-US" sz="1300" dirty="0">
                <a:solidFill>
                  <a:srgbClr val="121417"/>
                </a:solidFill>
              </a:rPr>
              <a:t>Phone testing</a:t>
            </a:r>
            <a:endParaRPr lang="en-US" sz="1300" dirty="0"/>
          </a:p>
        </p:txBody>
      </p:sp>
      <p:pic>
        <p:nvPicPr>
          <p:cNvPr id="35" name="Image 13" descr="preencoded.png">    </p:cNvPr>
          <p:cNvPicPr>
            <a:picLocks noChangeAspect="1"/>
          </p:cNvPicPr>
          <p:nvPr/>
        </p:nvPicPr>
        <p:blipFill>
          <a:blip r:embed="rId14"/>
          <a:stretch>
            <a:fillRect/>
          </a:stretch>
        </p:blipFill>
        <p:spPr>
          <a:xfrm>
            <a:off x="5943600" y="4069080"/>
            <a:ext cx="201168" cy="201168"/>
          </a:xfrm>
          <a:prstGeom prst="rect">
            <a:avLst/>
          </a:prstGeom>
        </p:spPr>
      </p:pic>
      <p:sp>
        <p:nvSpPr>
          <p:cNvPr id="36" name="Text 20"/>
          <p:cNvSpPr txBox="1"/>
          <p:nvPr/>
        </p:nvSpPr>
        <p:spPr>
          <a:xfrm>
            <a:off x="6236208" y="4014216"/>
            <a:ext cx="2514600" cy="365760"/>
          </a:xfrm>
          <a:prstGeom prst="rect">
            <a:avLst/>
          </a:prstGeom>
          <a:noFill/>
          <a:ln/>
        </p:spPr>
        <p:txBody>
          <a:bodyPr wrap="square" lIns="0" tIns="0" rIns="0" bIns="0" rtlCol="0" anchor="ctr"/>
          <a:lstStyle/>
          <a:p>
            <a:pPr indent="0" marL="0">
              <a:buNone/>
            </a:pPr>
            <a:r>
              <a:rPr lang="en-US" sz="1300" dirty="0">
                <a:solidFill>
                  <a:srgbClr val="121417"/>
                </a:solidFill>
              </a:rPr>
              <a:t>Any AAC user or clinician testing</a:t>
            </a:r>
            <a:endParaRPr lang="en-US" sz="1300" dirty="0"/>
          </a:p>
        </p:txBody>
      </p:sp>
      <p:sp>
        <p:nvSpPr>
          <p:cNvPr id="37" name="Text 21"/>
          <p:cNvSpPr txBox="1"/>
          <p:nvPr/>
        </p:nvSpPr>
        <p:spPr>
          <a:xfrm>
            <a:off x="457200" y="4572000"/>
            <a:ext cx="7406640" cy="256032"/>
          </a:xfrm>
          <a:prstGeom prst="rect">
            <a:avLst/>
          </a:prstGeom>
          <a:noFill/>
          <a:ln/>
        </p:spPr>
        <p:txBody>
          <a:bodyPr wrap="square" lIns="0" tIns="0" rIns="0" bIns="0" rtlCol="0" anchor="ctr"/>
          <a:lstStyle/>
          <a:p>
            <a:pPr indent="0" marL="0">
              <a:buNone/>
            </a:pPr>
            <a:r>
              <a:rPr lang="en-US" sz="1000" dirty="0">
                <a:solidFill>
                  <a:srgbClr val="464B53"/>
                </a:solidFill>
              </a:rPr>
              <a:t>Tests prove logic, not reliability. Smoke test 6/6 was for the 13:50 deploy.</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Built on a known idea</a:t>
            </a:r>
            <a:endParaRPr lang="en-US" sz="3200" dirty="0"/>
          </a:p>
        </p:txBody>
      </p:sp>
      <p:sp>
        <p:nvSpPr>
          <p:cNvPr id="3" name="Text 1"/>
          <p:cNvSpPr txBox="1"/>
          <p:nvPr/>
        </p:nvSpPr>
        <p:spPr>
          <a:xfrm>
            <a:off x="457200" y="1051560"/>
            <a:ext cx="8229600" cy="365760"/>
          </a:xfrm>
          <a:prstGeom prst="rect">
            <a:avLst/>
          </a:prstGeom>
          <a:noFill/>
          <a:ln/>
        </p:spPr>
        <p:txBody>
          <a:bodyPr wrap="square" lIns="0" tIns="0" rIns="0" bIns="0" rtlCol="0" anchor="t"/>
          <a:lstStyle/>
          <a:p>
            <a:pPr indent="0" marL="0">
              <a:buNone/>
            </a:pPr>
            <a:r>
              <a:rPr lang="en-US" sz="1600" dirty="0">
                <a:solidFill>
                  <a:srgbClr val="464B53"/>
                </a:solidFill>
              </a:rPr>
              <a:t>AI suggestions for AAC already exist. We learned from:</a:t>
            </a:r>
            <a:endParaRPr lang="en-US" sz="1600" dirty="0"/>
          </a:p>
        </p:txBody>
      </p:sp>
      <p:sp>
        <p:nvSpPr>
          <p:cNvPr id="4" name="name chip"/>
          <p:cNvSpPr/>
          <p:nvPr/>
        </p:nvSpPr>
        <p:spPr>
          <a:xfrm>
            <a:off x="457200" y="1554480"/>
            <a:ext cx="2651760" cy="566928"/>
          </a:xfrm>
          <a:prstGeom prst="roundRect">
            <a:avLst>
              <a:gd name="adj" fmla="val 50000"/>
            </a:avLst>
          </a:prstGeom>
          <a:solidFill>
            <a:srgbClr val="FFFFFF"/>
          </a:solidFill>
          <a:ln w="12700">
            <a:solidFill>
              <a:srgbClr val="D9DCE0"/>
            </a:solidFill>
            <a:prstDash val="solid"/>
          </a:ln>
        </p:spPr>
      </p:sp>
      <p:sp>
        <p:nvSpPr>
          <p:cNvPr id="5" name="Text 3"/>
          <p:cNvSpPr txBox="1"/>
          <p:nvPr/>
        </p:nvSpPr>
        <p:spPr>
          <a:xfrm>
            <a:off x="457200" y="1554480"/>
            <a:ext cx="2651760" cy="566928"/>
          </a:xfrm>
          <a:prstGeom prst="rect">
            <a:avLst/>
          </a:prstGeom>
          <a:noFill/>
          <a:ln/>
        </p:spPr>
        <p:txBody>
          <a:bodyPr wrap="square" lIns="0" tIns="0" rIns="0" bIns="0" rtlCol="0" anchor="ctr"/>
          <a:lstStyle/>
          <a:p>
            <a:pPr algn="ctr" indent="0" marL="0">
              <a:buNone/>
            </a:pPr>
            <a:r>
              <a:rPr lang="en-US" sz="1600" b="1" dirty="0">
                <a:solidFill>
                  <a:srgbClr val="121417"/>
                </a:solidFill>
              </a:rPr>
              <a:t>VisioALS</a:t>
            </a:r>
            <a:endParaRPr lang="en-US" sz="1600" dirty="0"/>
          </a:p>
        </p:txBody>
      </p:sp>
      <p:sp>
        <p:nvSpPr>
          <p:cNvPr id="6" name="name chip"/>
          <p:cNvSpPr/>
          <p:nvPr/>
        </p:nvSpPr>
        <p:spPr>
          <a:xfrm>
            <a:off x="3246120" y="1554480"/>
            <a:ext cx="2651760" cy="566928"/>
          </a:xfrm>
          <a:prstGeom prst="roundRect">
            <a:avLst>
              <a:gd name="adj" fmla="val 50000"/>
            </a:avLst>
          </a:prstGeom>
          <a:solidFill>
            <a:srgbClr val="FFFFFF"/>
          </a:solidFill>
          <a:ln w="12700">
            <a:solidFill>
              <a:srgbClr val="D9DCE0"/>
            </a:solidFill>
            <a:prstDash val="solid"/>
          </a:ln>
        </p:spPr>
      </p:sp>
      <p:sp>
        <p:nvSpPr>
          <p:cNvPr id="7" name="Text 5"/>
          <p:cNvSpPr txBox="1"/>
          <p:nvPr/>
        </p:nvSpPr>
        <p:spPr>
          <a:xfrm>
            <a:off x="3246120" y="1554480"/>
            <a:ext cx="2651760" cy="566928"/>
          </a:xfrm>
          <a:prstGeom prst="rect">
            <a:avLst/>
          </a:prstGeom>
          <a:noFill/>
          <a:ln/>
        </p:spPr>
        <p:txBody>
          <a:bodyPr wrap="square" lIns="0" tIns="0" rIns="0" bIns="0" rtlCol="0" anchor="ctr"/>
          <a:lstStyle/>
          <a:p>
            <a:pPr algn="ctr" indent="0" marL="0">
              <a:buNone/>
            </a:pPr>
            <a:r>
              <a:rPr lang="en-US" sz="1600" b="1" dirty="0">
                <a:solidFill>
                  <a:srgbClr val="121417"/>
                </a:solidFill>
              </a:rPr>
              <a:t>Google SpeakFaster</a:t>
            </a:r>
            <a:endParaRPr lang="en-US" sz="1600" dirty="0"/>
          </a:p>
        </p:txBody>
      </p:sp>
      <p:sp>
        <p:nvSpPr>
          <p:cNvPr id="8" name="name chip"/>
          <p:cNvSpPr/>
          <p:nvPr/>
        </p:nvSpPr>
        <p:spPr>
          <a:xfrm>
            <a:off x="6035040" y="1554480"/>
            <a:ext cx="2651760" cy="566928"/>
          </a:xfrm>
          <a:prstGeom prst="roundRect">
            <a:avLst>
              <a:gd name="adj" fmla="val 50000"/>
            </a:avLst>
          </a:prstGeom>
          <a:solidFill>
            <a:srgbClr val="FFFFFF"/>
          </a:solidFill>
          <a:ln w="12700">
            <a:solidFill>
              <a:srgbClr val="D9DCE0"/>
            </a:solidFill>
            <a:prstDash val="solid"/>
          </a:ln>
        </p:spPr>
      </p:sp>
      <p:sp>
        <p:nvSpPr>
          <p:cNvPr id="9" name="Text 7"/>
          <p:cNvSpPr txBox="1"/>
          <p:nvPr/>
        </p:nvSpPr>
        <p:spPr>
          <a:xfrm>
            <a:off x="6035040" y="1554480"/>
            <a:ext cx="2651760" cy="566928"/>
          </a:xfrm>
          <a:prstGeom prst="rect">
            <a:avLst/>
          </a:prstGeom>
          <a:noFill/>
          <a:ln/>
        </p:spPr>
        <p:txBody>
          <a:bodyPr wrap="square" lIns="0" tIns="0" rIns="0" bIns="0" rtlCol="0" anchor="ctr"/>
          <a:lstStyle/>
          <a:p>
            <a:pPr algn="ctr" indent="0" marL="0">
              <a:buNone/>
            </a:pPr>
            <a:r>
              <a:rPr lang="en-US" sz="1600" b="1" dirty="0">
                <a:solidFill>
                  <a:srgbClr val="121417"/>
                </a:solidFill>
              </a:rPr>
              <a:t>Project Converse / DEAN</a:t>
            </a:r>
            <a:endParaRPr lang="en-US" sz="1600" dirty="0"/>
          </a:p>
        </p:txBody>
      </p:sp>
      <p:sp>
        <p:nvSpPr>
          <p:cNvPr id="10" name="name chip"/>
          <p:cNvSpPr/>
          <p:nvPr/>
        </p:nvSpPr>
        <p:spPr>
          <a:xfrm>
            <a:off x="457200" y="2286000"/>
            <a:ext cx="2651760" cy="566928"/>
          </a:xfrm>
          <a:prstGeom prst="roundRect">
            <a:avLst>
              <a:gd name="adj" fmla="val 50000"/>
            </a:avLst>
          </a:prstGeom>
          <a:solidFill>
            <a:srgbClr val="FFFFFF"/>
          </a:solidFill>
          <a:ln w="12700">
            <a:solidFill>
              <a:srgbClr val="D9DCE0"/>
            </a:solidFill>
            <a:prstDash val="solid"/>
          </a:ln>
        </p:spPr>
      </p:sp>
      <p:sp>
        <p:nvSpPr>
          <p:cNvPr id="11" name="Text 9"/>
          <p:cNvSpPr txBox="1"/>
          <p:nvPr/>
        </p:nvSpPr>
        <p:spPr>
          <a:xfrm>
            <a:off x="457200" y="2286000"/>
            <a:ext cx="2651760" cy="566928"/>
          </a:xfrm>
          <a:prstGeom prst="rect">
            <a:avLst/>
          </a:prstGeom>
          <a:noFill/>
          <a:ln/>
        </p:spPr>
        <p:txBody>
          <a:bodyPr wrap="square" lIns="0" tIns="0" rIns="0" bIns="0" rtlCol="0" anchor="ctr"/>
          <a:lstStyle/>
          <a:p>
            <a:pPr algn="ctr" indent="0" marL="0">
              <a:buNone/>
            </a:pPr>
            <a:r>
              <a:rPr lang="en-US" sz="1600" b="1" dirty="0">
                <a:solidFill>
                  <a:srgbClr val="121417"/>
                </a:solidFill>
              </a:rPr>
              <a:t>Bobbai</a:t>
            </a:r>
            <a:endParaRPr lang="en-US" sz="1600" dirty="0"/>
          </a:p>
        </p:txBody>
      </p:sp>
      <p:sp>
        <p:nvSpPr>
          <p:cNvPr id="12" name="name chip"/>
          <p:cNvSpPr/>
          <p:nvPr/>
        </p:nvSpPr>
        <p:spPr>
          <a:xfrm>
            <a:off x="3246120" y="2286000"/>
            <a:ext cx="2651760" cy="566928"/>
          </a:xfrm>
          <a:prstGeom prst="roundRect">
            <a:avLst>
              <a:gd name="adj" fmla="val 50000"/>
            </a:avLst>
          </a:prstGeom>
          <a:solidFill>
            <a:srgbClr val="FFFFFF"/>
          </a:solidFill>
          <a:ln w="12700">
            <a:solidFill>
              <a:srgbClr val="D9DCE0"/>
            </a:solidFill>
            <a:prstDash val="solid"/>
          </a:ln>
        </p:spPr>
      </p:sp>
      <p:sp>
        <p:nvSpPr>
          <p:cNvPr id="13" name="Text 11"/>
          <p:cNvSpPr txBox="1"/>
          <p:nvPr/>
        </p:nvSpPr>
        <p:spPr>
          <a:xfrm>
            <a:off x="3246120" y="2286000"/>
            <a:ext cx="2651760" cy="566928"/>
          </a:xfrm>
          <a:prstGeom prst="rect">
            <a:avLst/>
          </a:prstGeom>
          <a:noFill/>
          <a:ln/>
        </p:spPr>
        <p:txBody>
          <a:bodyPr wrap="square" lIns="0" tIns="0" rIns="0" bIns="0" rtlCol="0" anchor="ctr"/>
          <a:lstStyle/>
          <a:p>
            <a:pPr algn="ctr" indent="0" marL="0">
              <a:buNone/>
            </a:pPr>
            <a:r>
              <a:rPr lang="en-US" sz="1600" b="1" dirty="0">
                <a:solidFill>
                  <a:srgbClr val="121417"/>
                </a:solidFill>
              </a:rPr>
              <a:t>Speak4Me</a:t>
            </a:r>
            <a:endParaRPr lang="en-US" sz="1600" dirty="0"/>
          </a:p>
        </p:txBody>
      </p:sp>
      <p:sp>
        <p:nvSpPr>
          <p:cNvPr id="14" name="name chip"/>
          <p:cNvSpPr/>
          <p:nvPr/>
        </p:nvSpPr>
        <p:spPr>
          <a:xfrm>
            <a:off x="6035040" y="2286000"/>
            <a:ext cx="2651760" cy="566928"/>
          </a:xfrm>
          <a:prstGeom prst="roundRect">
            <a:avLst>
              <a:gd name="adj" fmla="val 50000"/>
            </a:avLst>
          </a:prstGeom>
          <a:solidFill>
            <a:srgbClr val="FFFFFF"/>
          </a:solidFill>
          <a:ln w="12700">
            <a:solidFill>
              <a:srgbClr val="D9DCE0"/>
            </a:solidFill>
            <a:prstDash val="solid"/>
          </a:ln>
        </p:spPr>
      </p:sp>
      <p:sp>
        <p:nvSpPr>
          <p:cNvPr id="15" name="Text 13"/>
          <p:cNvSpPr txBox="1"/>
          <p:nvPr/>
        </p:nvSpPr>
        <p:spPr>
          <a:xfrm>
            <a:off x="6035040" y="2286000"/>
            <a:ext cx="2651760" cy="566928"/>
          </a:xfrm>
          <a:prstGeom prst="rect">
            <a:avLst/>
          </a:prstGeom>
          <a:noFill/>
          <a:ln/>
        </p:spPr>
        <p:txBody>
          <a:bodyPr wrap="square" lIns="0" tIns="0" rIns="0" bIns="0" rtlCol="0" anchor="ctr"/>
          <a:lstStyle/>
          <a:p>
            <a:pPr algn="ctr" indent="0" marL="0">
              <a:buNone/>
            </a:pPr>
            <a:r>
              <a:rPr lang="en-US" sz="1600" b="1" dirty="0">
                <a:solidFill>
                  <a:srgbClr val="121417"/>
                </a:solidFill>
              </a:rPr>
              <a:t>Alek</a:t>
            </a:r>
            <a:endParaRPr lang="en-US" sz="1600" dirty="0"/>
          </a:p>
        </p:txBody>
      </p:sp>
      <p:sp>
        <p:nvSpPr>
          <p:cNvPr id="16" name="contribution callout"/>
          <p:cNvSpPr/>
          <p:nvPr/>
        </p:nvSpPr>
        <p:spPr>
          <a:xfrm>
            <a:off x="457200" y="3108960"/>
            <a:ext cx="8229600" cy="1280160"/>
          </a:xfrm>
          <a:prstGeom prst="roundRect">
            <a:avLst>
              <a:gd name="adj" fmla="val 8571"/>
            </a:avLst>
          </a:prstGeom>
          <a:solidFill>
            <a:srgbClr val="E2F2EC"/>
          </a:solidFill>
          <a:ln w="12700">
            <a:solidFill>
              <a:srgbClr val="E2F2EC"/>
            </a:solidFill>
            <a:prstDash val="solid"/>
          </a:ln>
        </p:spPr>
      </p:sp>
      <p:sp>
        <p:nvSpPr>
          <p:cNvPr id="17" name="icon LuSparkles"/>
          <p:cNvSpPr/>
          <p:nvPr/>
        </p:nvSpPr>
        <p:spPr>
          <a:xfrm>
            <a:off x="731520" y="3474720"/>
            <a:ext cx="548640" cy="548640"/>
          </a:xfrm>
          <a:prstGeom prst="ellipse">
            <a:avLst/>
          </a:prstGeom>
          <a:solidFill>
            <a:srgbClr val="0B5D46"/>
          </a:solidFill>
          <a:ln w="12700">
            <a:solidFill>
              <a:srgbClr val="0B5D46"/>
            </a:solidFill>
            <a:prstDash val="solid"/>
          </a:ln>
        </p:spPr>
      </p:sp>
      <p:pic>
        <p:nvPicPr>
          <p:cNvPr id="18" name="Image 0" descr="preencoded.png">    </p:cNvPr>
          <p:cNvPicPr>
            <a:picLocks noChangeAspect="1"/>
          </p:cNvPicPr>
          <p:nvPr/>
        </p:nvPicPr>
        <p:blipFill>
          <a:blip r:embed="rId1"/>
          <a:stretch>
            <a:fillRect/>
          </a:stretch>
        </p:blipFill>
        <p:spPr>
          <a:xfrm>
            <a:off x="868680" y="3611880"/>
            <a:ext cx="274320" cy="274320"/>
          </a:xfrm>
          <a:prstGeom prst="rect">
            <a:avLst/>
          </a:prstGeom>
        </p:spPr>
      </p:pic>
      <p:sp>
        <p:nvSpPr>
          <p:cNvPr id="19" name="Text 16"/>
          <p:cNvSpPr txBox="1"/>
          <p:nvPr/>
        </p:nvSpPr>
        <p:spPr>
          <a:xfrm>
            <a:off x="1508760" y="3108960"/>
            <a:ext cx="6949440" cy="1280160"/>
          </a:xfrm>
          <a:prstGeom prst="rect">
            <a:avLst/>
          </a:prstGeom>
          <a:noFill/>
          <a:ln/>
        </p:spPr>
        <p:txBody>
          <a:bodyPr wrap="square" lIns="0" tIns="0" rIns="0" bIns="0" rtlCol="0" anchor="ctr"/>
          <a:lstStyle/>
          <a:p>
            <a:pPr indent="0" marL="0">
              <a:buNone/>
            </a:pPr>
            <a:r>
              <a:rPr lang="en-US" sz="1900" b="1" dirty="0">
                <a:solidFill>
                  <a:srgbClr val="0B5D46"/>
                </a:solidFill>
              </a:rPr>
              <a:t>Our contribution is the combination: </a:t>
            </a:r>
            <a:pPr indent="0" marL="0">
              <a:buNone/>
            </a:pPr>
            <a:r>
              <a:rPr lang="en-US" sz="1900" dirty="0">
                <a:solidFill>
                  <a:srgbClr val="121417"/>
                </a:solidFill>
              </a:rPr>
              <a:t>face gestures on hardware you own, hands-free listening, and choice by direction.</a:t>
            </a:r>
            <a:endParaRPr lang="en-US" sz="1900" dirty="0"/>
          </a:p>
        </p:txBody>
      </p:sp>
      <p:sp>
        <p:nvSpPr>
          <p:cNvPr id="20" name="Text 17"/>
          <p:cNvSpPr txBox="1"/>
          <p:nvPr/>
        </p:nvSpPr>
        <p:spPr>
          <a:xfrm>
            <a:off x="457200" y="4572000"/>
            <a:ext cx="7406640" cy="256032"/>
          </a:xfrm>
          <a:prstGeom prst="rect">
            <a:avLst/>
          </a:prstGeom>
          <a:noFill/>
          <a:ln/>
        </p:spPr>
        <p:txBody>
          <a:bodyPr wrap="square" lIns="0" tIns="0" rIns="0" bIns="0" rtlCol="0" anchor="ctr"/>
          <a:lstStyle/>
          <a:p>
            <a:pPr indent="0" marL="0">
              <a:buNone/>
            </a:pPr>
            <a:r>
              <a:rPr lang="en-US" sz="1000" dirty="0">
                <a:solidFill>
                  <a:srgbClr val="464B53"/>
                </a:solidFill>
              </a:rPr>
              <a:t>Public sources checked 2026-10-24 (docs/REFERENCES.md). We have not tested these products.</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bg1"/>
                </a:solidFill>
              </a:rPr>
              <a:t>How Still Here answers the theme</a:t>
            </a:r>
            <a:endParaRPr lang="en-US" sz="3200" dirty="0"/>
          </a:p>
        </p:txBody>
      </p:sp>
      <p:sp>
        <p:nvSpPr>
          <p:cNvPr id="3" name="Text 1"/>
          <p:cNvSpPr txBox="1"/>
          <p:nvPr/>
        </p:nvSpPr>
        <p:spPr>
          <a:xfrm>
            <a:off x="457200" y="987552"/>
            <a:ext cx="8229600" cy="365760"/>
          </a:xfrm>
          <a:prstGeom prst="rect">
            <a:avLst/>
          </a:prstGeom>
          <a:noFill/>
          <a:ln/>
        </p:spPr>
        <p:txBody>
          <a:bodyPr wrap="square" lIns="0" tIns="0" rIns="0" bIns="0" rtlCol="0" anchor="t"/>
          <a:lstStyle/>
          <a:p>
            <a:pPr indent="0" marL="0">
              <a:buNone/>
            </a:pPr>
            <a:r>
              <a:rPr lang="en-US" sz="1400" i="1" dirty="0">
                <a:solidFill>
                  <a:srgbClr val="7FD1B0"/>
                </a:solidFill>
              </a:rPr>
              <a:t>“Build creative and innovative solutions to create a positive change in the community or the world.”</a:t>
            </a:r>
            <a:endParaRPr lang="en-US" sz="1400" dirty="0"/>
          </a:p>
        </p:txBody>
      </p:sp>
      <p:sp>
        <p:nvSpPr>
          <p:cNvPr id="4" name="quadrant"/>
          <p:cNvSpPr/>
          <p:nvPr/>
        </p:nvSpPr>
        <p:spPr>
          <a:xfrm>
            <a:off x="457200" y="1508760"/>
            <a:ext cx="4023360" cy="1508760"/>
          </a:xfrm>
          <a:prstGeom prst="roundRect">
            <a:avLst>
              <a:gd name="adj" fmla="val 7273"/>
            </a:avLst>
          </a:prstGeom>
          <a:solidFill>
            <a:srgbClr val="1E2126"/>
          </a:solidFill>
          <a:ln w="9525">
            <a:solidFill>
              <a:srgbClr val="343940"/>
            </a:solidFill>
            <a:prstDash val="solid"/>
          </a:ln>
        </p:spPr>
      </p:sp>
      <p:sp>
        <p:nvSpPr>
          <p:cNvPr id="5" name="icon LuHeart"/>
          <p:cNvSpPr/>
          <p:nvPr/>
        </p:nvSpPr>
        <p:spPr>
          <a:xfrm>
            <a:off x="658368" y="1709928"/>
            <a:ext cx="457200" cy="457200"/>
          </a:xfrm>
          <a:prstGeom prst="ellipse">
            <a:avLst/>
          </a:prstGeom>
          <a:solidFill>
            <a:srgbClr val="E2F2EC"/>
          </a:solidFill>
          <a:ln w="12700">
            <a:solidFill>
              <a:srgbClr val="E2F2EC"/>
            </a:solidFill>
            <a:prstDash val="solid"/>
          </a:ln>
        </p:spPr>
      </p:sp>
      <p:pic>
        <p:nvPicPr>
          <p:cNvPr id="6" name="Image 0" descr="preencoded.png">    </p:cNvPr>
          <p:cNvPicPr>
            <a:picLocks noChangeAspect="1"/>
          </p:cNvPicPr>
          <p:nvPr/>
        </p:nvPicPr>
        <p:blipFill>
          <a:blip r:embed="rId1"/>
          <a:stretch>
            <a:fillRect/>
          </a:stretch>
        </p:blipFill>
        <p:spPr>
          <a:xfrm>
            <a:off x="772668" y="1824228"/>
            <a:ext cx="228600" cy="228600"/>
          </a:xfrm>
          <a:prstGeom prst="rect">
            <a:avLst/>
          </a:prstGeom>
        </p:spPr>
      </p:pic>
      <p:sp>
        <p:nvSpPr>
          <p:cNvPr id="7" name="Text 4"/>
          <p:cNvSpPr txBox="1"/>
          <p:nvPr/>
        </p:nvSpPr>
        <p:spPr>
          <a:xfrm>
            <a:off x="1261872" y="1709928"/>
            <a:ext cx="3017520" cy="457200"/>
          </a:xfrm>
          <a:prstGeom prst="rect">
            <a:avLst/>
          </a:prstGeom>
          <a:noFill/>
          <a:ln/>
        </p:spPr>
        <p:txBody>
          <a:bodyPr wrap="square" lIns="0" tIns="0" rIns="0" bIns="0" rtlCol="0" anchor="ctr"/>
          <a:lstStyle/>
          <a:p>
            <a:pPr indent="0" marL="0">
              <a:buNone/>
            </a:pPr>
            <a:r>
              <a:rPr lang="en-US" sz="1800" b="1" dirty="0">
                <a:solidFill>
                  <a:srgbClr val="FFFFFF"/>
                </a:solidFill>
              </a:rPr>
              <a:t>Positive change</a:t>
            </a:r>
            <a:endParaRPr lang="en-US" sz="1800" dirty="0"/>
          </a:p>
        </p:txBody>
      </p:sp>
      <p:sp>
        <p:nvSpPr>
          <p:cNvPr id="8" name="Text 5"/>
          <p:cNvSpPr txBox="1"/>
          <p:nvPr/>
        </p:nvSpPr>
        <p:spPr>
          <a:xfrm>
            <a:off x="1261872" y="2194560"/>
            <a:ext cx="3017520" cy="777240"/>
          </a:xfrm>
          <a:prstGeom prst="rect">
            <a:avLst/>
          </a:prstGeom>
          <a:noFill/>
          <a:ln/>
        </p:spPr>
        <p:txBody>
          <a:bodyPr wrap="square" lIns="0" tIns="0" rIns="0" bIns="0" rtlCol="0" anchor="t"/>
          <a:lstStyle/>
          <a:p>
            <a:pPr indent="0" marL="0">
              <a:buNone/>
            </a:pPr>
            <a:r>
              <a:rPr lang="en-US" sz="1300" dirty="0">
                <a:solidFill>
                  <a:srgbClr val="C9CDD2"/>
                </a:solidFill>
              </a:rPr>
              <a:t>People who cannot speak or use their hands get back the speed and authorship of conversation, and so do the people talking with them.</a:t>
            </a:r>
            <a:endParaRPr lang="en-US" sz="1300" dirty="0"/>
          </a:p>
        </p:txBody>
      </p:sp>
      <p:sp>
        <p:nvSpPr>
          <p:cNvPr id="9" name="quadrant"/>
          <p:cNvSpPr/>
          <p:nvPr/>
        </p:nvSpPr>
        <p:spPr>
          <a:xfrm>
            <a:off x="4663440" y="1508760"/>
            <a:ext cx="4023360" cy="1508760"/>
          </a:xfrm>
          <a:prstGeom prst="roundRect">
            <a:avLst>
              <a:gd name="adj" fmla="val 7273"/>
            </a:avLst>
          </a:prstGeom>
          <a:solidFill>
            <a:srgbClr val="1E2126"/>
          </a:solidFill>
          <a:ln w="9525">
            <a:solidFill>
              <a:srgbClr val="343940"/>
            </a:solidFill>
            <a:prstDash val="solid"/>
          </a:ln>
        </p:spPr>
      </p:sp>
      <p:sp>
        <p:nvSpPr>
          <p:cNvPr id="10" name="icon LuUsers"/>
          <p:cNvSpPr/>
          <p:nvPr/>
        </p:nvSpPr>
        <p:spPr>
          <a:xfrm>
            <a:off x="4864608" y="1709928"/>
            <a:ext cx="457200" cy="457200"/>
          </a:xfrm>
          <a:prstGeom prst="ellipse">
            <a:avLst/>
          </a:prstGeom>
          <a:solidFill>
            <a:srgbClr val="E2F2EC"/>
          </a:solidFill>
          <a:ln w="12700">
            <a:solidFill>
              <a:srgbClr val="E2F2EC"/>
            </a:solidFill>
            <a:prstDash val="solid"/>
          </a:ln>
        </p:spPr>
      </p:sp>
      <p:pic>
        <p:nvPicPr>
          <p:cNvPr id="11" name="Image 1" descr="preencoded.png">    </p:cNvPr>
          <p:cNvPicPr>
            <a:picLocks noChangeAspect="1"/>
          </p:cNvPicPr>
          <p:nvPr/>
        </p:nvPicPr>
        <p:blipFill>
          <a:blip r:embed="rId2"/>
          <a:stretch>
            <a:fillRect/>
          </a:stretch>
        </p:blipFill>
        <p:spPr>
          <a:xfrm>
            <a:off x="4978908" y="1824228"/>
            <a:ext cx="228600" cy="228600"/>
          </a:xfrm>
          <a:prstGeom prst="rect">
            <a:avLst/>
          </a:prstGeom>
        </p:spPr>
      </p:pic>
      <p:sp>
        <p:nvSpPr>
          <p:cNvPr id="12" name="Text 8"/>
          <p:cNvSpPr txBox="1"/>
          <p:nvPr/>
        </p:nvSpPr>
        <p:spPr>
          <a:xfrm>
            <a:off x="5468112" y="1709928"/>
            <a:ext cx="3017520" cy="457200"/>
          </a:xfrm>
          <a:prstGeom prst="rect">
            <a:avLst/>
          </a:prstGeom>
          <a:noFill/>
          <a:ln/>
        </p:spPr>
        <p:txBody>
          <a:bodyPr wrap="square" lIns="0" tIns="0" rIns="0" bIns="0" rtlCol="0" anchor="ctr"/>
          <a:lstStyle/>
          <a:p>
            <a:pPr indent="0" marL="0">
              <a:buNone/>
            </a:pPr>
            <a:r>
              <a:rPr lang="en-US" sz="1800" b="1" dirty="0">
                <a:solidFill>
                  <a:srgbClr val="FFFFFF"/>
                </a:solidFill>
              </a:rPr>
              <a:t>Community</a:t>
            </a:r>
            <a:endParaRPr lang="en-US" sz="1800" dirty="0"/>
          </a:p>
        </p:txBody>
      </p:sp>
      <p:sp>
        <p:nvSpPr>
          <p:cNvPr id="13" name="Text 9"/>
          <p:cNvSpPr txBox="1"/>
          <p:nvPr/>
        </p:nvSpPr>
        <p:spPr>
          <a:xfrm>
            <a:off x="5468112" y="2194560"/>
            <a:ext cx="3017520" cy="777240"/>
          </a:xfrm>
          <a:prstGeom prst="rect">
            <a:avLst/>
          </a:prstGeom>
          <a:noFill/>
          <a:ln/>
        </p:spPr>
        <p:txBody>
          <a:bodyPr wrap="square" lIns="0" tIns="0" rIns="0" bIns="0" rtlCol="0" anchor="t"/>
          <a:lstStyle/>
          <a:p>
            <a:pPr indent="0" marL="0">
              <a:buNone/>
            </a:pPr>
            <a:r>
              <a:rPr lang="en-US" sz="1300" dirty="0">
                <a:solidFill>
                  <a:srgbClr val="C9CDD2"/>
                </a:solidFill>
              </a:rPr>
              <a:t>Caregivers, speech-language pathologists, classrooms, hospitals. A stock iPad, no eye-gaze hardware.</a:t>
            </a:r>
            <a:endParaRPr lang="en-US" sz="1300" dirty="0"/>
          </a:p>
        </p:txBody>
      </p:sp>
      <p:sp>
        <p:nvSpPr>
          <p:cNvPr id="14" name="quadrant"/>
          <p:cNvSpPr/>
          <p:nvPr/>
        </p:nvSpPr>
        <p:spPr>
          <a:xfrm>
            <a:off x="457200" y="3200400"/>
            <a:ext cx="4023360" cy="1508760"/>
          </a:xfrm>
          <a:prstGeom prst="roundRect">
            <a:avLst>
              <a:gd name="adj" fmla="val 7273"/>
            </a:avLst>
          </a:prstGeom>
          <a:solidFill>
            <a:srgbClr val="1E2126"/>
          </a:solidFill>
          <a:ln w="9525">
            <a:solidFill>
              <a:srgbClr val="343940"/>
            </a:solidFill>
            <a:prstDash val="solid"/>
          </a:ln>
        </p:spPr>
      </p:sp>
      <p:sp>
        <p:nvSpPr>
          <p:cNvPr id="15" name="icon LuLightbulb"/>
          <p:cNvSpPr/>
          <p:nvPr/>
        </p:nvSpPr>
        <p:spPr>
          <a:xfrm>
            <a:off x="658368" y="3401568"/>
            <a:ext cx="457200" cy="457200"/>
          </a:xfrm>
          <a:prstGeom prst="ellipse">
            <a:avLst/>
          </a:prstGeom>
          <a:solidFill>
            <a:srgbClr val="E2F2EC"/>
          </a:solidFill>
          <a:ln w="12700">
            <a:solidFill>
              <a:srgbClr val="E2F2EC"/>
            </a:solidFill>
            <a:prstDash val="solid"/>
          </a:ln>
        </p:spPr>
      </p:sp>
      <p:pic>
        <p:nvPicPr>
          <p:cNvPr id="16" name="Image 2" descr="preencoded.png">    </p:cNvPr>
          <p:cNvPicPr>
            <a:picLocks noChangeAspect="1"/>
          </p:cNvPicPr>
          <p:nvPr/>
        </p:nvPicPr>
        <p:blipFill>
          <a:blip r:embed="rId3"/>
          <a:stretch>
            <a:fillRect/>
          </a:stretch>
        </p:blipFill>
        <p:spPr>
          <a:xfrm>
            <a:off x="772668" y="3515868"/>
            <a:ext cx="228600" cy="228600"/>
          </a:xfrm>
          <a:prstGeom prst="rect">
            <a:avLst/>
          </a:prstGeom>
        </p:spPr>
      </p:pic>
      <p:sp>
        <p:nvSpPr>
          <p:cNvPr id="17" name="Text 12"/>
          <p:cNvSpPr txBox="1"/>
          <p:nvPr/>
        </p:nvSpPr>
        <p:spPr>
          <a:xfrm>
            <a:off x="1261872" y="3401568"/>
            <a:ext cx="3017520" cy="457200"/>
          </a:xfrm>
          <a:prstGeom prst="rect">
            <a:avLst/>
          </a:prstGeom>
          <a:noFill/>
          <a:ln/>
        </p:spPr>
        <p:txBody>
          <a:bodyPr wrap="square" lIns="0" tIns="0" rIns="0" bIns="0" rtlCol="0" anchor="ctr"/>
          <a:lstStyle/>
          <a:p>
            <a:pPr indent="0" marL="0">
              <a:buNone/>
            </a:pPr>
            <a:r>
              <a:rPr lang="en-US" sz="1800" b="1" dirty="0">
                <a:solidFill>
                  <a:srgbClr val="FFFFFF"/>
                </a:solidFill>
              </a:rPr>
              <a:t>Creative</a:t>
            </a:r>
            <a:endParaRPr lang="en-US" sz="1800" dirty="0"/>
          </a:p>
        </p:txBody>
      </p:sp>
      <p:sp>
        <p:nvSpPr>
          <p:cNvPr id="18" name="Text 13"/>
          <p:cNvSpPr txBox="1"/>
          <p:nvPr/>
        </p:nvSpPr>
        <p:spPr>
          <a:xfrm>
            <a:off x="1261872" y="3886200"/>
            <a:ext cx="3017520" cy="777240"/>
          </a:xfrm>
          <a:prstGeom prst="rect">
            <a:avLst/>
          </a:prstGeom>
          <a:noFill/>
          <a:ln/>
        </p:spPr>
        <p:txBody>
          <a:bodyPr wrap="square" lIns="0" tIns="0" rIns="0" bIns="0" rtlCol="0" anchor="t"/>
          <a:lstStyle/>
          <a:p>
            <a:pPr indent="0" marL="0">
              <a:buNone/>
            </a:pPr>
            <a:r>
              <a:rPr lang="en-US" sz="1300" dirty="0">
                <a:solidFill>
                  <a:srgbClr val="C9CDD2"/>
                </a:solidFill>
              </a:rPr>
              <a:t>Eyebrows, blink, and jaw on a front camera. Other ways to answer. It learns you, with permission.</a:t>
            </a:r>
            <a:endParaRPr lang="en-US" sz="1300" dirty="0"/>
          </a:p>
        </p:txBody>
      </p:sp>
      <p:sp>
        <p:nvSpPr>
          <p:cNvPr id="19" name="quadrant"/>
          <p:cNvSpPr/>
          <p:nvPr/>
        </p:nvSpPr>
        <p:spPr>
          <a:xfrm>
            <a:off x="4663440" y="3200400"/>
            <a:ext cx="4023360" cy="1508760"/>
          </a:xfrm>
          <a:prstGeom prst="roundRect">
            <a:avLst>
              <a:gd name="adj" fmla="val 7273"/>
            </a:avLst>
          </a:prstGeom>
          <a:solidFill>
            <a:srgbClr val="1E2126"/>
          </a:solidFill>
          <a:ln w="9525">
            <a:solidFill>
              <a:srgbClr val="343940"/>
            </a:solidFill>
            <a:prstDash val="solid"/>
          </a:ln>
        </p:spPr>
      </p:sp>
      <p:sp>
        <p:nvSpPr>
          <p:cNvPr id="20" name="icon LuSparkles"/>
          <p:cNvSpPr/>
          <p:nvPr/>
        </p:nvSpPr>
        <p:spPr>
          <a:xfrm>
            <a:off x="4864608" y="3401568"/>
            <a:ext cx="457200" cy="457200"/>
          </a:xfrm>
          <a:prstGeom prst="ellipse">
            <a:avLst/>
          </a:prstGeom>
          <a:solidFill>
            <a:srgbClr val="E2F2EC"/>
          </a:solidFill>
          <a:ln w="12700">
            <a:solidFill>
              <a:srgbClr val="E2F2EC"/>
            </a:solidFill>
            <a:prstDash val="solid"/>
          </a:ln>
        </p:spPr>
      </p:sp>
      <p:pic>
        <p:nvPicPr>
          <p:cNvPr id="21" name="Image 3" descr="preencoded.png">    </p:cNvPr>
          <p:cNvPicPr>
            <a:picLocks noChangeAspect="1"/>
          </p:cNvPicPr>
          <p:nvPr/>
        </p:nvPicPr>
        <p:blipFill>
          <a:blip r:embed="rId4"/>
          <a:stretch>
            <a:fillRect/>
          </a:stretch>
        </p:blipFill>
        <p:spPr>
          <a:xfrm>
            <a:off x="4978908" y="3515868"/>
            <a:ext cx="228600" cy="228600"/>
          </a:xfrm>
          <a:prstGeom prst="rect">
            <a:avLst/>
          </a:prstGeom>
        </p:spPr>
      </p:pic>
      <p:sp>
        <p:nvSpPr>
          <p:cNvPr id="22" name="Text 16"/>
          <p:cNvSpPr txBox="1"/>
          <p:nvPr/>
        </p:nvSpPr>
        <p:spPr>
          <a:xfrm>
            <a:off x="5468112" y="3401568"/>
            <a:ext cx="3017520" cy="457200"/>
          </a:xfrm>
          <a:prstGeom prst="rect">
            <a:avLst/>
          </a:prstGeom>
          <a:noFill/>
          <a:ln/>
        </p:spPr>
        <p:txBody>
          <a:bodyPr wrap="square" lIns="0" tIns="0" rIns="0" bIns="0" rtlCol="0" anchor="ctr"/>
          <a:lstStyle/>
          <a:p>
            <a:pPr indent="0" marL="0">
              <a:buNone/>
            </a:pPr>
            <a:r>
              <a:rPr lang="en-US" sz="1800" b="1" dirty="0">
                <a:solidFill>
                  <a:srgbClr val="FFFFFF"/>
                </a:solidFill>
              </a:rPr>
              <a:t>Innovative</a:t>
            </a:r>
            <a:endParaRPr lang="en-US" sz="1800" dirty="0"/>
          </a:p>
        </p:txBody>
      </p:sp>
      <p:sp>
        <p:nvSpPr>
          <p:cNvPr id="23" name="Text 17"/>
          <p:cNvSpPr txBox="1"/>
          <p:nvPr/>
        </p:nvSpPr>
        <p:spPr>
          <a:xfrm>
            <a:off x="5468112" y="3886200"/>
            <a:ext cx="3017520" cy="777240"/>
          </a:xfrm>
          <a:prstGeom prst="rect">
            <a:avLst/>
          </a:prstGeom>
          <a:noFill/>
          <a:ln/>
        </p:spPr>
        <p:txBody>
          <a:bodyPr wrap="square" lIns="0" tIns="0" rIns="0" bIns="0" rtlCol="0" anchor="t"/>
          <a:lstStyle/>
          <a:p>
            <a:pPr indent="0" marL="0">
              <a:buNone/>
            </a:pPr>
            <a:r>
              <a:rPr lang="en-US" sz="1300" dirty="0">
                <a:solidFill>
                  <a:srgbClr val="C9CDD2"/>
                </a:solidFill>
              </a:rPr>
              <a:t>AI offers, the person decides. On-device face tracking. Prefetched natural voice.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What comes next</a:t>
            </a:r>
            <a:endParaRPr lang="en-US" sz="3200" dirty="0"/>
          </a:p>
        </p:txBody>
      </p:sp>
      <p:sp>
        <p:nvSpPr>
          <p:cNvPr id="3" name="card"/>
          <p:cNvSpPr/>
          <p:nvPr/>
        </p:nvSpPr>
        <p:spPr>
          <a:xfrm>
            <a:off x="457200" y="1234440"/>
            <a:ext cx="1783080" cy="1783080"/>
          </a:xfrm>
          <a:prstGeom prst="roundRect">
            <a:avLst>
              <a:gd name="adj" fmla="val 615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4" name="icon LuUsers"/>
          <p:cNvSpPr/>
          <p:nvPr/>
        </p:nvSpPr>
        <p:spPr>
          <a:xfrm>
            <a:off x="658368" y="1435608"/>
            <a:ext cx="502920" cy="502920"/>
          </a:xfrm>
          <a:prstGeom prst="ellipse">
            <a:avLst/>
          </a:prstGeom>
          <a:solidFill>
            <a:srgbClr val="0B5D46"/>
          </a:solidFill>
          <a:ln w="12700">
            <a:solidFill>
              <a:srgbClr val="0B5D46"/>
            </a:solidFill>
            <a:prstDash val="solid"/>
          </a:ln>
        </p:spPr>
      </p:sp>
      <p:pic>
        <p:nvPicPr>
          <p:cNvPr id="5" name="Image 0" descr="preencoded.png">    </p:cNvPr>
          <p:cNvPicPr>
            <a:picLocks noChangeAspect="1"/>
          </p:cNvPicPr>
          <p:nvPr/>
        </p:nvPicPr>
        <p:blipFill>
          <a:blip r:embed="rId1"/>
          <a:stretch>
            <a:fillRect/>
          </a:stretch>
        </p:blipFill>
        <p:spPr>
          <a:xfrm>
            <a:off x="784098" y="1561338"/>
            <a:ext cx="251460" cy="251460"/>
          </a:xfrm>
          <a:prstGeom prst="rect">
            <a:avLst/>
          </a:prstGeom>
        </p:spPr>
      </p:pic>
      <p:sp>
        <p:nvSpPr>
          <p:cNvPr id="6" name="Text 3"/>
          <p:cNvSpPr txBox="1"/>
          <p:nvPr/>
        </p:nvSpPr>
        <p:spPr>
          <a:xfrm>
            <a:off x="1783080" y="1463040"/>
            <a:ext cx="274320" cy="274320"/>
          </a:xfrm>
          <a:prstGeom prst="rect">
            <a:avLst/>
          </a:prstGeom>
          <a:noFill/>
          <a:ln/>
        </p:spPr>
        <p:txBody>
          <a:bodyPr wrap="square" lIns="0" tIns="0" rIns="0" bIns="0" rtlCol="0" anchor="t"/>
          <a:lstStyle/>
          <a:p>
            <a:pPr algn="r" indent="0" marL="0">
              <a:buNone/>
            </a:pPr>
            <a:r>
              <a:rPr lang="en-US" sz="1400" b="1" dirty="0">
                <a:solidFill>
                  <a:srgbClr val="8A9099"/>
                </a:solidFill>
              </a:rPr>
              <a:t>1</a:t>
            </a:r>
            <a:endParaRPr lang="en-US" sz="1400" dirty="0"/>
          </a:p>
        </p:txBody>
      </p:sp>
      <p:sp>
        <p:nvSpPr>
          <p:cNvPr id="7" name="Text 4"/>
          <p:cNvSpPr txBox="1"/>
          <p:nvPr/>
        </p:nvSpPr>
        <p:spPr>
          <a:xfrm>
            <a:off x="658368" y="2075688"/>
            <a:ext cx="1417320" cy="822960"/>
          </a:xfrm>
          <a:prstGeom prst="rect">
            <a:avLst/>
          </a:prstGeom>
          <a:noFill/>
          <a:ln/>
        </p:spPr>
        <p:txBody>
          <a:bodyPr wrap="square" lIns="0" tIns="0" rIns="0" bIns="0" rtlCol="0" anchor="t"/>
          <a:lstStyle/>
          <a:p>
            <a:pPr indent="0" marL="0">
              <a:buNone/>
            </a:pPr>
            <a:r>
              <a:rPr lang="en-US" sz="1500" b="1" dirty="0">
                <a:solidFill>
                  <a:srgbClr val="121417"/>
                </a:solidFill>
              </a:rPr>
              <a:t>Co-design with AAC users and SLPs</a:t>
            </a:r>
            <a:endParaRPr lang="en-US" sz="1500" dirty="0"/>
          </a:p>
        </p:txBody>
      </p:sp>
      <p:sp>
        <p:nvSpPr>
          <p:cNvPr id="8" name="Shape 5"/>
          <p:cNvSpPr/>
          <p:nvPr/>
        </p:nvSpPr>
        <p:spPr>
          <a:xfrm>
            <a:off x="2295144" y="2130552"/>
            <a:ext cx="256032" cy="914"/>
          </a:xfrm>
          <a:prstGeom prst="line">
            <a:avLst/>
          </a:prstGeom>
          <a:noFill/>
          <a:ln w="19050">
            <a:solidFill>
              <a:srgbClr val="0B5D46"/>
            </a:solidFill>
            <a:prstDash val="solid"/>
            <a:tailEnd type="triangle"/>
          </a:ln>
        </p:spPr>
      </p:sp>
      <p:sp>
        <p:nvSpPr>
          <p:cNvPr id="9" name="card"/>
          <p:cNvSpPr/>
          <p:nvPr/>
        </p:nvSpPr>
        <p:spPr>
          <a:xfrm>
            <a:off x="2606040" y="1234440"/>
            <a:ext cx="1783080" cy="1783080"/>
          </a:xfrm>
          <a:prstGeom prst="roundRect">
            <a:avLst>
              <a:gd name="adj" fmla="val 615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0" name="icon LuGauge"/>
          <p:cNvSpPr/>
          <p:nvPr/>
        </p:nvSpPr>
        <p:spPr>
          <a:xfrm>
            <a:off x="2807208" y="1435608"/>
            <a:ext cx="502920" cy="502920"/>
          </a:xfrm>
          <a:prstGeom prst="ellipse">
            <a:avLst/>
          </a:prstGeom>
          <a:solidFill>
            <a:srgbClr val="0B5D46"/>
          </a:solidFill>
          <a:ln w="12700">
            <a:solidFill>
              <a:srgbClr val="0B5D46"/>
            </a:solidFill>
            <a:prstDash val="solid"/>
          </a:ln>
        </p:spPr>
      </p:sp>
      <p:pic>
        <p:nvPicPr>
          <p:cNvPr id="11" name="Image 1" descr="preencoded.png">    </p:cNvPr>
          <p:cNvPicPr>
            <a:picLocks noChangeAspect="1"/>
          </p:cNvPicPr>
          <p:nvPr/>
        </p:nvPicPr>
        <p:blipFill>
          <a:blip r:embed="rId2"/>
          <a:stretch>
            <a:fillRect/>
          </a:stretch>
        </p:blipFill>
        <p:spPr>
          <a:xfrm>
            <a:off x="2932938" y="1561338"/>
            <a:ext cx="251460" cy="251460"/>
          </a:xfrm>
          <a:prstGeom prst="rect">
            <a:avLst/>
          </a:prstGeom>
        </p:spPr>
      </p:pic>
      <p:sp>
        <p:nvSpPr>
          <p:cNvPr id="12" name="Text 8"/>
          <p:cNvSpPr txBox="1"/>
          <p:nvPr/>
        </p:nvSpPr>
        <p:spPr>
          <a:xfrm>
            <a:off x="3931920" y="1463040"/>
            <a:ext cx="274320" cy="274320"/>
          </a:xfrm>
          <a:prstGeom prst="rect">
            <a:avLst/>
          </a:prstGeom>
          <a:noFill/>
          <a:ln/>
        </p:spPr>
        <p:txBody>
          <a:bodyPr wrap="square" lIns="0" tIns="0" rIns="0" bIns="0" rtlCol="0" anchor="t"/>
          <a:lstStyle/>
          <a:p>
            <a:pPr algn="r" indent="0" marL="0">
              <a:buNone/>
            </a:pPr>
            <a:r>
              <a:rPr lang="en-US" sz="1400" b="1" dirty="0">
                <a:solidFill>
                  <a:srgbClr val="8A9099"/>
                </a:solidFill>
              </a:rPr>
              <a:t>2</a:t>
            </a:r>
            <a:endParaRPr lang="en-US" sz="1400" dirty="0"/>
          </a:p>
        </p:txBody>
      </p:sp>
      <p:sp>
        <p:nvSpPr>
          <p:cNvPr id="13" name="Text 9"/>
          <p:cNvSpPr txBox="1"/>
          <p:nvPr/>
        </p:nvSpPr>
        <p:spPr>
          <a:xfrm>
            <a:off x="2807208" y="2075688"/>
            <a:ext cx="1417320" cy="822960"/>
          </a:xfrm>
          <a:prstGeom prst="rect">
            <a:avLst/>
          </a:prstGeom>
          <a:noFill/>
          <a:ln/>
        </p:spPr>
        <p:txBody>
          <a:bodyPr wrap="square" lIns="0" tIns="0" rIns="0" bIns="0" rtlCol="0" anchor="t"/>
          <a:lstStyle/>
          <a:p>
            <a:pPr indent="0" marL="0">
              <a:buNone/>
            </a:pPr>
            <a:r>
              <a:rPr lang="en-US" sz="1500" b="1" dirty="0">
                <a:solidFill>
                  <a:srgbClr val="121417"/>
                </a:solidFill>
              </a:rPr>
              <a:t>Measure reliability and latency on iPad</a:t>
            </a:r>
            <a:endParaRPr lang="en-US" sz="1500" dirty="0"/>
          </a:p>
        </p:txBody>
      </p:sp>
      <p:sp>
        <p:nvSpPr>
          <p:cNvPr id="14" name="Shape 10"/>
          <p:cNvSpPr/>
          <p:nvPr/>
        </p:nvSpPr>
        <p:spPr>
          <a:xfrm>
            <a:off x="4443984" y="2130552"/>
            <a:ext cx="256032" cy="914"/>
          </a:xfrm>
          <a:prstGeom prst="line">
            <a:avLst/>
          </a:prstGeom>
          <a:noFill/>
          <a:ln w="19050">
            <a:solidFill>
              <a:srgbClr val="0B5D46"/>
            </a:solidFill>
            <a:prstDash val="solid"/>
            <a:tailEnd type="triangle"/>
          </a:ln>
        </p:spPr>
      </p:sp>
      <p:sp>
        <p:nvSpPr>
          <p:cNvPr id="15" name="card"/>
          <p:cNvSpPr/>
          <p:nvPr/>
        </p:nvSpPr>
        <p:spPr>
          <a:xfrm>
            <a:off x="4754880" y="1234440"/>
            <a:ext cx="1783080" cy="1783080"/>
          </a:xfrm>
          <a:prstGeom prst="roundRect">
            <a:avLst>
              <a:gd name="adj" fmla="val 615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6" name="icon LuSmartphone"/>
          <p:cNvSpPr/>
          <p:nvPr/>
        </p:nvSpPr>
        <p:spPr>
          <a:xfrm>
            <a:off x="4956048" y="1435608"/>
            <a:ext cx="502920" cy="502920"/>
          </a:xfrm>
          <a:prstGeom prst="ellipse">
            <a:avLst/>
          </a:prstGeom>
          <a:solidFill>
            <a:srgbClr val="0B5D46"/>
          </a:solidFill>
          <a:ln w="12700">
            <a:solidFill>
              <a:srgbClr val="0B5D46"/>
            </a:solidFill>
            <a:prstDash val="solid"/>
          </a:ln>
        </p:spPr>
      </p:sp>
      <p:pic>
        <p:nvPicPr>
          <p:cNvPr id="17" name="Image 2" descr="preencoded.png">    </p:cNvPr>
          <p:cNvPicPr>
            <a:picLocks noChangeAspect="1"/>
          </p:cNvPicPr>
          <p:nvPr/>
        </p:nvPicPr>
        <p:blipFill>
          <a:blip r:embed="rId3"/>
          <a:stretch>
            <a:fillRect/>
          </a:stretch>
        </p:blipFill>
        <p:spPr>
          <a:xfrm>
            <a:off x="5081778" y="1561338"/>
            <a:ext cx="251460" cy="251460"/>
          </a:xfrm>
          <a:prstGeom prst="rect">
            <a:avLst/>
          </a:prstGeom>
        </p:spPr>
      </p:pic>
      <p:sp>
        <p:nvSpPr>
          <p:cNvPr id="18" name="Text 13"/>
          <p:cNvSpPr txBox="1"/>
          <p:nvPr/>
        </p:nvSpPr>
        <p:spPr>
          <a:xfrm>
            <a:off x="6080760" y="1463040"/>
            <a:ext cx="274320" cy="274320"/>
          </a:xfrm>
          <a:prstGeom prst="rect">
            <a:avLst/>
          </a:prstGeom>
          <a:noFill/>
          <a:ln/>
        </p:spPr>
        <p:txBody>
          <a:bodyPr wrap="square" lIns="0" tIns="0" rIns="0" bIns="0" rtlCol="0" anchor="t"/>
          <a:lstStyle/>
          <a:p>
            <a:pPr algn="r" indent="0" marL="0">
              <a:buNone/>
            </a:pPr>
            <a:r>
              <a:rPr lang="en-US" sz="1400" b="1" dirty="0">
                <a:solidFill>
                  <a:srgbClr val="8A9099"/>
                </a:solidFill>
              </a:rPr>
              <a:t>3</a:t>
            </a:r>
            <a:endParaRPr lang="en-US" sz="1400" dirty="0"/>
          </a:p>
        </p:txBody>
      </p:sp>
      <p:sp>
        <p:nvSpPr>
          <p:cNvPr id="19" name="Text 14"/>
          <p:cNvSpPr txBox="1"/>
          <p:nvPr/>
        </p:nvSpPr>
        <p:spPr>
          <a:xfrm>
            <a:off x="4956048" y="2075688"/>
            <a:ext cx="1417320" cy="822960"/>
          </a:xfrm>
          <a:prstGeom prst="rect">
            <a:avLst/>
          </a:prstGeom>
          <a:noFill/>
          <a:ln/>
        </p:spPr>
        <p:txBody>
          <a:bodyPr wrap="square" lIns="0" tIns="0" rIns="0" bIns="0" rtlCol="0" anchor="t"/>
          <a:lstStyle/>
          <a:p>
            <a:pPr indent="0" marL="0">
              <a:buNone/>
            </a:pPr>
            <a:r>
              <a:rPr lang="en-US" sz="1500" b="1" dirty="0">
                <a:solidFill>
                  <a:srgbClr val="121417"/>
                </a:solidFill>
              </a:rPr>
              <a:t>Bring it to phones</a:t>
            </a:r>
            <a:endParaRPr lang="en-US" sz="1500" dirty="0"/>
          </a:p>
        </p:txBody>
      </p:sp>
      <p:sp>
        <p:nvSpPr>
          <p:cNvPr id="20" name="Shape 15"/>
          <p:cNvSpPr/>
          <p:nvPr/>
        </p:nvSpPr>
        <p:spPr>
          <a:xfrm>
            <a:off x="6592824" y="2130552"/>
            <a:ext cx="256032" cy="914"/>
          </a:xfrm>
          <a:prstGeom prst="line">
            <a:avLst/>
          </a:prstGeom>
          <a:noFill/>
          <a:ln w="19050">
            <a:solidFill>
              <a:srgbClr val="0B5D46"/>
            </a:solidFill>
            <a:prstDash val="solid"/>
            <a:tailEnd type="triangle"/>
          </a:ln>
        </p:spPr>
      </p:sp>
      <p:sp>
        <p:nvSpPr>
          <p:cNvPr id="21" name="card"/>
          <p:cNvSpPr/>
          <p:nvPr/>
        </p:nvSpPr>
        <p:spPr>
          <a:xfrm>
            <a:off x="6903720" y="1234440"/>
            <a:ext cx="1783080" cy="1783080"/>
          </a:xfrm>
          <a:prstGeom prst="roundRect">
            <a:avLst>
              <a:gd name="adj" fmla="val 6154"/>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22" name="icon LuAudioLines"/>
          <p:cNvSpPr/>
          <p:nvPr/>
        </p:nvSpPr>
        <p:spPr>
          <a:xfrm>
            <a:off x="7104888" y="1435608"/>
            <a:ext cx="502920" cy="502920"/>
          </a:xfrm>
          <a:prstGeom prst="ellipse">
            <a:avLst/>
          </a:prstGeom>
          <a:solidFill>
            <a:srgbClr val="0B5D46"/>
          </a:solidFill>
          <a:ln w="12700">
            <a:solidFill>
              <a:srgbClr val="0B5D46"/>
            </a:solidFill>
            <a:prstDash val="solid"/>
          </a:ln>
        </p:spPr>
      </p:sp>
      <p:pic>
        <p:nvPicPr>
          <p:cNvPr id="23" name="Image 3" descr="preencoded.png">    </p:cNvPr>
          <p:cNvPicPr>
            <a:picLocks noChangeAspect="1"/>
          </p:cNvPicPr>
          <p:nvPr/>
        </p:nvPicPr>
        <p:blipFill>
          <a:blip r:embed="rId4"/>
          <a:stretch>
            <a:fillRect/>
          </a:stretch>
        </p:blipFill>
        <p:spPr>
          <a:xfrm>
            <a:off x="7230618" y="1561338"/>
            <a:ext cx="251460" cy="251460"/>
          </a:xfrm>
          <a:prstGeom prst="rect">
            <a:avLst/>
          </a:prstGeom>
        </p:spPr>
      </p:pic>
      <p:sp>
        <p:nvSpPr>
          <p:cNvPr id="24" name="Text 18"/>
          <p:cNvSpPr txBox="1"/>
          <p:nvPr/>
        </p:nvSpPr>
        <p:spPr>
          <a:xfrm>
            <a:off x="8229600" y="1463040"/>
            <a:ext cx="274320" cy="274320"/>
          </a:xfrm>
          <a:prstGeom prst="rect">
            <a:avLst/>
          </a:prstGeom>
          <a:noFill/>
          <a:ln/>
        </p:spPr>
        <p:txBody>
          <a:bodyPr wrap="square" lIns="0" tIns="0" rIns="0" bIns="0" rtlCol="0" anchor="t"/>
          <a:lstStyle/>
          <a:p>
            <a:pPr algn="r" indent="0" marL="0">
              <a:buNone/>
            </a:pPr>
            <a:r>
              <a:rPr lang="en-US" sz="1400" b="1" dirty="0">
                <a:solidFill>
                  <a:srgbClr val="8A9099"/>
                </a:solidFill>
              </a:rPr>
              <a:t>4</a:t>
            </a:r>
            <a:endParaRPr lang="en-US" sz="1400" dirty="0"/>
          </a:p>
        </p:txBody>
      </p:sp>
      <p:sp>
        <p:nvSpPr>
          <p:cNvPr id="25" name="Text 19"/>
          <p:cNvSpPr txBox="1"/>
          <p:nvPr/>
        </p:nvSpPr>
        <p:spPr>
          <a:xfrm>
            <a:off x="7104888" y="2075688"/>
            <a:ext cx="1417320" cy="822960"/>
          </a:xfrm>
          <a:prstGeom prst="rect">
            <a:avLst/>
          </a:prstGeom>
          <a:noFill/>
          <a:ln/>
        </p:spPr>
        <p:txBody>
          <a:bodyPr wrap="square" lIns="0" tIns="0" rIns="0" bIns="0" rtlCol="0" anchor="t"/>
          <a:lstStyle/>
          <a:p>
            <a:pPr indent="0" marL="0">
              <a:buNone/>
            </a:pPr>
            <a:r>
              <a:rPr lang="en-US" sz="1500" b="1" dirty="0">
                <a:solidFill>
                  <a:srgbClr val="121417"/>
                </a:solidFill>
              </a:rPr>
              <a:t>Personal voice with consent, on-device models</a:t>
            </a:r>
            <a:endParaRPr lang="en-US" sz="1500" dirty="0"/>
          </a:p>
        </p:txBody>
      </p:sp>
      <p:sp>
        <p:nvSpPr>
          <p:cNvPr id="26" name="ask callout"/>
          <p:cNvSpPr/>
          <p:nvPr/>
        </p:nvSpPr>
        <p:spPr>
          <a:xfrm>
            <a:off x="457200" y="3337560"/>
            <a:ext cx="8229600" cy="1051560"/>
          </a:xfrm>
          <a:prstGeom prst="roundRect">
            <a:avLst>
              <a:gd name="adj" fmla="val 10435"/>
            </a:avLst>
          </a:prstGeom>
          <a:solidFill>
            <a:srgbClr val="0B5D46"/>
          </a:solidFill>
          <a:ln w="12700">
            <a:solidFill>
              <a:srgbClr val="0B5D46"/>
            </a:solidFill>
            <a:prstDash val="solid"/>
          </a:ln>
        </p:spPr>
      </p:sp>
      <p:pic>
        <p:nvPicPr>
          <p:cNvPr id="27" name="Image 4" descr="preencoded.png">    </p:cNvPr>
          <p:cNvPicPr>
            <a:picLocks noChangeAspect="1"/>
          </p:cNvPicPr>
          <p:nvPr/>
        </p:nvPicPr>
        <p:blipFill>
          <a:blip r:embed="rId5"/>
          <a:stretch>
            <a:fillRect/>
          </a:stretch>
        </p:blipFill>
        <p:spPr>
          <a:xfrm>
            <a:off x="731520" y="3630168"/>
            <a:ext cx="457200" cy="457200"/>
          </a:xfrm>
          <a:prstGeom prst="rect">
            <a:avLst/>
          </a:prstGeom>
        </p:spPr>
      </p:pic>
      <p:sp>
        <p:nvSpPr>
          <p:cNvPr id="28" name="Text 21"/>
          <p:cNvSpPr txBox="1"/>
          <p:nvPr/>
        </p:nvSpPr>
        <p:spPr>
          <a:xfrm>
            <a:off x="1417320" y="3429000"/>
            <a:ext cx="7040880" cy="457200"/>
          </a:xfrm>
          <a:prstGeom prst="rect">
            <a:avLst/>
          </a:prstGeom>
          <a:noFill/>
          <a:ln/>
        </p:spPr>
        <p:txBody>
          <a:bodyPr wrap="square" lIns="0" tIns="0" rIns="0" bIns="0" rtlCol="0" anchor="ctr"/>
          <a:lstStyle/>
          <a:p>
            <a:pPr indent="0" marL="0">
              <a:buNone/>
            </a:pPr>
            <a:r>
              <a:rPr lang="en-US" sz="2200" b="1" dirty="0">
                <a:solidFill>
                  <a:srgbClr val="FFFFFF"/>
                </a:solidFill>
              </a:rPr>
              <a:t>We are looking for co-design partners.</a:t>
            </a:r>
            <a:endParaRPr lang="en-US" sz="2200" dirty="0"/>
          </a:p>
        </p:txBody>
      </p:sp>
      <p:sp>
        <p:nvSpPr>
          <p:cNvPr id="29" name="Text 22"/>
          <p:cNvSpPr txBox="1"/>
          <p:nvPr/>
        </p:nvSpPr>
        <p:spPr>
          <a:xfrm>
            <a:off x="1417320" y="3858768"/>
            <a:ext cx="7040880" cy="411480"/>
          </a:xfrm>
          <a:prstGeom prst="rect">
            <a:avLst/>
          </a:prstGeom>
          <a:noFill/>
          <a:ln/>
        </p:spPr>
        <p:txBody>
          <a:bodyPr wrap="square" lIns="0" tIns="0" rIns="0" bIns="0" rtlCol="0" anchor="ctr"/>
          <a:lstStyle/>
          <a:p>
            <a:pPr indent="0" marL="0">
              <a:buNone/>
            </a:pPr>
            <a:r>
              <a:rPr lang="en-US" sz="1500" dirty="0">
                <a:solidFill>
                  <a:srgbClr val="E2F2EC"/>
                </a:solidFill>
              </a:rPr>
              <a:t>If you know AAC users, clinicians, or researchers, we'd love an introduction.</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4206240" cy="1737360"/>
          </a:xfrm>
          <a:prstGeom prst="rect">
            <a:avLst/>
          </a:prstGeom>
          <a:noFill/>
          <a:ln/>
        </p:spPr>
        <p:txBody>
          <a:bodyPr wrap="square" lIns="0" tIns="0" rIns="0" bIns="0" rtlCol="0" anchor="t"/>
          <a:lstStyle/>
          <a:p>
            <a:pPr algn="l" indent="0" marL="0">
              <a:buNone/>
            </a:pPr>
            <a:r>
              <a:rPr lang="en-US" sz="3400" b="1" dirty="0">
                <a:solidFill>
                  <a:schemeClr val="bg1"/>
                </a:solidFill>
              </a:rPr>
              <a:t>AI offers possibilities. The person keeps authorship.</a:t>
            </a:r>
            <a:endParaRPr lang="en-US" sz="3400" dirty="0"/>
          </a:p>
        </p:txBody>
      </p:sp>
      <p:sp>
        <p:nvSpPr>
          <p:cNvPr id="3" name="Text 1"/>
          <p:cNvSpPr txBox="1"/>
          <p:nvPr/>
        </p:nvSpPr>
        <p:spPr>
          <a:xfrm>
            <a:off x="548640" y="2514600"/>
            <a:ext cx="3931920" cy="685800"/>
          </a:xfrm>
          <a:prstGeom prst="rect">
            <a:avLst/>
          </a:prstGeom>
          <a:noFill/>
          <a:ln/>
        </p:spPr>
        <p:txBody>
          <a:bodyPr wrap="square" lIns="0" tIns="0" rIns="0" bIns="0" rtlCol="0" anchor="t"/>
          <a:lstStyle/>
          <a:p>
            <a:pPr indent="0" marL="0">
              <a:buNone/>
            </a:pPr>
            <a:r>
              <a:rPr lang="en-US" sz="1800" dirty="0">
                <a:solidFill>
                  <a:srgbClr val="E6E8EB"/>
                </a:solidFill>
              </a:rPr>
              <a:t>Be part of the conversation while it's still happening.</a:t>
            </a:r>
            <a:endParaRPr lang="en-US" sz="1800" dirty="0"/>
          </a:p>
        </p:txBody>
      </p:sp>
      <p:sp>
        <p:nvSpPr>
          <p:cNvPr id="4" name="Text 2"/>
          <p:cNvSpPr txBox="1"/>
          <p:nvPr/>
        </p:nvSpPr>
        <p:spPr>
          <a:xfrm>
            <a:off x="548640" y="3291840"/>
            <a:ext cx="4206240" cy="411480"/>
          </a:xfrm>
          <a:prstGeom prst="rect">
            <a:avLst/>
          </a:prstGeom>
          <a:noFill/>
          <a:ln/>
        </p:spPr>
        <p:txBody>
          <a:bodyPr wrap="square" lIns="0" tIns="0" rIns="0" bIns="0" rtlCol="0" anchor="t"/>
          <a:lstStyle/>
          <a:p>
            <a:pPr indent="0" marL="0">
              <a:buNone/>
            </a:pPr>
            <a:r>
              <a:rPr lang="en-US" sz="2200" b="1" dirty="0">
                <a:solidFill>
                  <a:srgbClr val="7FD1B0"/>
                </a:solidFill>
              </a:rPr>
              <a:t>Your words. Your choice.</a:t>
            </a:r>
            <a:endParaRPr lang="en-US" sz="2200" dirty="0"/>
          </a:p>
        </p:txBody>
      </p:sp>
      <p:pic>
        <p:nvPicPr>
          <p:cNvPr id="5" name="Image 0" descr="Still Here">    </p:cNvPr>
          <p:cNvPicPr>
            <a:picLocks noChangeAspect="1"/>
          </p:cNvPicPr>
          <p:nvPr/>
        </p:nvPicPr>
        <p:blipFill>
          <a:blip r:embed="rId1"/>
          <a:stretch>
            <a:fillRect/>
          </a:stretch>
        </p:blipFill>
        <p:spPr>
          <a:xfrm>
            <a:off x="457200" y="3977640"/>
            <a:ext cx="2194560" cy="548640"/>
          </a:xfrm>
          <a:prstGeom prst="rect">
            <a:avLst/>
          </a:prstGeom>
        </p:spPr>
      </p:pic>
      <p:sp>
        <p:nvSpPr>
          <p:cNvPr id="6" name="Text 3"/>
          <p:cNvSpPr txBox="1"/>
          <p:nvPr/>
        </p:nvSpPr>
        <p:spPr>
          <a:xfrm>
            <a:off x="5166360" y="1325880"/>
            <a:ext cx="1828800" cy="228600"/>
          </a:xfrm>
          <a:prstGeom prst="rect">
            <a:avLst/>
          </a:prstGeom>
          <a:noFill/>
          <a:ln/>
        </p:spPr>
        <p:txBody>
          <a:bodyPr wrap="square" lIns="0" tIns="0" rIns="0" bIns="0" rtlCol="0" anchor="t"/>
          <a:lstStyle/>
          <a:p>
            <a:pPr indent="0" marL="0">
              <a:buNone/>
            </a:pPr>
            <a:r>
              <a:rPr lang="en-US" sz="1100" dirty="0">
                <a:solidFill>
                  <a:srgbClr val="9AA0A8"/>
                </a:solidFill>
              </a:rPr>
              <a:t>Friend</a:t>
            </a:r>
            <a:endParaRPr lang="en-US" sz="1100" dirty="0"/>
          </a:p>
        </p:txBody>
      </p:sp>
      <p:sp>
        <p:nvSpPr>
          <p:cNvPr id="7" name="chat bubble"/>
          <p:cNvSpPr/>
          <p:nvPr/>
        </p:nvSpPr>
        <p:spPr>
          <a:xfrm>
            <a:off x="5120640" y="1600200"/>
            <a:ext cx="3566160" cy="640080"/>
          </a:xfrm>
          <a:prstGeom prst="roundRect">
            <a:avLst>
              <a:gd name="adj" fmla="val 31429"/>
            </a:avLst>
          </a:prstGeom>
          <a:solidFill>
            <a:srgbClr val="2B2F35"/>
          </a:solidFill>
          <a:ln w="12700">
            <a:solidFill>
              <a:srgbClr val="2B2F35"/>
            </a:solidFill>
            <a:prstDash val="solid"/>
          </a:ln>
        </p:spPr>
      </p:sp>
      <p:sp>
        <p:nvSpPr>
          <p:cNvPr id="8" name="Text 5"/>
          <p:cNvSpPr txBox="1"/>
          <p:nvPr/>
        </p:nvSpPr>
        <p:spPr>
          <a:xfrm>
            <a:off x="5303520" y="1600200"/>
            <a:ext cx="3200400" cy="640080"/>
          </a:xfrm>
          <a:prstGeom prst="rect">
            <a:avLst/>
          </a:prstGeom>
          <a:noFill/>
          <a:ln/>
        </p:spPr>
        <p:txBody>
          <a:bodyPr wrap="square" lIns="0" tIns="0" rIns="0" bIns="0" rtlCol="0" anchor="ctr"/>
          <a:lstStyle/>
          <a:p>
            <a:pPr algn="l" indent="0" marL="0">
              <a:buNone/>
            </a:pPr>
            <a:r>
              <a:rPr lang="en-US" sz="1600" dirty="0">
                <a:solidFill>
                  <a:srgbClr val="FFFFFF"/>
                </a:solidFill>
              </a:rPr>
              <a:t>“Are you coming to dinner tonight?”</a:t>
            </a:r>
            <a:endParaRPr lang="en-US" sz="1600" dirty="0"/>
          </a:p>
        </p:txBody>
      </p:sp>
      <p:sp>
        <p:nvSpPr>
          <p:cNvPr id="9" name="Text 6"/>
          <p:cNvSpPr txBox="1"/>
          <p:nvPr/>
        </p:nvSpPr>
        <p:spPr>
          <a:xfrm>
            <a:off x="6035040" y="2514600"/>
            <a:ext cx="2606040" cy="228600"/>
          </a:xfrm>
          <a:prstGeom prst="rect">
            <a:avLst/>
          </a:prstGeom>
          <a:noFill/>
          <a:ln/>
        </p:spPr>
        <p:txBody>
          <a:bodyPr wrap="square" lIns="0" tIns="0" rIns="0" bIns="0" rtlCol="0" anchor="t"/>
          <a:lstStyle/>
          <a:p>
            <a:pPr algn="r" indent="0" marL="0">
              <a:buNone/>
            </a:pPr>
            <a:r>
              <a:rPr lang="en-US" sz="1100" dirty="0">
                <a:solidFill>
                  <a:srgbClr val="9AA0A8"/>
                </a:solidFill>
              </a:rPr>
              <a:t>You, spoken by Still Here</a:t>
            </a:r>
            <a:endParaRPr lang="en-US" sz="1100" dirty="0"/>
          </a:p>
        </p:txBody>
      </p:sp>
      <p:sp>
        <p:nvSpPr>
          <p:cNvPr id="10" name="chat bubble"/>
          <p:cNvSpPr/>
          <p:nvPr/>
        </p:nvSpPr>
        <p:spPr>
          <a:xfrm>
            <a:off x="5669280" y="2788920"/>
            <a:ext cx="3017520" cy="640080"/>
          </a:xfrm>
          <a:prstGeom prst="roundRect">
            <a:avLst>
              <a:gd name="adj" fmla="val 31429"/>
            </a:avLst>
          </a:prstGeom>
          <a:solidFill>
            <a:srgbClr val="0B5D46"/>
          </a:solidFill>
          <a:ln w="12700">
            <a:solidFill>
              <a:srgbClr val="0B5D46"/>
            </a:solidFill>
            <a:prstDash val="solid"/>
          </a:ln>
        </p:spPr>
      </p:sp>
      <p:sp>
        <p:nvSpPr>
          <p:cNvPr id="11" name="Text 8"/>
          <p:cNvSpPr txBox="1"/>
          <p:nvPr/>
        </p:nvSpPr>
        <p:spPr>
          <a:xfrm>
            <a:off x="5852160" y="2788920"/>
            <a:ext cx="2651760" cy="640080"/>
          </a:xfrm>
          <a:prstGeom prst="rect">
            <a:avLst/>
          </a:prstGeom>
          <a:noFill/>
          <a:ln/>
        </p:spPr>
        <p:txBody>
          <a:bodyPr wrap="square" lIns="0" tIns="0" rIns="0" bIns="0" rtlCol="0" anchor="ctr"/>
          <a:lstStyle/>
          <a:p>
            <a:pPr algn="l" indent="0" marL="0">
              <a:buNone/>
            </a:pPr>
            <a:r>
              <a:rPr lang="en-US" sz="1800" b="1" dirty="0">
                <a:solidFill>
                  <a:srgbClr val="FFFFFF"/>
                </a:solidFill>
              </a:rPr>
              <a:t>“Yeah, I'm coming tonight.”</a:t>
            </a:r>
            <a:endParaRPr lang="en-US" sz="1800" dirty="0"/>
          </a:p>
        </p:txBody>
      </p:sp>
      <p:pic>
        <p:nvPicPr>
          <p:cNvPr id="12" name="Image 1" descr="preencoded.png">    </p:cNvPr>
          <p:cNvPicPr>
            <a:picLocks noChangeAspect="1"/>
          </p:cNvPicPr>
          <p:nvPr/>
        </p:nvPicPr>
        <p:blipFill>
          <a:blip r:embed="rId2"/>
          <a:stretch>
            <a:fillRect/>
          </a:stretch>
        </p:blipFill>
        <p:spPr>
          <a:xfrm>
            <a:off x="5166360" y="2944368"/>
            <a:ext cx="347472" cy="347472"/>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bg1"/>
                </a:solidFill>
              </a:rPr>
              <a:t>Backup slides</a:t>
            </a:r>
            <a:endParaRPr lang="en-US" sz="3200" dirty="0"/>
          </a:p>
        </p:txBody>
      </p:sp>
      <p:sp>
        <p:nvSpPr>
          <p:cNvPr id="3" name="Text 1"/>
          <p:cNvSpPr txBox="1"/>
          <p:nvPr/>
        </p:nvSpPr>
        <p:spPr>
          <a:xfrm>
            <a:off x="457200" y="1097280"/>
            <a:ext cx="8229600" cy="548640"/>
          </a:xfrm>
          <a:prstGeom prst="rect">
            <a:avLst/>
          </a:prstGeom>
          <a:noFill/>
          <a:ln/>
        </p:spPr>
        <p:txBody>
          <a:bodyPr wrap="square" lIns="0" tIns="0" rIns="0" bIns="0" rtlCol="0" anchor="t"/>
          <a:lstStyle/>
          <a:p>
            <a:pPr indent="0" marL="0">
              <a:buNone/>
            </a:pPr>
            <a:r>
              <a:rPr lang="en-US" sz="1300" dirty="0">
                <a:solidFill>
                  <a:srgbClr val="C9CDD2"/>
                </a:solidFill>
              </a:rPr>
              <a:t>Review mode  ·  Demo route  ·  Evidence boundaries  ·  Priority-tier incident  ·  Architecture detail  ·  One turn, end to end</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Optional review mode</a:t>
            </a:r>
            <a:endParaRPr lang="en-US" sz="3200" dirty="0"/>
          </a:p>
        </p:txBody>
      </p:sp>
      <p:sp>
        <p:nvSpPr>
          <p:cNvPr id="3" name="card"/>
          <p:cNvSpPr/>
          <p:nvPr/>
        </p:nvSpPr>
        <p:spPr>
          <a:xfrm>
            <a:off x="457200" y="1234440"/>
            <a:ext cx="2560320" cy="2103120"/>
          </a:xfrm>
          <a:prstGeom prst="roundRect">
            <a:avLst>
              <a:gd name="adj" fmla="val 5217"/>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4" name="icon LuSlidersHorizontal"/>
          <p:cNvSpPr/>
          <p:nvPr/>
        </p:nvSpPr>
        <p:spPr>
          <a:xfrm>
            <a:off x="685800" y="1463040"/>
            <a:ext cx="502920" cy="502920"/>
          </a:xfrm>
          <a:prstGeom prst="ellipse">
            <a:avLst/>
          </a:prstGeom>
          <a:solidFill>
            <a:srgbClr val="0B5D46"/>
          </a:solidFill>
          <a:ln w="12700">
            <a:solidFill>
              <a:srgbClr val="0B5D46"/>
            </a:solidFill>
            <a:prstDash val="solid"/>
          </a:ln>
        </p:spPr>
      </p:sp>
      <p:pic>
        <p:nvPicPr>
          <p:cNvPr id="5" name="Image 0" descr="preencoded.png">    </p:cNvPr>
          <p:cNvPicPr>
            <a:picLocks noChangeAspect="1"/>
          </p:cNvPicPr>
          <p:nvPr/>
        </p:nvPicPr>
        <p:blipFill>
          <a:blip r:embed="rId1"/>
          <a:stretch>
            <a:fillRect/>
          </a:stretch>
        </p:blipFill>
        <p:spPr>
          <a:xfrm>
            <a:off x="811530" y="1588770"/>
            <a:ext cx="251460" cy="251460"/>
          </a:xfrm>
          <a:prstGeom prst="rect">
            <a:avLst/>
          </a:prstGeom>
        </p:spPr>
      </p:pic>
      <p:sp>
        <p:nvSpPr>
          <p:cNvPr id="6" name="Text 3"/>
          <p:cNvSpPr txBox="1"/>
          <p:nvPr/>
        </p:nvSpPr>
        <p:spPr>
          <a:xfrm>
            <a:off x="685800" y="2057400"/>
            <a:ext cx="2103120" cy="548640"/>
          </a:xfrm>
          <a:prstGeom prst="rect">
            <a:avLst/>
          </a:prstGeom>
          <a:noFill/>
          <a:ln/>
        </p:spPr>
        <p:txBody>
          <a:bodyPr wrap="square" lIns="0" tIns="0" rIns="0" bIns="0" rtlCol="0" anchor="t"/>
          <a:lstStyle/>
          <a:p>
            <a:pPr indent="0" marL="0">
              <a:buNone/>
            </a:pPr>
            <a:r>
              <a:rPr lang="en-US" sz="1700" b="1" dirty="0">
                <a:solidFill>
                  <a:srgbClr val="121417"/>
                </a:solidFill>
              </a:rPr>
              <a:t>Turn off fast mode</a:t>
            </a:r>
            <a:endParaRPr lang="en-US" sz="1700" dirty="0"/>
          </a:p>
        </p:txBody>
      </p:sp>
      <p:sp>
        <p:nvSpPr>
          <p:cNvPr id="7" name="Text 4"/>
          <p:cNvSpPr txBox="1"/>
          <p:nvPr/>
        </p:nvSpPr>
        <p:spPr>
          <a:xfrm>
            <a:off x="685800" y="2651760"/>
            <a:ext cx="2103120" cy="640080"/>
          </a:xfrm>
          <a:prstGeom prst="rect">
            <a:avLst/>
          </a:prstGeom>
          <a:noFill/>
          <a:ln/>
        </p:spPr>
        <p:txBody>
          <a:bodyPr wrap="square" lIns="0" tIns="0" rIns="0" bIns="0" rtlCol="0" anchor="t"/>
          <a:lstStyle/>
          <a:p>
            <a:pPr indent="0" marL="0">
              <a:buNone/>
            </a:pPr>
            <a:r>
              <a:rPr lang="en-US" sz="1400" dirty="0">
                <a:solidFill>
                  <a:srgbClr val="464B53"/>
                </a:solidFill>
              </a:rPr>
              <a:t>Every reply goes to review.</a:t>
            </a:r>
            <a:endParaRPr lang="en-US" sz="1400" dirty="0"/>
          </a:p>
        </p:txBody>
      </p:sp>
      <p:sp>
        <p:nvSpPr>
          <p:cNvPr id="8" name="Shape 5"/>
          <p:cNvSpPr/>
          <p:nvPr/>
        </p:nvSpPr>
        <p:spPr>
          <a:xfrm>
            <a:off x="3054096" y="2286000"/>
            <a:ext cx="201168" cy="914"/>
          </a:xfrm>
          <a:prstGeom prst="line">
            <a:avLst/>
          </a:prstGeom>
          <a:noFill/>
          <a:ln w="19050">
            <a:solidFill>
              <a:srgbClr val="0B5D46"/>
            </a:solidFill>
            <a:prstDash val="solid"/>
            <a:tailEnd type="triangle"/>
          </a:ln>
        </p:spPr>
      </p:sp>
      <p:sp>
        <p:nvSpPr>
          <p:cNvPr id="9" name="card"/>
          <p:cNvSpPr/>
          <p:nvPr/>
        </p:nvSpPr>
        <p:spPr>
          <a:xfrm>
            <a:off x="3291840" y="1234440"/>
            <a:ext cx="2560320" cy="2103120"/>
          </a:xfrm>
          <a:prstGeom prst="roundRect">
            <a:avLst>
              <a:gd name="adj" fmla="val 5217"/>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0" name="icon LuShieldCheck"/>
          <p:cNvSpPr/>
          <p:nvPr/>
        </p:nvSpPr>
        <p:spPr>
          <a:xfrm>
            <a:off x="3520440" y="1463040"/>
            <a:ext cx="502920" cy="502920"/>
          </a:xfrm>
          <a:prstGeom prst="ellipse">
            <a:avLst/>
          </a:prstGeom>
          <a:solidFill>
            <a:srgbClr val="0B5D46"/>
          </a:solidFill>
          <a:ln w="12700">
            <a:solidFill>
              <a:srgbClr val="0B5D46"/>
            </a:solidFill>
            <a:prstDash val="solid"/>
          </a:ln>
        </p:spPr>
      </p:sp>
      <p:pic>
        <p:nvPicPr>
          <p:cNvPr id="11" name="Image 1" descr="preencoded.png">    </p:cNvPr>
          <p:cNvPicPr>
            <a:picLocks noChangeAspect="1"/>
          </p:cNvPicPr>
          <p:nvPr/>
        </p:nvPicPr>
        <p:blipFill>
          <a:blip r:embed="rId2"/>
          <a:stretch>
            <a:fillRect/>
          </a:stretch>
        </p:blipFill>
        <p:spPr>
          <a:xfrm>
            <a:off x="3646170" y="1588770"/>
            <a:ext cx="251460" cy="251460"/>
          </a:xfrm>
          <a:prstGeom prst="rect">
            <a:avLst/>
          </a:prstGeom>
        </p:spPr>
      </p:pic>
      <p:sp>
        <p:nvSpPr>
          <p:cNvPr id="12" name="Text 8"/>
          <p:cNvSpPr txBox="1"/>
          <p:nvPr/>
        </p:nvSpPr>
        <p:spPr>
          <a:xfrm>
            <a:off x="3520440" y="2057400"/>
            <a:ext cx="2103120" cy="548640"/>
          </a:xfrm>
          <a:prstGeom prst="rect">
            <a:avLst/>
          </a:prstGeom>
          <a:noFill/>
          <a:ln/>
        </p:spPr>
        <p:txBody>
          <a:bodyPr wrap="square" lIns="0" tIns="0" rIns="0" bIns="0" rtlCol="0" anchor="t"/>
          <a:lstStyle/>
          <a:p>
            <a:pPr indent="0" marL="0">
              <a:buNone/>
            </a:pPr>
            <a:r>
              <a:rPr lang="en-US" sz="1700" b="1" dirty="0">
                <a:solidFill>
                  <a:srgbClr val="121417"/>
                </a:solidFill>
              </a:rPr>
              <a:t>Review starts on Cancel</a:t>
            </a:r>
            <a:endParaRPr lang="en-US" sz="1700" dirty="0"/>
          </a:p>
        </p:txBody>
      </p:sp>
      <p:sp>
        <p:nvSpPr>
          <p:cNvPr id="13" name="Text 9"/>
          <p:cNvSpPr txBox="1"/>
          <p:nvPr/>
        </p:nvSpPr>
        <p:spPr>
          <a:xfrm>
            <a:off x="3520440" y="2651760"/>
            <a:ext cx="2103120" cy="640080"/>
          </a:xfrm>
          <a:prstGeom prst="rect">
            <a:avLst/>
          </a:prstGeom>
          <a:noFill/>
          <a:ln/>
        </p:spPr>
        <p:txBody>
          <a:bodyPr wrap="square" lIns="0" tIns="0" rIns="0" bIns="0" rtlCol="0" anchor="t"/>
          <a:lstStyle/>
          <a:p>
            <a:pPr indent="0" marL="0">
              <a:buNone/>
            </a:pPr>
            <a:r>
              <a:rPr lang="en-US" sz="1400" dirty="0">
                <a:solidFill>
                  <a:srgbClr val="464B53"/>
                </a:solidFill>
              </a:rPr>
              <a:t>A stray blink does nothing harmful.</a:t>
            </a:r>
            <a:endParaRPr lang="en-US" sz="1400" dirty="0"/>
          </a:p>
        </p:txBody>
      </p:sp>
      <p:sp>
        <p:nvSpPr>
          <p:cNvPr id="14" name="Shape 10"/>
          <p:cNvSpPr/>
          <p:nvPr/>
        </p:nvSpPr>
        <p:spPr>
          <a:xfrm>
            <a:off x="5888736" y="2286000"/>
            <a:ext cx="201168" cy="914"/>
          </a:xfrm>
          <a:prstGeom prst="line">
            <a:avLst/>
          </a:prstGeom>
          <a:noFill/>
          <a:ln w="19050">
            <a:solidFill>
              <a:srgbClr val="0B5D46"/>
            </a:solidFill>
            <a:prstDash val="solid"/>
            <a:tailEnd type="triangle"/>
          </a:ln>
        </p:spPr>
      </p:sp>
      <p:sp>
        <p:nvSpPr>
          <p:cNvPr id="15" name="card"/>
          <p:cNvSpPr/>
          <p:nvPr/>
        </p:nvSpPr>
        <p:spPr>
          <a:xfrm>
            <a:off x="6126480" y="1234440"/>
            <a:ext cx="2560320" cy="2103120"/>
          </a:xfrm>
          <a:prstGeom prst="roundRect">
            <a:avLst>
              <a:gd name="adj" fmla="val 5217"/>
            </a:avLst>
          </a:prstGeom>
          <a:solidFill>
            <a:srgbClr val="FFFFFF"/>
          </a:solidFill>
          <a:ln w="9525">
            <a:solidFill>
              <a:srgbClr val="D9DCE0"/>
            </a:solidFill>
            <a:prstDash val="solid"/>
          </a:ln>
          <a:effectLst>
            <a:outerShdw sx="100000" sy="100000" kx="0" ky="0" algn="bl" rotWithShape="0" blurRad="76200" dist="12700" dir="5400000">
              <a:srgbClr val="000000">
                <a:alpha val="8000"/>
              </a:srgbClr>
            </a:outerShdw>
          </a:effectLst>
        </p:spPr>
      </p:sp>
      <p:sp>
        <p:nvSpPr>
          <p:cNvPr id="16" name="icon LuEyeOff"/>
          <p:cNvSpPr/>
          <p:nvPr/>
        </p:nvSpPr>
        <p:spPr>
          <a:xfrm>
            <a:off x="6355080" y="1463040"/>
            <a:ext cx="502920" cy="502920"/>
          </a:xfrm>
          <a:prstGeom prst="ellipse">
            <a:avLst/>
          </a:prstGeom>
          <a:solidFill>
            <a:srgbClr val="0B5D46"/>
          </a:solidFill>
          <a:ln w="12700">
            <a:solidFill>
              <a:srgbClr val="0B5D46"/>
            </a:solidFill>
            <a:prstDash val="solid"/>
          </a:ln>
        </p:spPr>
      </p:sp>
      <p:pic>
        <p:nvPicPr>
          <p:cNvPr id="17" name="Image 2" descr="preencoded.png">    </p:cNvPr>
          <p:cNvPicPr>
            <a:picLocks noChangeAspect="1"/>
          </p:cNvPicPr>
          <p:nvPr/>
        </p:nvPicPr>
        <p:blipFill>
          <a:blip r:embed="rId3"/>
          <a:stretch>
            <a:fillRect/>
          </a:stretch>
        </p:blipFill>
        <p:spPr>
          <a:xfrm>
            <a:off x="6480810" y="1588770"/>
            <a:ext cx="251460" cy="251460"/>
          </a:xfrm>
          <a:prstGeom prst="rect">
            <a:avLst/>
          </a:prstGeom>
        </p:spPr>
      </p:pic>
      <p:sp>
        <p:nvSpPr>
          <p:cNvPr id="18" name="Text 13"/>
          <p:cNvSpPr txBox="1"/>
          <p:nvPr/>
        </p:nvSpPr>
        <p:spPr>
          <a:xfrm>
            <a:off x="6355080" y="2057400"/>
            <a:ext cx="2103120" cy="548640"/>
          </a:xfrm>
          <a:prstGeom prst="rect">
            <a:avLst/>
          </a:prstGeom>
          <a:noFill/>
          <a:ln/>
        </p:spPr>
        <p:txBody>
          <a:bodyPr wrap="square" lIns="0" tIns="0" rIns="0" bIns="0" rtlCol="0" anchor="t"/>
          <a:lstStyle/>
          <a:p>
            <a:pPr indent="0" marL="0">
              <a:buNone/>
            </a:pPr>
            <a:r>
              <a:rPr lang="en-US" sz="1700" b="1" dirty="0">
                <a:solidFill>
                  <a:srgbClr val="121417"/>
                </a:solidFill>
              </a:rPr>
              <a:t>A new blink confirms</a:t>
            </a:r>
            <a:endParaRPr lang="en-US" sz="1700" dirty="0"/>
          </a:p>
        </p:txBody>
      </p:sp>
      <p:sp>
        <p:nvSpPr>
          <p:cNvPr id="19" name="Text 14"/>
          <p:cNvSpPr txBox="1"/>
          <p:nvPr/>
        </p:nvSpPr>
        <p:spPr>
          <a:xfrm>
            <a:off x="6355080" y="2651760"/>
            <a:ext cx="2103120" cy="640080"/>
          </a:xfrm>
          <a:prstGeom prst="rect">
            <a:avLst/>
          </a:prstGeom>
          <a:noFill/>
          <a:ln/>
        </p:spPr>
        <p:txBody>
          <a:bodyPr wrap="square" lIns="0" tIns="0" rIns="0" bIns="0" rtlCol="0" anchor="t"/>
          <a:lstStyle/>
          <a:p>
            <a:pPr indent="0" marL="0">
              <a:buNone/>
            </a:pPr>
            <a:r>
              <a:rPr lang="en-US" sz="1400" dirty="0">
                <a:solidFill>
                  <a:srgbClr val="464B53"/>
                </a:solidFill>
              </a:rPr>
              <a:t>One gesture can never do two things.</a:t>
            </a:r>
            <a:endParaRPr lang="en-US" sz="1400" dirty="0"/>
          </a:p>
        </p:txBody>
      </p:sp>
      <p:sp>
        <p:nvSpPr>
          <p:cNvPr id="20" name="Text 15"/>
          <p:cNvSpPr txBox="1"/>
          <p:nvPr/>
        </p:nvSpPr>
        <p:spPr>
          <a:xfrm>
            <a:off x="457200" y="3657600"/>
            <a:ext cx="8229600" cy="411480"/>
          </a:xfrm>
          <a:prstGeom prst="rect">
            <a:avLst/>
          </a:prstGeom>
          <a:noFill/>
          <a:ln/>
        </p:spPr>
        <p:txBody>
          <a:bodyPr wrap="square" lIns="0" tIns="0" rIns="0" bIns="0" rtlCol="0" anchor="t"/>
          <a:lstStyle/>
          <a:p>
            <a:pPr indent="0" marL="0">
              <a:buNone/>
            </a:pPr>
            <a:r>
              <a:rPr lang="en-US" sz="1800" b="1" dirty="0">
                <a:solidFill>
                  <a:srgbClr val="121417"/>
                </a:solidFill>
              </a:rPr>
              <a:t>Slower, safer, for higher-stakes settings.</a:t>
            </a:r>
            <a:endParaRPr lang="en-US" sz="1800" dirty="0"/>
          </a:p>
        </p:txBody>
      </p:sp>
      <p:sp>
        <p:nvSpPr>
          <p:cNvPr id="21" name="Text 16"/>
          <p:cNvSpPr txBox="1"/>
          <p:nvPr/>
        </p:nvSpPr>
        <p:spPr>
          <a:xfrm>
            <a:off x="457200" y="4572000"/>
            <a:ext cx="7406640" cy="256032"/>
          </a:xfrm>
          <a:prstGeom prst="rect">
            <a:avLst/>
          </a:prstGeom>
          <a:noFill/>
          <a:ln/>
        </p:spPr>
        <p:txBody>
          <a:bodyPr wrap="square" lIns="0" tIns="0" rIns="0" bIns="0" rtlCol="0" anchor="ctr"/>
          <a:lstStyle/>
          <a:p>
            <a:pPr indent="0" marL="0">
              <a:buNone/>
            </a:pPr>
            <a:r>
              <a:rPr lang="en-US" sz="1000" dirty="0">
                <a:solidFill>
                  <a:srgbClr val="464B53"/>
                </a:solidFill>
              </a:rPr>
              <a:t>Browser switch test: 20 auto-repeats produced one action. Other checks synthetic.</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Live demo route</a:t>
            </a:r>
            <a:endParaRPr lang="en-US" sz="3200" dirty="0"/>
          </a:p>
        </p:txBody>
      </p:sp>
      <p:sp>
        <p:nvSpPr>
          <p:cNvPr id="3" name="device frame"/>
          <p:cNvSpPr/>
          <p:nvPr/>
        </p:nvSpPr>
        <p:spPr>
          <a:xfrm>
            <a:off x="457200" y="1143000"/>
            <a:ext cx="4206240" cy="3184418"/>
          </a:xfrm>
          <a:prstGeom prst="roundRect">
            <a:avLst>
              <a:gd name="adj" fmla="val 2871"/>
            </a:avLst>
          </a:prstGeom>
          <a:solidFill>
            <a:srgbClr val="1B1E22"/>
          </a:solidFill>
          <a:ln w="9525">
            <a:solidFill>
              <a:srgbClr val="1B1E22"/>
            </a:solidFill>
            <a:prstDash val="solid"/>
          </a:ln>
          <a:effectLst>
            <a:outerShdw sx="100000" sy="100000" kx="0" ky="0" algn="bl" rotWithShape="0" blurRad="101600" dist="25400" dir="5400000">
              <a:srgbClr val="000000">
                <a:alpha val="16000"/>
              </a:srgbClr>
            </a:outerShdw>
          </a:effectLst>
        </p:spPr>
      </p:sp>
      <p:pic>
        <p:nvPicPr>
          <p:cNvPr id="4" name="Image 0" descr="Speaking screen: Yeah, but I'm running a bit late">    </p:cNvPr>
          <p:cNvPicPr>
            <a:picLocks noChangeAspect="1"/>
          </p:cNvPicPr>
          <p:nvPr/>
        </p:nvPicPr>
        <p:blipFill>
          <a:blip r:embed="rId1"/>
          <a:stretch>
            <a:fillRect/>
          </a:stretch>
        </p:blipFill>
        <p:spPr>
          <a:xfrm>
            <a:off x="521208" y="1207008"/>
            <a:ext cx="4078224" cy="3056402"/>
          </a:xfrm>
          <a:prstGeom prst="rect">
            <a:avLst/>
          </a:prstGeom>
        </p:spPr>
      </p:pic>
      <p:sp>
        <p:nvSpPr>
          <p:cNvPr id="5" name="Shape 2"/>
          <p:cNvSpPr/>
          <p:nvPr/>
        </p:nvSpPr>
        <p:spPr>
          <a:xfrm>
            <a:off x="5029200" y="1188720"/>
            <a:ext cx="457200" cy="457200"/>
          </a:xfrm>
          <a:prstGeom prst="ellipse">
            <a:avLst/>
          </a:prstGeom>
          <a:solidFill>
            <a:srgbClr val="0B5D46"/>
          </a:solidFill>
          <a:ln w="12700">
            <a:solidFill>
              <a:srgbClr val="0B5D46"/>
            </a:solidFill>
            <a:prstDash val="solid"/>
          </a:ln>
        </p:spPr>
      </p:sp>
      <p:sp>
        <p:nvSpPr>
          <p:cNvPr id="6" name="Text 3"/>
          <p:cNvSpPr txBox="1"/>
          <p:nvPr/>
        </p:nvSpPr>
        <p:spPr>
          <a:xfrm>
            <a:off x="5029200" y="1188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5669280" y="1161288"/>
            <a:ext cx="3017520" cy="320040"/>
          </a:xfrm>
          <a:prstGeom prst="rect">
            <a:avLst/>
          </a:prstGeom>
          <a:noFill/>
          <a:ln/>
        </p:spPr>
        <p:txBody>
          <a:bodyPr wrap="square" lIns="0" tIns="0" rIns="0" bIns="0" rtlCol="0" anchor="t"/>
          <a:lstStyle/>
          <a:p>
            <a:pPr indent="0" marL="0">
              <a:buNone/>
            </a:pPr>
            <a:r>
              <a:rPr lang="en-US" sz="1700" b="1" dirty="0">
                <a:solidFill>
                  <a:srgbClr val="121417"/>
                </a:solidFill>
              </a:rPr>
              <a:t>Dinner</a:t>
            </a:r>
            <a:endParaRPr lang="en-US" sz="1700" dirty="0"/>
          </a:p>
        </p:txBody>
      </p:sp>
      <p:sp>
        <p:nvSpPr>
          <p:cNvPr id="8" name="Text 5"/>
          <p:cNvSpPr txBox="1"/>
          <p:nvPr/>
        </p:nvSpPr>
        <p:spPr>
          <a:xfrm>
            <a:off x="5669280" y="1481328"/>
            <a:ext cx="3017520" cy="320040"/>
          </a:xfrm>
          <a:prstGeom prst="rect">
            <a:avLst/>
          </a:prstGeom>
          <a:noFill/>
          <a:ln/>
        </p:spPr>
        <p:txBody>
          <a:bodyPr wrap="square" lIns="0" tIns="0" rIns="0" bIns="0" rtlCol="0" anchor="t"/>
          <a:lstStyle/>
          <a:p>
            <a:pPr indent="0" marL="0">
              <a:buNone/>
            </a:pPr>
            <a:r>
              <a:rPr lang="en-US" sz="1300" dirty="0">
                <a:solidFill>
                  <a:srgbClr val="464B53"/>
                </a:solidFill>
              </a:rPr>
              <a:t>“Are you coming to dinner tonight?”</a:t>
            </a:r>
            <a:endParaRPr lang="en-US" sz="1300" dirty="0"/>
          </a:p>
        </p:txBody>
      </p:sp>
      <p:sp>
        <p:nvSpPr>
          <p:cNvPr id="9" name="Shape 6"/>
          <p:cNvSpPr/>
          <p:nvPr/>
        </p:nvSpPr>
        <p:spPr>
          <a:xfrm>
            <a:off x="5029200" y="2057400"/>
            <a:ext cx="457200" cy="457200"/>
          </a:xfrm>
          <a:prstGeom prst="ellipse">
            <a:avLst/>
          </a:prstGeom>
          <a:solidFill>
            <a:srgbClr val="0B5D46"/>
          </a:solidFill>
          <a:ln w="12700">
            <a:solidFill>
              <a:srgbClr val="0B5D46"/>
            </a:solidFill>
            <a:prstDash val="solid"/>
          </a:ln>
        </p:spPr>
      </p:sp>
      <p:sp>
        <p:nvSpPr>
          <p:cNvPr id="10" name="Text 7"/>
          <p:cNvSpPr txBox="1"/>
          <p:nvPr/>
        </p:nvSpPr>
        <p:spPr>
          <a:xfrm>
            <a:off x="502920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8"/>
          <p:cNvSpPr txBox="1"/>
          <p:nvPr/>
        </p:nvSpPr>
        <p:spPr>
          <a:xfrm>
            <a:off x="5669280" y="2029968"/>
            <a:ext cx="3017520" cy="320040"/>
          </a:xfrm>
          <a:prstGeom prst="rect">
            <a:avLst/>
          </a:prstGeom>
          <a:noFill/>
          <a:ln/>
        </p:spPr>
        <p:txBody>
          <a:bodyPr wrap="square" lIns="0" tIns="0" rIns="0" bIns="0" rtlCol="0" anchor="t"/>
          <a:lstStyle/>
          <a:p>
            <a:pPr indent="0" marL="0">
              <a:buNone/>
            </a:pPr>
            <a:r>
              <a:rPr lang="en-US" sz="1700" b="1" dirty="0">
                <a:solidFill>
                  <a:srgbClr val="121417"/>
                </a:solidFill>
              </a:rPr>
              <a:t>How was your day?</a:t>
            </a:r>
            <a:endParaRPr lang="en-US" sz="1700" dirty="0"/>
          </a:p>
        </p:txBody>
      </p:sp>
      <p:sp>
        <p:nvSpPr>
          <p:cNvPr id="12" name="Text 9"/>
          <p:cNvSpPr txBox="1"/>
          <p:nvPr/>
        </p:nvSpPr>
        <p:spPr>
          <a:xfrm>
            <a:off x="5669280" y="2350008"/>
            <a:ext cx="3017520" cy="320040"/>
          </a:xfrm>
          <a:prstGeom prst="rect">
            <a:avLst/>
          </a:prstGeom>
          <a:noFill/>
          <a:ln/>
        </p:spPr>
        <p:txBody>
          <a:bodyPr wrap="square" lIns="0" tIns="0" rIns="0" bIns="0" rtlCol="0" anchor="t"/>
          <a:lstStyle/>
          <a:p>
            <a:pPr indent="0" marL="0">
              <a:buNone/>
            </a:pPr>
            <a:r>
              <a:rPr lang="en-US" sz="1300" dirty="0">
                <a:solidFill>
                  <a:srgbClr val="464B53"/>
                </a:solidFill>
              </a:rPr>
              <a:t>with Other ways to answer</a:t>
            </a:r>
            <a:endParaRPr lang="en-US" sz="1300" dirty="0"/>
          </a:p>
        </p:txBody>
      </p:sp>
      <p:sp>
        <p:nvSpPr>
          <p:cNvPr id="13" name="Text 10"/>
          <p:cNvSpPr txBox="1"/>
          <p:nvPr/>
        </p:nvSpPr>
        <p:spPr>
          <a:xfrm>
            <a:off x="5029200" y="3017520"/>
            <a:ext cx="2743200" cy="320040"/>
          </a:xfrm>
          <a:prstGeom prst="rect">
            <a:avLst/>
          </a:prstGeom>
          <a:noFill/>
          <a:ln/>
        </p:spPr>
        <p:txBody>
          <a:bodyPr wrap="square" lIns="0" tIns="0" rIns="0" bIns="0" rtlCol="0" anchor="t"/>
          <a:lstStyle/>
          <a:p>
            <a:pPr indent="0" marL="0">
              <a:buNone/>
            </a:pPr>
            <a:r>
              <a:rPr lang="en-US" sz="1500" b="1" dirty="0">
                <a:solidFill>
                  <a:srgbClr val="0B5D46"/>
                </a:solidFill>
              </a:rPr>
              <a:t>Fallbacks</a:t>
            </a:r>
            <a:endParaRPr lang="en-US" sz="1500" dirty="0"/>
          </a:p>
        </p:txBody>
      </p:sp>
      <p:sp>
        <p:nvSpPr>
          <p:cNvPr id="14" name="fallback chip"/>
          <p:cNvSpPr/>
          <p:nvPr/>
        </p:nvSpPr>
        <p:spPr>
          <a:xfrm>
            <a:off x="5029200" y="3401568"/>
            <a:ext cx="1691640" cy="347472"/>
          </a:xfrm>
          <a:prstGeom prst="roundRect">
            <a:avLst>
              <a:gd name="adj" fmla="val 50000"/>
            </a:avLst>
          </a:prstGeom>
          <a:solidFill>
            <a:srgbClr val="E2F2EC"/>
          </a:solidFill>
          <a:ln w="12700">
            <a:solidFill>
              <a:srgbClr val="E2F2EC"/>
            </a:solidFill>
            <a:prstDash val="solid"/>
          </a:ln>
        </p:spPr>
      </p:sp>
      <p:sp>
        <p:nvSpPr>
          <p:cNvPr id="15" name="Text 12"/>
          <p:cNvSpPr txBox="1"/>
          <p:nvPr/>
        </p:nvSpPr>
        <p:spPr>
          <a:xfrm>
            <a:off x="5029200" y="3401568"/>
            <a:ext cx="1691640" cy="347472"/>
          </a:xfrm>
          <a:prstGeom prst="rect">
            <a:avLst/>
          </a:prstGeom>
          <a:noFill/>
          <a:ln/>
        </p:spPr>
        <p:txBody>
          <a:bodyPr wrap="square" lIns="0" tIns="0" rIns="0" bIns="0" rtlCol="0" anchor="ctr"/>
          <a:lstStyle/>
          <a:p>
            <a:pPr algn="ctr" indent="0" marL="0">
              <a:buNone/>
            </a:pPr>
            <a:r>
              <a:rPr lang="en-US" sz="1200" b="1" dirty="0">
                <a:solidFill>
                  <a:srgbClr val="0B5D46"/>
                </a:solidFill>
              </a:rPr>
              <a:t>Touch</a:t>
            </a:r>
            <a:endParaRPr lang="en-US" sz="1200" dirty="0"/>
          </a:p>
        </p:txBody>
      </p:sp>
      <p:sp>
        <p:nvSpPr>
          <p:cNvPr id="16" name="fallback chip"/>
          <p:cNvSpPr/>
          <p:nvPr/>
        </p:nvSpPr>
        <p:spPr>
          <a:xfrm>
            <a:off x="6858000" y="3401568"/>
            <a:ext cx="1691640" cy="347472"/>
          </a:xfrm>
          <a:prstGeom prst="roundRect">
            <a:avLst>
              <a:gd name="adj" fmla="val 50000"/>
            </a:avLst>
          </a:prstGeom>
          <a:solidFill>
            <a:srgbClr val="E2F2EC"/>
          </a:solidFill>
          <a:ln w="12700">
            <a:solidFill>
              <a:srgbClr val="E2F2EC"/>
            </a:solidFill>
            <a:prstDash val="solid"/>
          </a:ln>
        </p:spPr>
      </p:sp>
      <p:sp>
        <p:nvSpPr>
          <p:cNvPr id="17" name="Text 14"/>
          <p:cNvSpPr txBox="1"/>
          <p:nvPr/>
        </p:nvSpPr>
        <p:spPr>
          <a:xfrm>
            <a:off x="6858000" y="3401568"/>
            <a:ext cx="1691640" cy="347472"/>
          </a:xfrm>
          <a:prstGeom prst="rect">
            <a:avLst/>
          </a:prstGeom>
          <a:noFill/>
          <a:ln/>
        </p:spPr>
        <p:txBody>
          <a:bodyPr wrap="square" lIns="0" tIns="0" rIns="0" bIns="0" rtlCol="0" anchor="ctr"/>
          <a:lstStyle/>
          <a:p>
            <a:pPr algn="ctr" indent="0" marL="0">
              <a:buNone/>
            </a:pPr>
            <a:r>
              <a:rPr lang="en-US" sz="1200" b="1" dirty="0">
                <a:solidFill>
                  <a:srgbClr val="0B5D46"/>
                </a:solidFill>
              </a:rPr>
              <a:t>Typed partner line</a:t>
            </a:r>
            <a:endParaRPr lang="en-US" sz="1200" dirty="0"/>
          </a:p>
        </p:txBody>
      </p:sp>
      <p:sp>
        <p:nvSpPr>
          <p:cNvPr id="18" name="fallback chip"/>
          <p:cNvSpPr/>
          <p:nvPr/>
        </p:nvSpPr>
        <p:spPr>
          <a:xfrm>
            <a:off x="5029200" y="3858768"/>
            <a:ext cx="1691640" cy="347472"/>
          </a:xfrm>
          <a:prstGeom prst="roundRect">
            <a:avLst>
              <a:gd name="adj" fmla="val 50000"/>
            </a:avLst>
          </a:prstGeom>
          <a:solidFill>
            <a:srgbClr val="E2F2EC"/>
          </a:solidFill>
          <a:ln w="12700">
            <a:solidFill>
              <a:srgbClr val="E2F2EC"/>
            </a:solidFill>
            <a:prstDash val="solid"/>
          </a:ln>
        </p:spPr>
      </p:sp>
      <p:sp>
        <p:nvSpPr>
          <p:cNvPr id="19" name="Text 16"/>
          <p:cNvSpPr txBox="1"/>
          <p:nvPr/>
        </p:nvSpPr>
        <p:spPr>
          <a:xfrm>
            <a:off x="5029200" y="3858768"/>
            <a:ext cx="1691640" cy="347472"/>
          </a:xfrm>
          <a:prstGeom prst="rect">
            <a:avLst/>
          </a:prstGeom>
          <a:noFill/>
          <a:ln/>
        </p:spPr>
        <p:txBody>
          <a:bodyPr wrap="square" lIns="0" tIns="0" rIns="0" bIns="0" rtlCol="0" anchor="ctr"/>
          <a:lstStyle/>
          <a:p>
            <a:pPr algn="ctr" indent="0" marL="0">
              <a:buNone/>
            </a:pPr>
            <a:r>
              <a:rPr lang="en-US" sz="1200" b="1" dirty="0">
                <a:solidFill>
                  <a:srgbClr val="0B5D46"/>
                </a:solidFill>
              </a:rPr>
              <a:t>Basic voice</a:t>
            </a:r>
            <a:endParaRPr lang="en-US" sz="1200" dirty="0"/>
          </a:p>
        </p:txBody>
      </p:sp>
      <p:sp>
        <p:nvSpPr>
          <p:cNvPr id="20" name="fallback chip"/>
          <p:cNvSpPr/>
          <p:nvPr/>
        </p:nvSpPr>
        <p:spPr>
          <a:xfrm>
            <a:off x="6858000" y="3858768"/>
            <a:ext cx="1691640" cy="347472"/>
          </a:xfrm>
          <a:prstGeom prst="roundRect">
            <a:avLst>
              <a:gd name="adj" fmla="val 50000"/>
            </a:avLst>
          </a:prstGeom>
          <a:solidFill>
            <a:srgbClr val="E2F2EC"/>
          </a:solidFill>
          <a:ln w="12700">
            <a:solidFill>
              <a:srgbClr val="E2F2EC"/>
            </a:solidFill>
            <a:prstDash val="solid"/>
          </a:ln>
        </p:spPr>
      </p:sp>
      <p:sp>
        <p:nvSpPr>
          <p:cNvPr id="21" name="Text 18"/>
          <p:cNvSpPr txBox="1"/>
          <p:nvPr/>
        </p:nvSpPr>
        <p:spPr>
          <a:xfrm>
            <a:off x="6858000" y="3858768"/>
            <a:ext cx="1691640" cy="347472"/>
          </a:xfrm>
          <a:prstGeom prst="rect">
            <a:avLst/>
          </a:prstGeom>
          <a:noFill/>
          <a:ln/>
        </p:spPr>
        <p:txBody>
          <a:bodyPr wrap="square" lIns="0" tIns="0" rIns="0" bIns="0" rtlCol="0" anchor="ctr"/>
          <a:lstStyle/>
          <a:p>
            <a:pPr algn="ctr" indent="0" marL="0">
              <a:buNone/>
            </a:pPr>
            <a:r>
              <a:rPr lang="en-US" sz="1200" b="1" dirty="0">
                <a:solidFill>
                  <a:srgbClr val="0B5D46"/>
                </a:solidFill>
              </a:rPr>
              <a:t>Fixture demo</a:t>
            </a:r>
            <a:endParaRPr lang="en-US" sz="1200" dirty="0"/>
          </a:p>
        </p:txBody>
      </p:sp>
      <p:sp>
        <p:nvSpPr>
          <p:cNvPr id="22" name="Text 19"/>
          <p:cNvSpPr txBox="1"/>
          <p:nvPr/>
        </p:nvSpPr>
        <p:spPr>
          <a:xfrm>
            <a:off x="457200" y="4572000"/>
            <a:ext cx="7406640" cy="256032"/>
          </a:xfrm>
          <a:prstGeom prst="rect">
            <a:avLst/>
          </a:prstGeom>
          <a:noFill/>
          <a:ln/>
        </p:spPr>
        <p:txBody>
          <a:bodyPr wrap="square" lIns="0" tIns="0" rIns="0" bIns="0" rtlCol="0" anchor="ctr"/>
          <a:lstStyle/>
          <a:p>
            <a:pPr indent="0" marL="0">
              <a:buNone/>
            </a:pPr>
            <a:r>
              <a:rPr lang="en-US" sz="1000" dirty="0">
                <a:solidFill>
                  <a:srgbClr val="464B53"/>
                </a:solidFill>
              </a:rPr>
              <a:t>Use a Private window in Safari. Run the smoke test before stage. Fixture demo is labeled on screen and is a manual choice.</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Evidence boundaries</a:t>
            </a:r>
            <a:endParaRPr lang="en-US" sz="3200" dirty="0"/>
          </a:p>
        </p:txBody>
      </p:sp>
      <p:sp>
        <p:nvSpPr>
          <p:cNvPr id="3" name="icon LuFlaskConical"/>
          <p:cNvSpPr/>
          <p:nvPr/>
        </p:nvSpPr>
        <p:spPr>
          <a:xfrm>
            <a:off x="457200" y="1143000"/>
            <a:ext cx="457200" cy="457200"/>
          </a:xfrm>
          <a:prstGeom prst="ellipse">
            <a:avLst/>
          </a:prstGeom>
          <a:solidFill>
            <a:srgbClr val="0B5D46"/>
          </a:solidFill>
          <a:ln w="12700">
            <a:solidFill>
              <a:srgbClr val="0B5D46"/>
            </a:solidFill>
            <a:prstDash val="solid"/>
          </a:ln>
        </p:spPr>
      </p:sp>
      <p:pic>
        <p:nvPicPr>
          <p:cNvPr id="4" name="Image 0" descr="preencoded.png">    </p:cNvPr>
          <p:cNvPicPr>
            <a:picLocks noChangeAspect="1"/>
          </p:cNvPicPr>
          <p:nvPr/>
        </p:nvPicPr>
        <p:blipFill>
          <a:blip r:embed="rId1"/>
          <a:stretch>
            <a:fillRect/>
          </a:stretch>
        </p:blipFill>
        <p:spPr>
          <a:xfrm>
            <a:off x="571500" y="1257300"/>
            <a:ext cx="228600" cy="228600"/>
          </a:xfrm>
          <a:prstGeom prst="rect">
            <a:avLst/>
          </a:prstGeom>
        </p:spPr>
      </p:pic>
      <p:sp>
        <p:nvSpPr>
          <p:cNvPr id="5" name="Text 2"/>
          <p:cNvSpPr txBox="1"/>
          <p:nvPr/>
        </p:nvSpPr>
        <p:spPr>
          <a:xfrm>
            <a:off x="1097280" y="1143000"/>
            <a:ext cx="6858000" cy="457200"/>
          </a:xfrm>
          <a:prstGeom prst="rect">
            <a:avLst/>
          </a:prstGeom>
          <a:noFill/>
          <a:ln/>
        </p:spPr>
        <p:txBody>
          <a:bodyPr wrap="square" lIns="0" tIns="0" rIns="0" bIns="0" rtlCol="0" anchor="ctr"/>
          <a:lstStyle/>
          <a:p>
            <a:pPr indent="0" marL="0">
              <a:buNone/>
            </a:pPr>
            <a:r>
              <a:rPr lang="en-US" sz="1800" dirty="0">
                <a:solidFill>
                  <a:srgbClr val="121417"/>
                </a:solidFill>
              </a:rPr>
              <a:t>Synthetic tests prove logic, not reliability.</a:t>
            </a:r>
            <a:endParaRPr lang="en-US" sz="1800" dirty="0"/>
          </a:p>
        </p:txBody>
      </p:sp>
      <p:sp>
        <p:nvSpPr>
          <p:cNvPr id="6" name="icon LuClock"/>
          <p:cNvSpPr/>
          <p:nvPr/>
        </p:nvSpPr>
        <p:spPr>
          <a:xfrm>
            <a:off x="457200" y="1783080"/>
            <a:ext cx="457200" cy="457200"/>
          </a:xfrm>
          <a:prstGeom prst="ellipse">
            <a:avLst/>
          </a:prstGeom>
          <a:solidFill>
            <a:srgbClr val="0B5D46"/>
          </a:solidFill>
          <a:ln w="12700">
            <a:solidFill>
              <a:srgbClr val="0B5D46"/>
            </a:solidFill>
            <a:prstDash val="solid"/>
          </a:ln>
        </p:spPr>
      </p:sp>
      <p:pic>
        <p:nvPicPr>
          <p:cNvPr id="7" name="Image 1" descr="preencoded.png">    </p:cNvPr>
          <p:cNvPicPr>
            <a:picLocks noChangeAspect="1"/>
          </p:cNvPicPr>
          <p:nvPr/>
        </p:nvPicPr>
        <p:blipFill>
          <a:blip r:embed="rId2"/>
          <a:stretch>
            <a:fillRect/>
          </a:stretch>
        </p:blipFill>
        <p:spPr>
          <a:xfrm>
            <a:off x="571500" y="1897380"/>
            <a:ext cx="228600" cy="228600"/>
          </a:xfrm>
          <a:prstGeom prst="rect">
            <a:avLst/>
          </a:prstGeom>
        </p:spPr>
      </p:pic>
      <p:sp>
        <p:nvSpPr>
          <p:cNvPr id="8" name="Text 4"/>
          <p:cNvSpPr txBox="1"/>
          <p:nvPr/>
        </p:nvSpPr>
        <p:spPr>
          <a:xfrm>
            <a:off x="1097280" y="1783080"/>
            <a:ext cx="6858000" cy="457200"/>
          </a:xfrm>
          <a:prstGeom prst="rect">
            <a:avLst/>
          </a:prstGeom>
          <a:noFill/>
          <a:ln/>
        </p:spPr>
        <p:txBody>
          <a:bodyPr wrap="square" lIns="0" tIns="0" rIns="0" bIns="0" rtlCol="0" anchor="ctr"/>
          <a:lstStyle/>
          <a:p>
            <a:pPr indent="0" marL="0">
              <a:buNone/>
            </a:pPr>
            <a:r>
              <a:rPr lang="en-US" sz="1800" dirty="0">
                <a:solidFill>
                  <a:srgbClr val="121417"/>
                </a:solidFill>
              </a:rPr>
              <a:t>Latency is Mac-measured.</a:t>
            </a:r>
            <a:endParaRPr lang="en-US" sz="1800" dirty="0"/>
          </a:p>
        </p:txBody>
      </p:sp>
      <p:sp>
        <p:nvSpPr>
          <p:cNvPr id="9" name="icon LuUsers"/>
          <p:cNvSpPr/>
          <p:nvPr/>
        </p:nvSpPr>
        <p:spPr>
          <a:xfrm>
            <a:off x="457200" y="2423160"/>
            <a:ext cx="457200" cy="457200"/>
          </a:xfrm>
          <a:prstGeom prst="ellipse">
            <a:avLst/>
          </a:prstGeom>
          <a:solidFill>
            <a:srgbClr val="0B5D46"/>
          </a:solidFill>
          <a:ln w="12700">
            <a:solidFill>
              <a:srgbClr val="0B5D46"/>
            </a:solidFill>
            <a:prstDash val="solid"/>
          </a:ln>
        </p:spPr>
      </p:sp>
      <p:pic>
        <p:nvPicPr>
          <p:cNvPr id="10" name="Image 2" descr="preencoded.png">    </p:cNvPr>
          <p:cNvPicPr>
            <a:picLocks noChangeAspect="1"/>
          </p:cNvPicPr>
          <p:nvPr/>
        </p:nvPicPr>
        <p:blipFill>
          <a:blip r:embed="rId3"/>
          <a:stretch>
            <a:fillRect/>
          </a:stretch>
        </p:blipFill>
        <p:spPr>
          <a:xfrm>
            <a:off x="571500" y="2537460"/>
            <a:ext cx="228600" cy="228600"/>
          </a:xfrm>
          <a:prstGeom prst="rect">
            <a:avLst/>
          </a:prstGeom>
        </p:spPr>
      </p:pic>
      <p:sp>
        <p:nvSpPr>
          <p:cNvPr id="11" name="Text 6"/>
          <p:cNvSpPr txBox="1"/>
          <p:nvPr/>
        </p:nvSpPr>
        <p:spPr>
          <a:xfrm>
            <a:off x="1097280" y="2423160"/>
            <a:ext cx="6858000" cy="457200"/>
          </a:xfrm>
          <a:prstGeom prst="rect">
            <a:avLst/>
          </a:prstGeom>
          <a:noFill/>
          <a:ln/>
        </p:spPr>
        <p:txBody>
          <a:bodyPr wrap="square" lIns="0" tIns="0" rIns="0" bIns="0" rtlCol="0" anchor="ctr"/>
          <a:lstStyle/>
          <a:p>
            <a:pPr indent="0" marL="0">
              <a:buNone/>
            </a:pPr>
            <a:r>
              <a:rPr lang="en-US" sz="1800" dirty="0">
                <a:solidFill>
                  <a:srgbClr val="121417"/>
                </a:solidFill>
              </a:rPr>
              <a:t>No AAC users yet.</a:t>
            </a:r>
            <a:endParaRPr lang="en-US" sz="1800" dirty="0"/>
          </a:p>
        </p:txBody>
      </p:sp>
      <p:sp>
        <p:nvSpPr>
          <p:cNvPr id="12" name="icon LuSmartphone"/>
          <p:cNvSpPr/>
          <p:nvPr/>
        </p:nvSpPr>
        <p:spPr>
          <a:xfrm>
            <a:off x="457200" y="3063240"/>
            <a:ext cx="457200" cy="457200"/>
          </a:xfrm>
          <a:prstGeom prst="ellipse">
            <a:avLst/>
          </a:prstGeom>
          <a:solidFill>
            <a:srgbClr val="0B5D46"/>
          </a:solidFill>
          <a:ln w="12700">
            <a:solidFill>
              <a:srgbClr val="0B5D46"/>
            </a:solidFill>
            <a:prstDash val="solid"/>
          </a:ln>
        </p:spPr>
      </p:sp>
      <p:pic>
        <p:nvPicPr>
          <p:cNvPr id="13" name="Image 3" descr="preencoded.png">    </p:cNvPr>
          <p:cNvPicPr>
            <a:picLocks noChangeAspect="1"/>
          </p:cNvPicPr>
          <p:nvPr/>
        </p:nvPicPr>
        <p:blipFill>
          <a:blip r:embed="rId4"/>
          <a:stretch>
            <a:fillRect/>
          </a:stretch>
        </p:blipFill>
        <p:spPr>
          <a:xfrm>
            <a:off x="571500" y="3177540"/>
            <a:ext cx="228600" cy="228600"/>
          </a:xfrm>
          <a:prstGeom prst="rect">
            <a:avLst/>
          </a:prstGeom>
        </p:spPr>
      </p:pic>
      <p:sp>
        <p:nvSpPr>
          <p:cNvPr id="14" name="Text 8"/>
          <p:cNvSpPr txBox="1"/>
          <p:nvPr/>
        </p:nvSpPr>
        <p:spPr>
          <a:xfrm>
            <a:off x="1097280" y="3063240"/>
            <a:ext cx="6858000" cy="457200"/>
          </a:xfrm>
          <a:prstGeom prst="rect">
            <a:avLst/>
          </a:prstGeom>
          <a:noFill/>
          <a:ln/>
        </p:spPr>
        <p:txBody>
          <a:bodyPr wrap="square" lIns="0" tIns="0" rIns="0" bIns="0" rtlCol="0" anchor="ctr"/>
          <a:lstStyle/>
          <a:p>
            <a:pPr indent="0" marL="0">
              <a:buNone/>
            </a:pPr>
            <a:r>
              <a:rPr lang="en-US" sz="1800" dirty="0">
                <a:solidFill>
                  <a:srgbClr val="121417"/>
                </a:solidFill>
              </a:rPr>
              <a:t>Not tested on phones.</a:t>
            </a:r>
            <a:endParaRPr lang="en-US" sz="1800" dirty="0"/>
          </a:p>
        </p:txBody>
      </p:sp>
      <p:sp>
        <p:nvSpPr>
          <p:cNvPr id="15" name="icon LuInfo"/>
          <p:cNvSpPr/>
          <p:nvPr/>
        </p:nvSpPr>
        <p:spPr>
          <a:xfrm>
            <a:off x="457200" y="3703320"/>
            <a:ext cx="457200" cy="457200"/>
          </a:xfrm>
          <a:prstGeom prst="ellipse">
            <a:avLst/>
          </a:prstGeom>
          <a:solidFill>
            <a:srgbClr val="0B5D46"/>
          </a:solidFill>
          <a:ln w="12700">
            <a:solidFill>
              <a:srgbClr val="0B5D46"/>
            </a:solidFill>
            <a:prstDash val="solid"/>
          </a:ln>
        </p:spPr>
      </p:sp>
      <p:pic>
        <p:nvPicPr>
          <p:cNvPr id="16" name="Image 4" descr="preencoded.png">    </p:cNvPr>
          <p:cNvPicPr>
            <a:picLocks noChangeAspect="1"/>
          </p:cNvPicPr>
          <p:nvPr/>
        </p:nvPicPr>
        <p:blipFill>
          <a:blip r:embed="rId5"/>
          <a:stretch>
            <a:fillRect/>
          </a:stretch>
        </p:blipFill>
        <p:spPr>
          <a:xfrm>
            <a:off x="571500" y="3817620"/>
            <a:ext cx="228600" cy="228600"/>
          </a:xfrm>
          <a:prstGeom prst="rect">
            <a:avLst/>
          </a:prstGeom>
        </p:spPr>
      </p:pic>
      <p:sp>
        <p:nvSpPr>
          <p:cNvPr id="17" name="Text 10"/>
          <p:cNvSpPr txBox="1"/>
          <p:nvPr/>
        </p:nvSpPr>
        <p:spPr>
          <a:xfrm>
            <a:off x="1097280" y="3703320"/>
            <a:ext cx="6858000" cy="457200"/>
          </a:xfrm>
          <a:prstGeom prst="rect">
            <a:avLst/>
          </a:prstGeom>
          <a:noFill/>
          <a:ln/>
        </p:spPr>
        <p:txBody>
          <a:bodyPr wrap="square" lIns="0" tIns="0" rIns="0" bIns="0" rtlCol="0" anchor="ctr"/>
          <a:lstStyle/>
          <a:p>
            <a:pPr indent="0" marL="0">
              <a:buNone/>
            </a:pPr>
            <a:r>
              <a:rPr lang="en-US" sz="1800" dirty="0">
                <a:solidFill>
                  <a:srgbClr val="121417"/>
                </a:solidFill>
              </a:rPr>
              <a:t>Not a medical device.</a:t>
            </a:r>
            <a:endParaRPr lang="en-US" sz="1800" dirty="0"/>
          </a:p>
        </p:txBody>
      </p:sp>
      <p:sp>
        <p:nvSpPr>
          <p:cNvPr id="18" name="Text 11"/>
          <p:cNvSpPr txBox="1"/>
          <p:nvPr/>
        </p:nvSpPr>
        <p:spPr>
          <a:xfrm>
            <a:off x="457200" y="4572000"/>
            <a:ext cx="7406640" cy="256032"/>
          </a:xfrm>
          <a:prstGeom prst="rect">
            <a:avLst/>
          </a:prstGeom>
          <a:noFill/>
          <a:ln/>
        </p:spPr>
        <p:txBody>
          <a:bodyPr wrap="square" lIns="0" tIns="0" rIns="0" bIns="0" rtlCol="0" anchor="ctr"/>
          <a:lstStyle/>
          <a:p>
            <a:pPr indent="0" marL="0">
              <a:buNone/>
            </a:pPr>
            <a:r>
              <a:rPr lang="en-US" sz="1000" dirty="0">
                <a:solidFill>
                  <a:srgbClr val="464B53"/>
                </a:solidFill>
              </a:rPr>
              <a:t>MediaPipe model card: not intended for human life-critical decisions. See the Do-not-say list in JUDGE_QA.md.</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We tried a faster tier. It failed live</a:t>
            </a:r>
            <a:endParaRPr lang="en-US" sz="3200" dirty="0"/>
          </a:p>
        </p:txBody>
      </p:sp>
      <p:sp>
        <p:nvSpPr>
          <p:cNvPr id="3" name="Text 1"/>
          <p:cNvSpPr txBox="1"/>
          <p:nvPr/>
        </p:nvSpPr>
        <p:spPr>
          <a:xfrm>
            <a:off x="457200" y="1051560"/>
            <a:ext cx="8229600" cy="548640"/>
          </a:xfrm>
          <a:prstGeom prst="rect">
            <a:avLst/>
          </a:prstGeom>
          <a:noFill/>
          <a:ln/>
        </p:spPr>
        <p:txBody>
          <a:bodyPr wrap="square" lIns="0" tIns="0" rIns="0" bIns="0" rtlCol="0" anchor="t"/>
          <a:lstStyle/>
          <a:p>
            <a:pPr indent="0" marL="0">
              <a:buNone/>
            </a:pPr>
            <a:r>
              <a:rPr lang="en-US" sz="1600" dirty="0">
                <a:solidFill>
                  <a:srgbClr val="464B53"/>
                </a:solidFill>
              </a:rPr>
              <a:t>4 of 6 replies timed out on the deployed server. We turned it off, redeployed, and now smoke-test after every config change.</a:t>
            </a:r>
            <a:endParaRPr lang="en-US" sz="1600" dirty="0"/>
          </a:p>
        </p:txBody>
      </p:sp>
      <p:sp>
        <p:nvSpPr>
          <p:cNvPr id="4" name="Shape 2"/>
          <p:cNvSpPr/>
          <p:nvPr/>
        </p:nvSpPr>
        <p:spPr>
          <a:xfrm>
            <a:off x="1097280" y="2331720"/>
            <a:ext cx="6949440" cy="914"/>
          </a:xfrm>
          <a:prstGeom prst="line">
            <a:avLst/>
          </a:prstGeom>
          <a:noFill/>
          <a:ln w="25400">
            <a:solidFill>
              <a:srgbClr val="D9DCE0"/>
            </a:solidFill>
            <a:prstDash val="solid"/>
          </a:ln>
        </p:spPr>
      </p:sp>
      <p:sp>
        <p:nvSpPr>
          <p:cNvPr id="5" name="icon LuTriangleAlert"/>
          <p:cNvSpPr/>
          <p:nvPr/>
        </p:nvSpPr>
        <p:spPr>
          <a:xfrm>
            <a:off x="822960" y="2057400"/>
            <a:ext cx="548640" cy="548640"/>
          </a:xfrm>
          <a:prstGeom prst="ellipse">
            <a:avLst/>
          </a:prstGeom>
          <a:solidFill>
            <a:srgbClr val="B54A3C"/>
          </a:solidFill>
          <a:ln w="12700">
            <a:solidFill>
              <a:srgbClr val="B54A3C"/>
            </a:solidFill>
            <a:prstDash val="solid"/>
          </a:ln>
        </p:spPr>
      </p:sp>
      <p:pic>
        <p:nvPicPr>
          <p:cNvPr id="6" name="Image 0" descr="preencoded.png">    </p:cNvPr>
          <p:cNvPicPr>
            <a:picLocks noChangeAspect="1"/>
          </p:cNvPicPr>
          <p:nvPr/>
        </p:nvPicPr>
        <p:blipFill>
          <a:blip r:embed="rId1"/>
          <a:stretch>
            <a:fillRect/>
          </a:stretch>
        </p:blipFill>
        <p:spPr>
          <a:xfrm>
            <a:off x="960120" y="2194560"/>
            <a:ext cx="274320" cy="274320"/>
          </a:xfrm>
          <a:prstGeom prst="rect">
            <a:avLst/>
          </a:prstGeom>
        </p:spPr>
      </p:pic>
      <p:sp>
        <p:nvSpPr>
          <p:cNvPr id="7" name="Text 4"/>
          <p:cNvSpPr txBox="1"/>
          <p:nvPr/>
        </p:nvSpPr>
        <p:spPr>
          <a:xfrm>
            <a:off x="0" y="2743200"/>
            <a:ext cx="2194560" cy="365760"/>
          </a:xfrm>
          <a:prstGeom prst="rect">
            <a:avLst/>
          </a:prstGeom>
          <a:noFill/>
          <a:ln/>
        </p:spPr>
        <p:txBody>
          <a:bodyPr wrap="square" lIns="0" tIns="0" rIns="0" bIns="0" rtlCol="0" anchor="t"/>
          <a:lstStyle/>
          <a:p>
            <a:pPr algn="ctr" indent="0" marL="0">
              <a:buNone/>
            </a:pPr>
            <a:r>
              <a:rPr lang="en-US" sz="2000" b="1" dirty="0">
                <a:solidFill>
                  <a:srgbClr val="121417"/>
                </a:solidFill>
              </a:rPr>
              <a:t>14:05</a:t>
            </a:r>
            <a:endParaRPr lang="en-US" sz="2000" dirty="0"/>
          </a:p>
        </p:txBody>
      </p:sp>
      <p:sp>
        <p:nvSpPr>
          <p:cNvPr id="8" name="Text 5"/>
          <p:cNvSpPr txBox="1"/>
          <p:nvPr/>
        </p:nvSpPr>
        <p:spPr>
          <a:xfrm>
            <a:off x="0" y="3154680"/>
            <a:ext cx="2194560" cy="320040"/>
          </a:xfrm>
          <a:prstGeom prst="rect">
            <a:avLst/>
          </a:prstGeom>
          <a:noFill/>
          <a:ln/>
        </p:spPr>
        <p:txBody>
          <a:bodyPr wrap="square" lIns="0" tIns="0" rIns="0" bIns="0" rtlCol="0" anchor="t"/>
          <a:lstStyle/>
          <a:p>
            <a:pPr algn="ctr" indent="0" marL="0">
              <a:buNone/>
            </a:pPr>
            <a:r>
              <a:rPr lang="en-US" sz="1500" b="1" dirty="0">
                <a:solidFill>
                  <a:srgbClr val="121417"/>
                </a:solidFill>
              </a:rPr>
              <a:t>Fail</a:t>
            </a:r>
            <a:endParaRPr lang="en-US" sz="1500" dirty="0"/>
          </a:p>
        </p:txBody>
      </p:sp>
      <p:sp>
        <p:nvSpPr>
          <p:cNvPr id="9" name="Text 6"/>
          <p:cNvSpPr txBox="1"/>
          <p:nvPr/>
        </p:nvSpPr>
        <p:spPr>
          <a:xfrm>
            <a:off x="0" y="3474720"/>
            <a:ext cx="2194560" cy="320040"/>
          </a:xfrm>
          <a:prstGeom prst="rect">
            <a:avLst/>
          </a:prstGeom>
          <a:noFill/>
          <a:ln/>
        </p:spPr>
        <p:txBody>
          <a:bodyPr wrap="square" lIns="0" tIns="0" rIns="0" bIns="0" rtlCol="0" anchor="t"/>
          <a:lstStyle/>
          <a:p>
            <a:pPr algn="ctr" indent="0" marL="0">
              <a:buNone/>
            </a:pPr>
            <a:r>
              <a:rPr lang="en-US" sz="1300" dirty="0">
                <a:solidFill>
                  <a:srgbClr val="464B53"/>
                </a:solidFill>
              </a:rPr>
              <a:t>4 of 6 replies timed out</a:t>
            </a:r>
            <a:endParaRPr lang="en-US" sz="1300" dirty="0"/>
          </a:p>
        </p:txBody>
      </p:sp>
      <p:sp>
        <p:nvSpPr>
          <p:cNvPr id="10" name="icon LuX"/>
          <p:cNvSpPr/>
          <p:nvPr/>
        </p:nvSpPr>
        <p:spPr>
          <a:xfrm>
            <a:off x="4297680" y="2057400"/>
            <a:ext cx="548640" cy="548640"/>
          </a:xfrm>
          <a:prstGeom prst="ellipse">
            <a:avLst/>
          </a:prstGeom>
          <a:solidFill>
            <a:srgbClr val="8A9099"/>
          </a:solidFill>
          <a:ln w="12700">
            <a:solidFill>
              <a:srgbClr val="8A9099"/>
            </a:solidFill>
            <a:prstDash val="solid"/>
          </a:ln>
        </p:spPr>
      </p:sp>
      <p:pic>
        <p:nvPicPr>
          <p:cNvPr id="11" name="Image 1" descr="preencoded.png">    </p:cNvPr>
          <p:cNvPicPr>
            <a:picLocks noChangeAspect="1"/>
          </p:cNvPicPr>
          <p:nvPr/>
        </p:nvPicPr>
        <p:blipFill>
          <a:blip r:embed="rId2"/>
          <a:stretch>
            <a:fillRect/>
          </a:stretch>
        </p:blipFill>
        <p:spPr>
          <a:xfrm>
            <a:off x="4434840" y="2194560"/>
            <a:ext cx="274320" cy="274320"/>
          </a:xfrm>
          <a:prstGeom prst="rect">
            <a:avLst/>
          </a:prstGeom>
        </p:spPr>
      </p:pic>
      <p:sp>
        <p:nvSpPr>
          <p:cNvPr id="12" name="Text 8"/>
          <p:cNvSpPr txBox="1"/>
          <p:nvPr/>
        </p:nvSpPr>
        <p:spPr>
          <a:xfrm>
            <a:off x="3474720" y="2743200"/>
            <a:ext cx="2194560" cy="365760"/>
          </a:xfrm>
          <a:prstGeom prst="rect">
            <a:avLst/>
          </a:prstGeom>
          <a:noFill/>
          <a:ln/>
        </p:spPr>
        <p:txBody>
          <a:bodyPr wrap="square" lIns="0" tIns="0" rIns="0" bIns="0" rtlCol="0" anchor="t"/>
          <a:lstStyle/>
          <a:p>
            <a:pPr algn="ctr" indent="0" marL="0">
              <a:buNone/>
            </a:pPr>
            <a:r>
              <a:rPr lang="en-US" sz="2000" b="1" dirty="0">
                <a:solidFill>
                  <a:srgbClr val="121417"/>
                </a:solidFill>
              </a:rPr>
              <a:t>14:10</a:t>
            </a:r>
            <a:endParaRPr lang="en-US" sz="2000" dirty="0"/>
          </a:p>
        </p:txBody>
      </p:sp>
      <p:sp>
        <p:nvSpPr>
          <p:cNvPr id="13" name="Text 9"/>
          <p:cNvSpPr txBox="1"/>
          <p:nvPr/>
        </p:nvSpPr>
        <p:spPr>
          <a:xfrm>
            <a:off x="3474720" y="3154680"/>
            <a:ext cx="2194560" cy="320040"/>
          </a:xfrm>
          <a:prstGeom prst="rect">
            <a:avLst/>
          </a:prstGeom>
          <a:noFill/>
          <a:ln/>
        </p:spPr>
        <p:txBody>
          <a:bodyPr wrap="square" lIns="0" tIns="0" rIns="0" bIns="0" rtlCol="0" anchor="t"/>
          <a:lstStyle/>
          <a:p>
            <a:pPr algn="ctr" indent="0" marL="0">
              <a:buNone/>
            </a:pPr>
            <a:r>
              <a:rPr lang="en-US" sz="1500" b="1" dirty="0">
                <a:solidFill>
                  <a:srgbClr val="121417"/>
                </a:solidFill>
              </a:rPr>
              <a:t>Variable deleted</a:t>
            </a:r>
            <a:endParaRPr lang="en-US" sz="1500" dirty="0"/>
          </a:p>
        </p:txBody>
      </p:sp>
      <p:sp>
        <p:nvSpPr>
          <p:cNvPr id="14" name="Text 10"/>
          <p:cNvSpPr txBox="1"/>
          <p:nvPr/>
        </p:nvSpPr>
        <p:spPr>
          <a:xfrm>
            <a:off x="3474720" y="3474720"/>
            <a:ext cx="2194560" cy="320040"/>
          </a:xfrm>
          <a:prstGeom prst="rect">
            <a:avLst/>
          </a:prstGeom>
          <a:noFill/>
          <a:ln/>
        </p:spPr>
        <p:txBody>
          <a:bodyPr wrap="square" lIns="0" tIns="0" rIns="0" bIns="0" rtlCol="0" anchor="t"/>
          <a:lstStyle/>
          <a:p>
            <a:pPr algn="ctr" indent="0" marL="0">
              <a:buNone/>
            </a:pPr>
            <a:r>
              <a:rPr lang="en-US" sz="1300" dirty="0">
                <a:solidFill>
                  <a:srgbClr val="464B53"/>
                </a:solidFill>
              </a:rPr>
              <a:t>No redeploy, still failing</a:t>
            </a:r>
            <a:endParaRPr lang="en-US" sz="1300" dirty="0"/>
          </a:p>
        </p:txBody>
      </p:sp>
      <p:sp>
        <p:nvSpPr>
          <p:cNvPr id="15" name="icon LuCircleCheck"/>
          <p:cNvSpPr/>
          <p:nvPr/>
        </p:nvSpPr>
        <p:spPr>
          <a:xfrm>
            <a:off x="7772400" y="2057400"/>
            <a:ext cx="548640" cy="548640"/>
          </a:xfrm>
          <a:prstGeom prst="ellipse">
            <a:avLst/>
          </a:prstGeom>
          <a:solidFill>
            <a:srgbClr val="0B5D46"/>
          </a:solidFill>
          <a:ln w="12700">
            <a:solidFill>
              <a:srgbClr val="0B5D46"/>
            </a:solidFill>
            <a:prstDash val="solid"/>
          </a:ln>
        </p:spPr>
      </p:sp>
      <p:pic>
        <p:nvPicPr>
          <p:cNvPr id="16" name="Image 2" descr="preencoded.png">    </p:cNvPr>
          <p:cNvPicPr>
            <a:picLocks noChangeAspect="1"/>
          </p:cNvPicPr>
          <p:nvPr/>
        </p:nvPicPr>
        <p:blipFill>
          <a:blip r:embed="rId3"/>
          <a:stretch>
            <a:fillRect/>
          </a:stretch>
        </p:blipFill>
        <p:spPr>
          <a:xfrm>
            <a:off x="7909560" y="2194560"/>
            <a:ext cx="274320" cy="274320"/>
          </a:xfrm>
          <a:prstGeom prst="rect">
            <a:avLst/>
          </a:prstGeom>
        </p:spPr>
      </p:pic>
      <p:sp>
        <p:nvSpPr>
          <p:cNvPr id="17" name="Text 12"/>
          <p:cNvSpPr txBox="1"/>
          <p:nvPr/>
        </p:nvSpPr>
        <p:spPr>
          <a:xfrm>
            <a:off x="6949440" y="2743200"/>
            <a:ext cx="2194560" cy="365760"/>
          </a:xfrm>
          <a:prstGeom prst="rect">
            <a:avLst/>
          </a:prstGeom>
          <a:noFill/>
          <a:ln/>
        </p:spPr>
        <p:txBody>
          <a:bodyPr wrap="square" lIns="0" tIns="0" rIns="0" bIns="0" rtlCol="0" anchor="t"/>
          <a:lstStyle/>
          <a:p>
            <a:pPr algn="ctr" indent="0" marL="0">
              <a:buNone/>
            </a:pPr>
            <a:r>
              <a:rPr lang="en-US" sz="2000" b="1" dirty="0">
                <a:solidFill>
                  <a:srgbClr val="121417"/>
                </a:solidFill>
              </a:rPr>
              <a:t>14:16</a:t>
            </a:r>
            <a:endParaRPr lang="en-US" sz="2000" dirty="0"/>
          </a:p>
        </p:txBody>
      </p:sp>
      <p:sp>
        <p:nvSpPr>
          <p:cNvPr id="18" name="Text 13"/>
          <p:cNvSpPr txBox="1"/>
          <p:nvPr/>
        </p:nvSpPr>
        <p:spPr>
          <a:xfrm>
            <a:off x="6949440" y="3154680"/>
            <a:ext cx="2194560" cy="320040"/>
          </a:xfrm>
          <a:prstGeom prst="rect">
            <a:avLst/>
          </a:prstGeom>
          <a:noFill/>
          <a:ln/>
        </p:spPr>
        <p:txBody>
          <a:bodyPr wrap="square" lIns="0" tIns="0" rIns="0" bIns="0" rtlCol="0" anchor="t"/>
          <a:lstStyle/>
          <a:p>
            <a:pPr algn="ctr" indent="0" marL="0">
              <a:buNone/>
            </a:pPr>
            <a:r>
              <a:rPr lang="en-US" sz="1500" b="1" dirty="0">
                <a:solidFill>
                  <a:srgbClr val="121417"/>
                </a:solidFill>
              </a:rPr>
              <a:t>Redeploy</a:t>
            </a:r>
            <a:endParaRPr lang="en-US" sz="1500" dirty="0"/>
          </a:p>
        </p:txBody>
      </p:sp>
      <p:sp>
        <p:nvSpPr>
          <p:cNvPr id="19" name="Text 14"/>
          <p:cNvSpPr txBox="1"/>
          <p:nvPr/>
        </p:nvSpPr>
        <p:spPr>
          <a:xfrm>
            <a:off x="6949440" y="3474720"/>
            <a:ext cx="2194560" cy="320040"/>
          </a:xfrm>
          <a:prstGeom prst="rect">
            <a:avLst/>
          </a:prstGeom>
          <a:noFill/>
          <a:ln/>
        </p:spPr>
        <p:txBody>
          <a:bodyPr wrap="square" lIns="0" tIns="0" rIns="0" bIns="0" rtlCol="0" anchor="t"/>
          <a:lstStyle/>
          <a:p>
            <a:pPr algn="ctr" indent="0" marL="0">
              <a:buNone/>
            </a:pPr>
            <a:r>
              <a:rPr lang="en-US" sz="1300" dirty="0">
                <a:solidFill>
                  <a:srgbClr val="464B53"/>
                </a:solidFill>
              </a:rPr>
              <a:t>4/4 OK</a:t>
            </a:r>
            <a:endParaRPr lang="en-US" sz="1300" dirty="0"/>
          </a:p>
        </p:txBody>
      </p:sp>
      <p:sp>
        <p:nvSpPr>
          <p:cNvPr id="20" name="Text 15"/>
          <p:cNvSpPr txBox="1"/>
          <p:nvPr/>
        </p:nvSpPr>
        <p:spPr>
          <a:xfrm>
            <a:off x="457200" y="4572000"/>
            <a:ext cx="7406640" cy="256032"/>
          </a:xfrm>
          <a:prstGeom prst="rect">
            <a:avLst/>
          </a:prstGeom>
          <a:noFill/>
          <a:ln/>
        </p:spPr>
        <p:txBody>
          <a:bodyPr wrap="square" lIns="0" tIns="0" rIns="0" bIns="0" rtlCol="0" anchor="ctr"/>
          <a:lstStyle/>
          <a:p>
            <a:pPr indent="0" marL="0">
              <a:buNone/>
            </a:pPr>
            <a:r>
              <a:rPr lang="en-US" sz="1000" dirty="0">
                <a:solidFill>
                  <a:srgbClr val="464B53"/>
                </a:solidFill>
              </a:rPr>
              <a:t>Source: Railway logs, TEST_RESULTS.md.</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etailed architecture: iPad, Railway server, external providers">    </p:cNvPr>
          <p:cNvPicPr>
            <a:picLocks noChangeAspect="1"/>
          </p:cNvPicPr>
          <p:nvPr/>
        </p:nvPicPr>
        <p:blipFill>
          <a:blip r:embed="rId1"/>
          <a:stretch>
            <a:fillRect/>
          </a:stretch>
        </p:blipFill>
        <p:spPr>
          <a:xfrm>
            <a:off x="142240" y="73152"/>
            <a:ext cx="8859520" cy="4983480"/>
          </a:xfrm>
          <a:prstGeom prst="rect">
            <a:avLst/>
          </a:prstGeom>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One turn, end to end: sequence of partner, person, iPad, server, OpenAI, ElevenLabs">    </p:cNvPr>
          <p:cNvPicPr>
            <a:picLocks noChangeAspect="1"/>
          </p:cNvPicPr>
          <p:nvPr/>
        </p:nvPicPr>
        <p:blipFill>
          <a:blip r:embed="rId1"/>
          <a:stretch>
            <a:fillRect/>
          </a:stretch>
        </p:blipFill>
        <p:spPr>
          <a:xfrm>
            <a:off x="142240" y="73152"/>
            <a:ext cx="8859520" cy="4983480"/>
          </a:xfrm>
          <a:prstGeom prst="rect">
            <a:avLst/>
          </a:prstGeom>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099"/>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theme/theme1.xml><?xml version="1.0" encoding="utf-8"?>
<a:theme xmlns:a="http://schemas.openxmlformats.org/drawingml/2006/main" name="Still Here">
  <a:themeElements>
    <a:clrScheme name="Still Here">
      <a:dk1>
        <a:srgbClr val="121417"/>
      </a:dk1>
      <a:lt1>
        <a:srgbClr val="FFFFFF"/>
      </a:lt1>
      <a:dk2>
        <a:srgbClr val="464B53"/>
      </a:dk2>
      <a:lt2>
        <a:srgbClr val="FAFAFA"/>
      </a:lt2>
      <a:accent1>
        <a:srgbClr val="0B5D46"/>
      </a:accent1>
      <a:accent2>
        <a:srgbClr val="E2F2EC"/>
      </a:accent2>
      <a:accent3>
        <a:srgbClr val="3C8C6E"/>
      </a:accent3>
      <a:accent4>
        <a:srgbClr val="8A9099"/>
      </a:accent4>
      <a:accent5>
        <a:srgbClr val="B8BDC4"/>
      </a:accent5>
      <a:accent6>
        <a:srgbClr val="7FD1B0"/>
      </a:accent6>
      <a:hlink>
        <a:srgbClr val="0B5D46"/>
      </a:hlink>
      <a:folHlink>
        <a:srgbClr val="464B53"/>
      </a:folHlink>
    </a:clrScheme>
    <a:fontScheme name="Still He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Still Here: SASEHacks for Good pitch</dc:title>
  <dc:subject>PptxGenJS Presentation</dc:subject>
  <dc:creator>Still Here team</dc:creator>
  <cp:lastModifiedBy>Still Here team</cp:lastModifiedBy>
  <cp:revision>1</cp:revision>
  <dcterms:created xsi:type="dcterms:W3CDTF">2026-10-24T20:03:16Z</dcterms:created>
  <dcterms:modified xsi:type="dcterms:W3CDTF">2026-10-24T20:03:16Z</dcterms:modified>
</cp:coreProperties>
</file>