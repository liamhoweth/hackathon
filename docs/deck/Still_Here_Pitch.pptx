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ed107f4-e7b1-2a47-b23c-a43a4de5a03a}">
          <p14:sldIdLst>
            <p14:sldId id="256"/>
          </p14:sldIdLst>
        </p14:section>
        <p14:section name="Human problem" id="{d0973fbb-0a09-f080-bf6a-b5bb84522f90}">
          <p14:sldIdLst>
            <p14:sldId id="257"/>
          </p14:sldIdLst>
        </p14:section>
        <p14:section name="Product" id="{d58e734e-6bfe-5dc7-af53-27e378550db4}">
          <p14:sldIdLst>
            <p14:sldId id="258"/>
            <p14:sldId id="259"/>
          </p14:sldIdLst>
        </p14:section>
        <p14:section name="Hands-free iPad" id="{d2c6bcbb-6562-8b04-4134-a2436b9004f4}">
          <p14:sldIdLst>
            <p14:sldId id="260"/>
            <p14:sldId id="261"/>
            <p14:sldId id="262"/>
          </p14:sldIdLst>
        </p14:section>
        <p14:section name="Natural voice" id="{0afe2737-26a7-5d19-6a74-300098b7611b}">
          <p14:sldIdLst>
            <p14:sldId id="263"/>
          </p14:sldIdLst>
        </p14:section>
        <p14:section name="Engineering and evidence" id="{e0fdd59d-3528-3fd2-d06f-580c85216903}">
          <p14:sldIdLst>
            <p14:sldId id="264"/>
            <p14:sldId id="265"/>
          </p14:sldIdLst>
        </p14:section>
        <p14:section name="Limitations and next steps" id="{f18067da-69f5-d01b-773a-7cf176e045b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calmly, no drama. "Still Here is a hackathon prototype. AI offers possible words; the person decides what to say."
Set expectations up front: this is a prototype built today. We'll show what we verified and say plainly what we haven't.
Timing: about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on the slide and pause.
"We built Still Here to explore reducing that effort while keeping every word under the person's control."
Connect it to ordinary life: humor, relationships, setting boundaries, independence. People who use AAC have plenty to say; the bottleneck we care about is the effort of getting it out in time.
Do NOT quote statistics (none are verified in REFERENCES.md). No pity framing. This is a design problem for some AAC users, not a claim about everyone.
Timing: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line: "AI offers possible words. The person decides what to say."
Walk the flow left to right: the partner asks; the AI offers three possibilities with different meanings; the person chooses one, rejects all with None of these, guides the direction, or writes their own; review shows the exact sentence and starts on Cancel; a separate confirmation authorizes speech; only that sentence is spoken.
Stress the guardrails: the AI cannot select, speak, or remember anything on its own. Rejections apply to the current question only and are not stored as opinions.
The person can also start conversations (Start a conversation, Quick phrases, My words).
Timing: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iPad simulator in Safari, running locally, in Fixture demo mode with touch input. They are not from a physical iPad and not driven by facial gestures. Say that if asked.
Left: the board. The partner asked "Are you coming to dinner tonight?"; three replies with different meanings (yes, no, ask for more); None of these for new meanings; Guide, Quick phrases, My words.
Right: review. The exact sentence, its source (Fixture demo suggestion), and what it answers. Cancel, Speak, Change wording. In gesture mode the highlight starts on Cancel.
Note the status bar shows the real state: Voice = Basic device voice, Suggestions = Fixture demo.
Timing: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eyebrows up for half a second moves one item; a deliberate long blink selects; a fresh long blink authorizes speech.
Details if asked: the 500 ms hold is timed with a monotonic clock, not frame counts. Holding longer still moves one step. A raise must relax to neutral before the next counts. A blink closure freezes the highlight and cancels an unfinished raise. Short natural blinks fall below the calibrated minimum; both eyes must close, so winks don't count.
The small mirrored live self-view sits top right with accepted-gesture feedback ("Eyebrow raise detected — Next", "Blink detected — Selected"). The drawing on the right is a diagram, not a screenshot.
Be honest: none of this has been run on a physical iPad, and reliability is not measured. Long-blink logic passes synthetic tests; the eyebrow and arbiter tests are written but no run is recorded in TEST_RESULTS.
Live demo: see DEMO_SCRIPT.md. Say if a helper granted camera permission or tapped Enable Audio. If eyebrow detection fails, switch to auto-scan + blink and say "the eyebrow path is experimental".
Timing: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touch-friendly for a helper, then hands-free.
Left: the person picks how to choose. Eyebrows + blinks is recommended; auto-scan with blink, keyboard/switch, and touch are first-class alternatives, not afterthoughts.
Middle: per-person calibration: neutral brows, comfortable 500 ms raises, natural blinks, deliberate long blinks, then a practice select and a separate practice confirm. Calibration fails openly if raised and neutral brows (or natural and deliberate blinks) can't be separated.
Right: the simulator has no camera, so the app says the camera is unavailable and offers keyboard/switch or touch. That is the honest-failure behavior.
Do not claim setup is hands-free if a helper tapped Allow or Enable Audio.
Timing: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iPad. Follow DEMO_SCRIPT.md (90–120 s; exact raise and blink counts are there). A helper may have tapped Safari's camera prompt and "Enable audio &amp; test voice": say so. Operator's hands go in their lap.
1. "My partner asks a question. The AI offers three different possibilities. It chooses nothing."
2. One raise: "Eyebrows up for half a second moves one step." Hold about 2 s: "Holding longer doesn't skip ahead. Nothing moves on a timer."
3. Raises to None of these, long blink: "That rejects them for this question only; it isn't stored as an opinion."
4. Guide my response → Choose a direction → Suggest an alternative: "The person steers; the AI follows." Pick a card.
5. Review: "Nothing is spoken yet. Review shows the exact text and starts on Cancel." One raise to Speak, then a new long blink: "Speaking takes a second, separate blink."
   Only if heard: "That's ElevenLabs saying exactly the sentence I confirmed and nothing else." Basic voice: "That's the basic device voice; the natural voice isn't configured here."
Fallback lines (label every one):
- Eyebrows: tap the card (touch works in every mode) or switch to auto-scan + blink: "Eyebrow detection isn't reliable in this light... The eyebrow path is experimental."
- Blinks: "Blinks aren't separating cleanly here. Same screens, same review and confirmation, by touch."
- Voice: "The natural voice is unavailable. This is the basic device voice, and I had to confirm again."
- Audio blocked: helper taps Enable audio. "Safari blocked the audio, so it isn't fully hands-free here. The app says so instead of pretending."
- Live AI: "The AI is unavailable, so this is our labeled fixture set (or my own words)."
- Crash: restart; any backup recording is introduced as "a recording from earlier today."
Do not say detection is accurate, reliable, or clinical; do not say frames never leave the iPad as a verified fact; do not say the voice is cloned.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speaks the exact confirmed sentence: no added words, no paraphrase, no generic chatbot talking for the user. Prebuilt AI voice, not a clone, disclosed as AI-generated.
The key is server-side only; the server sends only the confirmed sentence. If ElevenLabs fails, the app shows the exact text and offers the clearly labeled basic device voice, which needs a fresh review and confirmation because the first attempt may have partly played.
Honest status (TEST_RESULTS.md): no ElevenLabs key is configured, so the live natural voice has NOT been heard in our app. The screenshot shows the app saying exactly that. Audible output of the basic browser voice was not confirmed by a listener either (only playback callbacks were observed).
Only say "that was ElevenLabs" if it was actually heard on the iPad. Do not quote vendor latency as our latency. Do not claim zero retention: per the ElevenLabs docs read today, request logging is on by default and zero-retention mode is enterprise-only.
On iPad Safari, audio needs one real tap first (Enable Audio / Test Voice); whether later blink-confirmed speech plays without another touch is not iPad-verified.
Timing: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on the iPad: a local MediaPipe face landmarker running in Safari, pinned to 1.1.1 and served from our own origin. We use only brow-raise and eye-closure scores plus a face count: no identity, no gaze, no emotion.
Those scores go through per-person calibration, hysteresis, a 500 ms monotonic hold, and latch-and-rearm, then a single arbiter that accepts at most one command per physical gesture. A raise and a closure that start together are treated as ambiguous and do nothing.
Everything, touch, switch, keyboard, and gestures, reaches one reducer and one target registry through the same guarded activate path. Review is immutable and starts on Cancel; confirmation needs a new input cycle.
Server: structured OpenAI generation (gpt-6-astra, strict JSON schema, store: false, no tools, at most one repair attempt), validated to exactly three distinct options. ElevenLabs key held on the server only. Railway gives HTTPS, which iPad Safari needs for camera access. Paid routes need an access code.
Status honesty: the blink path is in TEST_RESULTS with synthetic tests passing. The eyebrow gesture, brow calibration, arbiter, and ElevenLabs speech code were committed at 12:13 CT; their tests are written but no run is recorded in TEST_RESULTS. The deployed Railway build did not include them at the last recorded check. "Camera stays on the iPad" is the design; the network-log check is pending.
Timing: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numbers recorded in docs/TEST_RESULTS.md.
- 134/134 vitest tests in 10 files at 11:50 CT, including blink gesture, calibration, scan attribution and timing, detector timestamps, and audit regressions. The provider SDK is mocked in the API tests: that proves plumbing, validation, and retry budget, not model behavior.
- 14/14 synthetic live scenarios with gpt-6-astra returned valid batches (outputs in docs/evidence/live-scenarios.json). Human judgment fields are still "not reviewed". If asked about behavior: Claude reviewed them (not human judgment) and saw, for example, the quoted prompt injection not being followed and no invented memories.
- Railway: live route without the access code returned 401 (also with a spoofed Host header); with the code, 200. Blink model and WASM assets served from our origin at 11:46 CT.
- Typecheck, lint, and production build passed at 11:00 CT.
- Observation only, not a latency study: a single synthetic live reply call took about 4 seconds.
Not run or not measured: the physical iPad trial, eyebrow and blink on a real camera, gesture reliability, the ElevenLabs voice, any run of the new eyebrow/arbiter/speech tests, time to speech and error rates, and any testing with AAC users. Browser fallbacks (switch scanning, staging, consented learning, My words) passed in a desktop browser pane with synthesized key events, not a physical switch.
Newer runs: PRESENTATION_LOG.md mentions a 285/285 vitest run at 12:18 CT that is NOT yet recorded in TEST_RESULTS.md. Cite it only once it is recorded there (then update TESTS_PASSED in build_deck.js and rebuild).
If the iPad trial gets recorded before judging, replace "not run" with the real counts and n (raises attempted, committed NEXTs, missed, inadvertent; lighting, glasses, tester). Never give percentages from a tiny sample.
Timing: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limits.
AAC and facial-gesture access already exist (VisioALS, Bobbai, Speak4Me, Google's SpeakFaster, and Project Converse are research leads in REFERENCES.md; we haven't independently verified them). We are not claiming a first. Our contribution is this working combination.
Access needs differ. Not everyone can raise their eyebrows or blink on purpose, so auto-scan, switch, keyboard, and touch stay first-class. Lighting, glasses, camera angle, fatigue, and speech movements are expected to affect detection; none of that has been studied.
Privacy: the camera stays on the iPad by design. Say "the network log showed no frames uploaded" only if that check (SYS-13) has been recorded. The confirmed sentence goes to ElevenLabs; we make no zero-retention claim.
Not clinically validated. Not tested with AAC users. The next step, planned but not arranged, is evaluation and co-design with AAC users and specialists, alongside a recorded iPad trial and real effort measurements.
Timing: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"AI offers possibilities. The person keeps authorship. Our prototype uses simple calibrated facial gestures and a natural voice to explore less effortful conversation. The next step is evaluation and co-design with AAC users and specialists."
If the natural voice was not heard in the demo, drop "and a natural voice" or say "a natural voice path, not yet heard on the iPad".
Then take questions; JUDGE_QA.md has grounded answers. Common ones: reliability (not measured), whether a gesture can accidentally speak (needs selection, review starting on Cancel, a raise to Speak, and a new long blink at least 600 ms after review opens; kernel side unit-tested, gesture side not iPad-tested), what goes to ElevenLabs (only the confirmed sentence), and whether someone with ALS can use it (we don't know; no AAC user has tested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H_TITLE_DARK">
    <p:bg>
      <p:bgPr>
        <a:solidFill>
          <a:srgbClr val="0F2A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371600"/>
          </a:xfrm>
          <a:prstGeom prst="rect">
            <a:avLst/>
          </a:prstGeom>
          <a:noFill/>
          <a:ln/>
        </p:spPr>
        <p:txBody>
          <a:bodyPr wrap="square" rtlCol="0"/>
          <a:lstStyle>
            <a:lvl1pPr indent="0" marL="0">
              <a:buNone/>
              <a:defRPr lang="en-US" sz="6600" b="1" dirty="0">
                <a:solidFill>
                  <a:schemeClr val="bg1"/>
                </a:solidFill>
              </a:defRPr>
            </a:lvl1pPr>
          </a:lstStyle>
          <a:p>
            <a:pPr indent="0" marL="0">
              <a:buNone/>
            </a:pPr>
            <a:endParaRPr lang="en-US" sz="6600" dirty="0"/>
          </a:p>
        </p:txBody>
      </p:sp>
      <p:sp>
        <p:nvSpPr>
          <p:cNvPr id="3" name="Text 0"/>
          <p:cNvSpPr/>
          <p:nvPr>
            <p:ph idx="101" type="body" hasCustomPrompt="1"/>
          </p:nvPr>
        </p:nvSpPr>
        <p:spPr>
          <a:xfrm>
            <a:off x="548640" y="3611880"/>
            <a:ext cx="11094415" cy="731520"/>
          </a:xfrm>
          <a:prstGeom prst="rect">
            <a:avLst/>
          </a:prstGeom>
          <a:noFill/>
          <a:ln/>
        </p:spPr>
        <p:txBody>
          <a:bodyPr wrap="square" rtlCol="0"/>
          <a:lstStyle>
            <a:lvl1pPr indent="0" marL="0">
              <a:buNone/>
              <a:defRPr lang="en-US" sz="2800" dirty="0">
                <a:solidFill>
                  <a:schemeClr val="accent6"/>
                </a:solidFill>
              </a:defRPr>
            </a:lvl1pPr>
          </a:lstStyle>
          <a:p>
            <a:pPr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H_CLOSE_DARK">
    <p:bg>
      <p:bgPr>
        <a:solidFill>
          <a:srgbClr val="0F2A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9601200" cy="219456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548640" y="3931920"/>
            <a:ext cx="11094415" cy="640080"/>
          </a:xfrm>
          <a:prstGeom prst="rect">
            <a:avLst/>
          </a:prstGeom>
          <a:noFill/>
          <a:ln/>
        </p:spPr>
        <p:txBody>
          <a:bodyPr wrap="square" rtlCol="0"/>
          <a:lstStyle>
            <a:lvl1pPr indent="0" marL="0">
              <a:buNone/>
              <a:defRPr lang="en-US" sz="2400" dirty="0">
                <a:solidFill>
                  <a:schemeClr val="accent6"/>
                </a:solidFill>
              </a:defRPr>
            </a:lvl1pPr>
          </a:lstStyle>
          <a:p>
            <a:pPr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H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Still Here · hackathon prototype · not clinically validated</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H_DARK">
    <p:bg>
      <p:bgPr>
        <a:solidFill>
          <a:srgbClr val="0F2A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CFE5DA"/>
                </a:solidFill>
              </a:rPr>
              <a:t>Still Here · hackathon prototype · not clinically validated</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FE5DA"/>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e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371600"/>
          </a:xfrm>
          <a:prstGeom prst="rect">
            <a:avLst/>
          </a:prstGeom>
          <a:noFill/>
          <a:ln/>
        </p:spPr>
        <p:txBody>
          <a:bodyPr wrap="square" lIns="0" tIns="0" rIns="0" bIns="0" rtlCol="0" anchor="b"/>
          <a:lstStyle/>
          <a:p>
            <a:pPr indent="0" marL="0">
              <a:buNone/>
            </a:pPr>
            <a:r>
              <a:rPr lang="en-US" sz="6600" b="1" dirty="0">
                <a:solidFill>
                  <a:schemeClr val="bg1"/>
                </a:solidFill>
              </a:rPr>
              <a:t>Still Here</a:t>
            </a:r>
            <a:endParaRPr lang="en-US" sz="6600" dirty="0"/>
          </a:p>
        </p:txBody>
      </p:sp>
      <p:sp>
        <p:nvSpPr>
          <p:cNvPr id="3" name="Text 0"/>
          <p:cNvSpPr/>
          <p:nvPr>
            <p:ph idx="101" type="body" hasCustomPrompt="1"/>
          </p:nvPr>
        </p:nvSpPr>
        <p:spPr>
          <a:xfrm>
            <a:off x="548640" y="3611880"/>
            <a:ext cx="11094415" cy="731520"/>
          </a:xfrm>
          <a:prstGeom prst="rect">
            <a:avLst/>
          </a:prstGeom>
          <a:noFill/>
          <a:ln/>
        </p:spPr>
        <p:txBody>
          <a:bodyPr wrap="square" lIns="0" tIns="0" rIns="0" bIns="0" rtlCol="0" anchor="t"/>
          <a:lstStyle/>
          <a:p>
            <a:pPr indent="0" marL="0">
              <a:buNone/>
            </a:pPr>
            <a:r>
              <a:rPr lang="en-US" sz="2800" dirty="0">
                <a:solidFill>
                  <a:schemeClr val="accent6"/>
                </a:solidFill>
              </a:rPr>
              <a:t>Your words. Your choice.</a:t>
            </a:r>
            <a:endParaRPr lang="en-US" sz="2800" dirty="0"/>
          </a:p>
        </p:txBody>
      </p:sp>
      <p:sp>
        <p:nvSpPr>
          <p:cNvPr id="4" name="Positioning line"/>
          <p:cNvSpPr txBox="1"/>
          <p:nvPr/>
        </p:nvSpPr>
        <p:spPr>
          <a:xfrm>
            <a:off x="548640" y="4572000"/>
            <a:ext cx="11094415" cy="457200"/>
          </a:xfrm>
          <a:prstGeom prst="rect">
            <a:avLst/>
          </a:prstGeom>
          <a:noFill/>
          <a:ln/>
        </p:spPr>
        <p:txBody>
          <a:bodyPr wrap="square" lIns="0" tIns="0" rIns="0" bIns="0" rtlCol="0" anchor="ctr"/>
          <a:lstStyle/>
          <a:p>
            <a:pPr indent="0" marL="0">
              <a:buNone/>
            </a:pPr>
            <a:r>
              <a:rPr lang="en-US" sz="1800" dirty="0">
                <a:solidFill>
                  <a:schemeClr val="bg1"/>
                </a:solidFill>
              </a:rPr>
              <a:t>Hands-free AAC prototype for iPad: AI offers possible words, the person decides what to say.</a:t>
            </a:r>
            <a:endParaRPr lang="en-US" sz="1800" dirty="0"/>
          </a:p>
        </p:txBody>
      </p:sp>
      <p:sp>
        <p:nvSpPr>
          <p:cNvPr id="5" name="Motif option 1"/>
          <p:cNvSpPr/>
          <p:nvPr/>
        </p:nvSpPr>
        <p:spPr>
          <a:xfrm>
            <a:off x="7955280" y="2286000"/>
            <a:ext cx="3685032" cy="502920"/>
          </a:xfrm>
          <a:prstGeom prst="roundRect">
            <a:avLst>
              <a:gd name="adj" fmla="val 18182"/>
            </a:avLst>
          </a:prstGeom>
          <a:solidFill>
            <a:schemeClr val="tx2"/>
          </a:solidFill>
          <a:ln w="15875">
            <a:solidFill>
              <a:schemeClr val="accent6"/>
            </a:solidFill>
            <a:prstDash val="solid"/>
          </a:ln>
        </p:spPr>
      </p:sp>
      <p:sp>
        <p:nvSpPr>
          <p:cNvPr id="6" name="Motif option 2"/>
          <p:cNvSpPr/>
          <p:nvPr/>
        </p:nvSpPr>
        <p:spPr>
          <a:xfrm>
            <a:off x="7955280" y="2971800"/>
            <a:ext cx="3685032" cy="502920"/>
          </a:xfrm>
          <a:prstGeom prst="roundRect">
            <a:avLst>
              <a:gd name="adj" fmla="val 18182"/>
            </a:avLst>
          </a:prstGeom>
          <a:solidFill>
            <a:schemeClr val="accent6"/>
          </a:solidFill>
          <a:ln w="15875">
            <a:solidFill>
              <a:schemeClr val="accent6"/>
            </a:solidFill>
            <a:prstDash val="solid"/>
          </a:ln>
        </p:spPr>
      </p:sp>
      <p:sp>
        <p:nvSpPr>
          <p:cNvPr id="7" name="Motif option 3"/>
          <p:cNvSpPr/>
          <p:nvPr/>
        </p:nvSpPr>
        <p:spPr>
          <a:xfrm>
            <a:off x="7955280" y="3657600"/>
            <a:ext cx="3685032" cy="502920"/>
          </a:xfrm>
          <a:prstGeom prst="roundRect">
            <a:avLst>
              <a:gd name="adj" fmla="val 18182"/>
            </a:avLst>
          </a:prstGeom>
          <a:solidFill>
            <a:schemeClr val="tx2"/>
          </a:solidFill>
          <a:ln w="15875">
            <a:solidFill>
              <a:schemeClr val="accent6"/>
            </a:solidFill>
            <a:prstDash val="solid"/>
          </a:ln>
        </p:spPr>
      </p:sp>
      <p:sp>
        <p:nvSpPr>
          <p:cNvPr id="8" name="Event line"/>
          <p:cNvSpPr txBox="1"/>
          <p:nvPr/>
        </p:nvSpPr>
        <p:spPr>
          <a:xfrm>
            <a:off x="548640" y="5989320"/>
            <a:ext cx="8229600" cy="320040"/>
          </a:xfrm>
          <a:prstGeom prst="rect">
            <a:avLst/>
          </a:prstGeom>
          <a:noFill/>
          <a:ln/>
        </p:spPr>
        <p:txBody>
          <a:bodyPr wrap="square" lIns="0" tIns="0" rIns="0" bIns="0" rtlCol="0" anchor="ctr"/>
          <a:lstStyle/>
          <a:p>
            <a:pPr indent="0" marL="0">
              <a:buNone/>
            </a:pPr>
            <a:r>
              <a:rPr lang="en-US" sz="1200" dirty="0">
                <a:solidFill>
                  <a:srgbClr val="CFE5DA"/>
                </a:solidFill>
              </a:rPr>
              <a:t>SASEHacks for Good · University of Oklahoma · October 24,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1 · THE HUMAN PROBLEM</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The words are ready. The conversation won't wait</a:t>
            </a:r>
            <a:endParaRPr lang="en-US" sz="3600" dirty="0"/>
          </a:p>
        </p:txBody>
      </p:sp>
      <p:sp>
        <p:nvSpPr>
          <p:cNvPr id="4" name="Problem question"/>
          <p:cNvSpPr txBox="1"/>
          <p:nvPr/>
        </p:nvSpPr>
        <p:spPr>
          <a:xfrm>
            <a:off x="548640" y="1691640"/>
            <a:ext cx="5029200" cy="2651760"/>
          </a:xfrm>
          <a:prstGeom prst="rect">
            <a:avLst/>
          </a:prstGeom>
          <a:noFill/>
          <a:ln/>
        </p:spPr>
        <p:txBody>
          <a:bodyPr wrap="square" lIns="0" tIns="0" rIns="0" bIns="0" rtlCol="0" anchor="t"/>
          <a:lstStyle/>
          <a:p>
            <a:pPr indent="0" marL="0">
              <a:buNone/>
            </a:pPr>
            <a:r>
              <a:rPr lang="en-US" sz="2800" b="1" dirty="0">
                <a:solidFill>
                  <a:schemeClr val="accent1"/>
                </a:solidFill>
              </a:rPr>
              <a:t>What happens when you know what you want to say, but entering it takes longer than the conversation allows?</a:t>
            </a:r>
            <a:endParaRPr lang="en-US" sz="2800" dirty="0"/>
          </a:p>
        </p:txBody>
      </p:sp>
      <p:sp>
        <p:nvSpPr>
          <p:cNvPr id="5" name="Scope note"/>
          <p:cNvSpPr txBox="1"/>
          <p:nvPr/>
        </p:nvSpPr>
        <p:spPr>
          <a:xfrm>
            <a:off x="548640" y="4206240"/>
            <a:ext cx="4846320" cy="731520"/>
          </a:xfrm>
          <a:prstGeom prst="rect">
            <a:avLst/>
          </a:prstGeom>
          <a:noFill/>
          <a:ln/>
        </p:spPr>
        <p:txBody>
          <a:bodyPr wrap="square" lIns="0" tIns="0" rIns="0" bIns="0" rtlCol="0" anchor="t"/>
          <a:lstStyle/>
          <a:p>
            <a:pPr indent="0" marL="0">
              <a:buNone/>
            </a:pPr>
            <a:r>
              <a:rPr lang="en-US" sz="1600" dirty="0">
                <a:solidFill>
                  <a:schemeClr val="accent4"/>
                </a:solidFill>
              </a:rPr>
              <a:t>A design problem for some people who use AAC, not a universal claim.</a:t>
            </a:r>
            <a:endParaRPr lang="en-US" sz="1600" dirty="0"/>
          </a:p>
        </p:txBody>
      </p:sp>
      <p:sp>
        <p:nvSpPr>
          <p:cNvPr id="6" name="Problem card 1"/>
          <p:cNvSpPr/>
          <p:nvPr/>
        </p:nvSpPr>
        <p:spPr>
          <a:xfrm>
            <a:off x="6126480" y="1600200"/>
            <a:ext cx="5516575" cy="1325880"/>
          </a:xfrm>
          <a:prstGeom prst="roundRect">
            <a:avLst>
              <a:gd name="adj" fmla="val 8276"/>
            </a:avLst>
          </a:prstGeom>
          <a:solidFill>
            <a:schemeClr val="bg2"/>
          </a:solidFill>
          <a:ln/>
        </p:spPr>
      </p:sp>
      <p:sp>
        <p:nvSpPr>
          <p:cNvPr id="7" name="Problem card 1 circle"/>
          <p:cNvSpPr/>
          <p:nvPr/>
        </p:nvSpPr>
        <p:spPr>
          <a:xfrm>
            <a:off x="6400800" y="1947672"/>
            <a:ext cx="640080" cy="640080"/>
          </a:xfrm>
          <a:prstGeom prst="ellipse">
            <a:avLst/>
          </a:prstGeom>
          <a:solidFill>
            <a:schemeClr val="bg1"/>
          </a:solidFill>
          <a:ln/>
        </p:spPr>
      </p:sp>
      <p:pic>
        <p:nvPicPr>
          <p:cNvPr id="8" name="Problem card 1 icon" descr="preencoded.png">    </p:cNvPr>
          <p:cNvPicPr>
            <a:picLocks noChangeAspect="1"/>
          </p:cNvPicPr>
          <p:nvPr/>
        </p:nvPicPr>
        <p:blipFill>
          <a:blip r:embed="rId1"/>
          <a:stretch>
            <a:fillRect/>
          </a:stretch>
        </p:blipFill>
        <p:spPr>
          <a:xfrm>
            <a:off x="6554419" y="2101291"/>
            <a:ext cx="332842" cy="332842"/>
          </a:xfrm>
          <a:prstGeom prst="rect">
            <a:avLst/>
          </a:prstGeom>
        </p:spPr>
      </p:pic>
      <p:sp>
        <p:nvSpPr>
          <p:cNvPr id="9" name="Problem card 1 text"/>
          <p:cNvSpPr txBox="1"/>
          <p:nvPr/>
        </p:nvSpPr>
        <p:spPr>
          <a:xfrm>
            <a:off x="7269480" y="1737360"/>
            <a:ext cx="4144975" cy="1051560"/>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People who use AAC have plenty to say</a:t>
            </a:r>
            <a:endParaRPr lang="en-US" sz="1800" dirty="0"/>
          </a:p>
          <a:p>
            <a:pPr indent="0" marL="0">
              <a:spcAft>
                <a:spcPts val="400"/>
              </a:spcAft>
              <a:buNone/>
            </a:pPr>
            <a:r>
              <a:rPr lang="en-US" sz="1400" dirty="0">
                <a:solidFill>
                  <a:schemeClr val="tx1"/>
                </a:solidFill>
              </a:rPr>
              <a:t>Humor, plans, boundaries, relationships. The words are already there.</a:t>
            </a:r>
            <a:endParaRPr lang="en-US" sz="1800" dirty="0"/>
          </a:p>
        </p:txBody>
      </p:sp>
      <p:sp>
        <p:nvSpPr>
          <p:cNvPr id="10" name="Problem card 2"/>
          <p:cNvSpPr/>
          <p:nvPr/>
        </p:nvSpPr>
        <p:spPr>
          <a:xfrm>
            <a:off x="6126480" y="3200400"/>
            <a:ext cx="5516575" cy="1325880"/>
          </a:xfrm>
          <a:prstGeom prst="roundRect">
            <a:avLst>
              <a:gd name="adj" fmla="val 8276"/>
            </a:avLst>
          </a:prstGeom>
          <a:solidFill>
            <a:schemeClr val="bg2"/>
          </a:solidFill>
          <a:ln/>
        </p:spPr>
      </p:sp>
      <p:sp>
        <p:nvSpPr>
          <p:cNvPr id="11" name="Problem card 2 circle"/>
          <p:cNvSpPr/>
          <p:nvPr/>
        </p:nvSpPr>
        <p:spPr>
          <a:xfrm>
            <a:off x="6400800" y="3547872"/>
            <a:ext cx="640080" cy="640080"/>
          </a:xfrm>
          <a:prstGeom prst="ellipse">
            <a:avLst/>
          </a:prstGeom>
          <a:solidFill>
            <a:schemeClr val="bg1"/>
          </a:solidFill>
          <a:ln/>
        </p:spPr>
      </p:sp>
      <p:pic>
        <p:nvPicPr>
          <p:cNvPr id="12" name="Problem card 2 icon" descr="preencoded.png">    </p:cNvPr>
          <p:cNvPicPr>
            <a:picLocks noChangeAspect="1"/>
          </p:cNvPicPr>
          <p:nvPr/>
        </p:nvPicPr>
        <p:blipFill>
          <a:blip r:embed="rId2"/>
          <a:stretch>
            <a:fillRect/>
          </a:stretch>
        </p:blipFill>
        <p:spPr>
          <a:xfrm>
            <a:off x="6554419" y="3701491"/>
            <a:ext cx="332842" cy="332842"/>
          </a:xfrm>
          <a:prstGeom prst="rect">
            <a:avLst/>
          </a:prstGeom>
        </p:spPr>
      </p:pic>
      <p:sp>
        <p:nvSpPr>
          <p:cNvPr id="13" name="Problem card 2 text"/>
          <p:cNvSpPr txBox="1"/>
          <p:nvPr/>
        </p:nvSpPr>
        <p:spPr>
          <a:xfrm>
            <a:off x="7269480" y="3337560"/>
            <a:ext cx="4144975" cy="1051560"/>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Entering them can be slow</a:t>
            </a:r>
            <a:endParaRPr lang="en-US" sz="1800" dirty="0"/>
          </a:p>
          <a:p>
            <a:pPr indent="0" marL="0">
              <a:spcAft>
                <a:spcPts val="400"/>
              </a:spcAft>
              <a:buNone/>
            </a:pPr>
            <a:r>
              <a:rPr lang="en-US" sz="1400" dirty="0">
                <a:solidFill>
                  <a:schemeClr val="tx1"/>
                </a:solidFill>
              </a:rPr>
              <a:t>Building a sentence one selection at a time can fall behind a live conversation.</a:t>
            </a:r>
            <a:endParaRPr lang="en-US" sz="1800" dirty="0"/>
          </a:p>
        </p:txBody>
      </p:sp>
      <p:sp>
        <p:nvSpPr>
          <p:cNvPr id="14" name="Problem card 3"/>
          <p:cNvSpPr/>
          <p:nvPr/>
        </p:nvSpPr>
        <p:spPr>
          <a:xfrm>
            <a:off x="6126480" y="4800600"/>
            <a:ext cx="5516575" cy="1325880"/>
          </a:xfrm>
          <a:prstGeom prst="roundRect">
            <a:avLst>
              <a:gd name="adj" fmla="val 8276"/>
            </a:avLst>
          </a:prstGeom>
          <a:solidFill>
            <a:schemeClr val="bg2"/>
          </a:solidFill>
          <a:ln/>
        </p:spPr>
      </p:sp>
      <p:sp>
        <p:nvSpPr>
          <p:cNvPr id="15" name="Problem card 3 circle"/>
          <p:cNvSpPr/>
          <p:nvPr/>
        </p:nvSpPr>
        <p:spPr>
          <a:xfrm>
            <a:off x="6400800" y="5148072"/>
            <a:ext cx="640080" cy="640080"/>
          </a:xfrm>
          <a:prstGeom prst="ellipse">
            <a:avLst/>
          </a:prstGeom>
          <a:solidFill>
            <a:schemeClr val="bg1"/>
          </a:solidFill>
          <a:ln/>
        </p:spPr>
      </p:sp>
      <p:pic>
        <p:nvPicPr>
          <p:cNvPr id="16" name="Problem card 3 icon" descr="preencoded.png">    </p:cNvPr>
          <p:cNvPicPr>
            <a:picLocks noChangeAspect="1"/>
          </p:cNvPicPr>
          <p:nvPr/>
        </p:nvPicPr>
        <p:blipFill>
          <a:blip r:embed="rId3"/>
          <a:stretch>
            <a:fillRect/>
          </a:stretch>
        </p:blipFill>
        <p:spPr>
          <a:xfrm>
            <a:off x="6554419" y="5301691"/>
            <a:ext cx="332842" cy="332842"/>
          </a:xfrm>
          <a:prstGeom prst="rect">
            <a:avLst/>
          </a:prstGeom>
        </p:spPr>
      </p:pic>
      <p:sp>
        <p:nvSpPr>
          <p:cNvPr id="17" name="Problem card 3 text"/>
          <p:cNvSpPr txBox="1"/>
          <p:nvPr/>
        </p:nvSpPr>
        <p:spPr>
          <a:xfrm>
            <a:off x="7269480" y="4937760"/>
            <a:ext cx="4144975" cy="1051560"/>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Our design question</a:t>
            </a:r>
            <a:endParaRPr lang="en-US" sz="1800" dirty="0"/>
          </a:p>
          <a:p>
            <a:pPr indent="0" marL="0">
              <a:spcAft>
                <a:spcPts val="400"/>
              </a:spcAft>
              <a:buNone/>
            </a:pPr>
            <a:r>
              <a:rPr lang="en-US" sz="1400" dirty="0">
                <a:solidFill>
                  <a:schemeClr val="tx1"/>
                </a:solidFill>
              </a:rPr>
              <a:t>Can choosing a whole, reviewable message reduce that effort without giving up authorship?</a:t>
            </a:r>
            <a:endParaRPr lang="en-US" sz="1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2 · THE PRODUCT</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AI offers possible words. The person decides</a:t>
            </a:r>
            <a:endParaRPr lang="en-US" sz="3600" dirty="0"/>
          </a:p>
        </p:txBody>
      </p:sp>
      <p:sp>
        <p:nvSpPr>
          <p:cNvPr id="4" name="Flow step 1"/>
          <p:cNvSpPr/>
          <p:nvPr/>
        </p:nvSpPr>
        <p:spPr>
          <a:xfrm>
            <a:off x="548640" y="1783080"/>
            <a:ext cx="1620469" cy="1600200"/>
          </a:xfrm>
          <a:prstGeom prst="roundRect">
            <a:avLst>
              <a:gd name="adj" fmla="val 6857"/>
            </a:avLst>
          </a:prstGeom>
          <a:solidFill>
            <a:schemeClr val="bg1"/>
          </a:solidFill>
          <a:ln w="12700">
            <a:solidFill>
              <a:schemeClr val="accent4"/>
            </a:solidFill>
            <a:prstDash val="solid"/>
          </a:ln>
        </p:spPr>
      </p:sp>
      <p:sp>
        <p:nvSpPr>
          <p:cNvPr id="5" name="Flow step 1 text"/>
          <p:cNvSpPr txBox="1"/>
          <p:nvPr/>
        </p:nvSpPr>
        <p:spPr>
          <a:xfrm>
            <a:off x="676656" y="1892808"/>
            <a:ext cx="1364437" cy="1380744"/>
          </a:xfrm>
          <a:prstGeom prst="rect">
            <a:avLst/>
          </a:prstGeom>
          <a:noFill/>
          <a:ln/>
        </p:spPr>
        <p:txBody>
          <a:bodyPr wrap="square" lIns="0" tIns="0" rIns="0" bIns="0" rtlCol="0" anchor="t"/>
          <a:lstStyle/>
          <a:p>
            <a:pPr indent="0" marL="0">
              <a:spcAft>
                <a:spcPts val="300"/>
              </a:spcAft>
              <a:buNone/>
            </a:pPr>
            <a:r>
              <a:rPr lang="en-US" sz="1200" b="1" dirty="0">
                <a:solidFill>
                  <a:schemeClr val="accent4"/>
                </a:solidFill>
              </a:rPr>
              <a:t>1</a:t>
            </a:r>
            <a:endParaRPr lang="en-US" sz="1200" dirty="0"/>
          </a:p>
          <a:p>
            <a:pPr indent="0" marL="0">
              <a:spcAft>
                <a:spcPts val="300"/>
              </a:spcAft>
              <a:buNone/>
            </a:pPr>
            <a:r>
              <a:rPr lang="en-US" sz="1600" b="1" dirty="0">
                <a:solidFill>
                  <a:schemeClr val="tx1"/>
                </a:solidFill>
              </a:rPr>
              <a:t>Partner asks</a:t>
            </a:r>
            <a:endParaRPr lang="en-US" sz="1200" dirty="0"/>
          </a:p>
          <a:p>
            <a:pPr indent="0" marL="0">
              <a:spcAft>
                <a:spcPts val="300"/>
              </a:spcAft>
              <a:buNone/>
            </a:pPr>
            <a:r>
              <a:rPr lang="en-US" sz="1200" dirty="0">
                <a:solidFill>
                  <a:schemeClr val="tx1"/>
                </a:solidFill>
              </a:rPr>
              <a:t>Typed, shown exactly as entered</a:t>
            </a:r>
            <a:endParaRPr lang="en-US" sz="1200" dirty="0"/>
          </a:p>
        </p:txBody>
      </p:sp>
      <p:sp>
        <p:nvSpPr>
          <p:cNvPr id="6" name="Flow arrow 1"/>
          <p:cNvSpPr/>
          <p:nvPr/>
        </p:nvSpPr>
        <p:spPr>
          <a:xfrm>
            <a:off x="2205685" y="2583180"/>
            <a:ext cx="201168" cy="0"/>
          </a:xfrm>
          <a:prstGeom prst="line">
            <a:avLst/>
          </a:prstGeom>
          <a:noFill/>
          <a:ln w="19050">
            <a:solidFill>
              <a:schemeClr val="accent4"/>
            </a:solidFill>
            <a:prstDash val="solid"/>
            <a:tailEnd type="triangle"/>
          </a:ln>
        </p:spPr>
      </p:sp>
      <p:sp>
        <p:nvSpPr>
          <p:cNvPr id="7" name="Flow step 2"/>
          <p:cNvSpPr/>
          <p:nvPr/>
        </p:nvSpPr>
        <p:spPr>
          <a:xfrm>
            <a:off x="2443429" y="1783080"/>
            <a:ext cx="1620469" cy="1600200"/>
          </a:xfrm>
          <a:prstGeom prst="roundRect">
            <a:avLst>
              <a:gd name="adj" fmla="val 6857"/>
            </a:avLst>
          </a:prstGeom>
          <a:solidFill>
            <a:schemeClr val="bg1"/>
          </a:solidFill>
          <a:ln w="19050">
            <a:solidFill>
              <a:schemeClr val="accent2"/>
            </a:solidFill>
            <a:prstDash val="dash"/>
          </a:ln>
        </p:spPr>
      </p:sp>
      <p:sp>
        <p:nvSpPr>
          <p:cNvPr id="8" name="Flow step 2 text"/>
          <p:cNvSpPr txBox="1"/>
          <p:nvPr/>
        </p:nvSpPr>
        <p:spPr>
          <a:xfrm>
            <a:off x="2571445" y="1892808"/>
            <a:ext cx="1364437" cy="1380744"/>
          </a:xfrm>
          <a:prstGeom prst="rect">
            <a:avLst/>
          </a:prstGeom>
          <a:noFill/>
          <a:ln/>
        </p:spPr>
        <p:txBody>
          <a:bodyPr wrap="square" lIns="0" tIns="0" rIns="0" bIns="0" rtlCol="0" anchor="t"/>
          <a:lstStyle/>
          <a:p>
            <a:pPr indent="0" marL="0">
              <a:spcAft>
                <a:spcPts val="300"/>
              </a:spcAft>
              <a:buNone/>
            </a:pPr>
            <a:r>
              <a:rPr lang="en-US" sz="1200" b="1" dirty="0">
                <a:solidFill>
                  <a:schemeClr val="accent4"/>
                </a:solidFill>
              </a:rPr>
              <a:t>2</a:t>
            </a:r>
            <a:endParaRPr lang="en-US" sz="1200" dirty="0"/>
          </a:p>
          <a:p>
            <a:pPr indent="0" marL="0">
              <a:spcAft>
                <a:spcPts val="300"/>
              </a:spcAft>
              <a:buNone/>
            </a:pPr>
            <a:r>
              <a:rPr lang="en-US" sz="1600" b="1" dirty="0">
                <a:solidFill>
                  <a:schemeClr val="tx1"/>
                </a:solidFill>
              </a:rPr>
              <a:t>Three possibilities</a:t>
            </a:r>
            <a:endParaRPr lang="en-US" sz="1200" dirty="0"/>
          </a:p>
          <a:p>
            <a:pPr indent="0" marL="0">
              <a:spcAft>
                <a:spcPts val="300"/>
              </a:spcAft>
              <a:buNone/>
            </a:pPr>
            <a:r>
              <a:rPr lang="en-US" sz="1200" dirty="0">
                <a:solidFill>
                  <a:schemeClr val="tx1"/>
                </a:solidFill>
              </a:rPr>
              <a:t>Different meanings, not three wordings</a:t>
            </a:r>
            <a:endParaRPr lang="en-US" sz="1200" dirty="0"/>
          </a:p>
        </p:txBody>
      </p:sp>
      <p:sp>
        <p:nvSpPr>
          <p:cNvPr id="9" name="Flow arrow 2"/>
          <p:cNvSpPr/>
          <p:nvPr/>
        </p:nvSpPr>
        <p:spPr>
          <a:xfrm>
            <a:off x="4100474" y="2583180"/>
            <a:ext cx="201168" cy="0"/>
          </a:xfrm>
          <a:prstGeom prst="line">
            <a:avLst/>
          </a:prstGeom>
          <a:noFill/>
          <a:ln w="19050">
            <a:solidFill>
              <a:schemeClr val="accent4"/>
            </a:solidFill>
            <a:prstDash val="solid"/>
            <a:tailEnd type="triangle"/>
          </a:ln>
        </p:spPr>
      </p:sp>
      <p:sp>
        <p:nvSpPr>
          <p:cNvPr id="10" name="Flow step 3"/>
          <p:cNvSpPr/>
          <p:nvPr/>
        </p:nvSpPr>
        <p:spPr>
          <a:xfrm>
            <a:off x="4338218" y="1783080"/>
            <a:ext cx="1620469" cy="1600200"/>
          </a:xfrm>
          <a:prstGeom prst="roundRect">
            <a:avLst>
              <a:gd name="adj" fmla="val 6857"/>
            </a:avLst>
          </a:prstGeom>
          <a:solidFill>
            <a:schemeClr val="accent1"/>
          </a:solidFill>
          <a:ln w="12700">
            <a:solidFill>
              <a:schemeClr val="accent1"/>
            </a:solidFill>
            <a:prstDash val="solid"/>
          </a:ln>
        </p:spPr>
      </p:sp>
      <p:sp>
        <p:nvSpPr>
          <p:cNvPr id="11" name="Flow step 3 text"/>
          <p:cNvSpPr txBox="1"/>
          <p:nvPr/>
        </p:nvSpPr>
        <p:spPr>
          <a:xfrm>
            <a:off x="4466234" y="1892808"/>
            <a:ext cx="1364437" cy="1380744"/>
          </a:xfrm>
          <a:prstGeom prst="rect">
            <a:avLst/>
          </a:prstGeom>
          <a:noFill/>
          <a:ln/>
        </p:spPr>
        <p:txBody>
          <a:bodyPr wrap="square" lIns="0" tIns="0" rIns="0" bIns="0" rtlCol="0" anchor="t"/>
          <a:lstStyle/>
          <a:p>
            <a:pPr indent="0" marL="0">
              <a:spcAft>
                <a:spcPts val="300"/>
              </a:spcAft>
              <a:buNone/>
            </a:pPr>
            <a:r>
              <a:rPr lang="en-US" sz="1200" b="1" dirty="0">
                <a:solidFill>
                  <a:schemeClr val="accent6"/>
                </a:solidFill>
              </a:rPr>
              <a:t>3</a:t>
            </a:r>
            <a:endParaRPr lang="en-US" sz="1200" dirty="0"/>
          </a:p>
          <a:p>
            <a:pPr indent="0" marL="0">
              <a:spcAft>
                <a:spcPts val="300"/>
              </a:spcAft>
              <a:buNone/>
            </a:pPr>
            <a:r>
              <a:rPr lang="en-US" sz="1600" b="1" dirty="0">
                <a:solidFill>
                  <a:schemeClr val="bg1"/>
                </a:solidFill>
              </a:rPr>
              <a:t>The person steers</a:t>
            </a:r>
            <a:endParaRPr lang="en-US" sz="1200" dirty="0"/>
          </a:p>
          <a:p>
            <a:pPr indent="0" marL="0">
              <a:spcAft>
                <a:spcPts val="300"/>
              </a:spcAft>
              <a:buNone/>
            </a:pPr>
            <a:r>
              <a:rPr lang="en-US" sz="1200" dirty="0">
                <a:solidFill>
                  <a:schemeClr val="bg1"/>
                </a:solidFill>
              </a:rPr>
              <a:t>Choose, None of these, Guide, or My words</a:t>
            </a:r>
            <a:endParaRPr lang="en-US" sz="1200" dirty="0"/>
          </a:p>
        </p:txBody>
      </p:sp>
      <p:sp>
        <p:nvSpPr>
          <p:cNvPr id="12" name="Flow arrow 3"/>
          <p:cNvSpPr/>
          <p:nvPr/>
        </p:nvSpPr>
        <p:spPr>
          <a:xfrm>
            <a:off x="5995264" y="2583180"/>
            <a:ext cx="201168" cy="0"/>
          </a:xfrm>
          <a:prstGeom prst="line">
            <a:avLst/>
          </a:prstGeom>
          <a:noFill/>
          <a:ln w="19050">
            <a:solidFill>
              <a:schemeClr val="accent4"/>
            </a:solidFill>
            <a:prstDash val="solid"/>
            <a:tailEnd type="triangle"/>
          </a:ln>
        </p:spPr>
      </p:sp>
      <p:sp>
        <p:nvSpPr>
          <p:cNvPr id="13" name="Flow step 4"/>
          <p:cNvSpPr/>
          <p:nvPr/>
        </p:nvSpPr>
        <p:spPr>
          <a:xfrm>
            <a:off x="6233008" y="1783080"/>
            <a:ext cx="1620469" cy="1600200"/>
          </a:xfrm>
          <a:prstGeom prst="roundRect">
            <a:avLst>
              <a:gd name="adj" fmla="val 6857"/>
            </a:avLst>
          </a:prstGeom>
          <a:solidFill>
            <a:schemeClr val="accent1"/>
          </a:solidFill>
          <a:ln w="12700">
            <a:solidFill>
              <a:schemeClr val="accent1"/>
            </a:solidFill>
            <a:prstDash val="solid"/>
          </a:ln>
        </p:spPr>
      </p:sp>
      <p:sp>
        <p:nvSpPr>
          <p:cNvPr id="14" name="Flow step 4 text"/>
          <p:cNvSpPr txBox="1"/>
          <p:nvPr/>
        </p:nvSpPr>
        <p:spPr>
          <a:xfrm>
            <a:off x="6361024" y="1892808"/>
            <a:ext cx="1364437" cy="1380744"/>
          </a:xfrm>
          <a:prstGeom prst="rect">
            <a:avLst/>
          </a:prstGeom>
          <a:noFill/>
          <a:ln/>
        </p:spPr>
        <p:txBody>
          <a:bodyPr wrap="square" lIns="0" tIns="0" rIns="0" bIns="0" rtlCol="0" anchor="t"/>
          <a:lstStyle/>
          <a:p>
            <a:pPr indent="0" marL="0">
              <a:spcAft>
                <a:spcPts val="300"/>
              </a:spcAft>
              <a:buNone/>
            </a:pPr>
            <a:r>
              <a:rPr lang="en-US" sz="1200" b="1" dirty="0">
                <a:solidFill>
                  <a:schemeClr val="accent6"/>
                </a:solidFill>
              </a:rPr>
              <a:t>4</a:t>
            </a:r>
            <a:endParaRPr lang="en-US" sz="1200" dirty="0"/>
          </a:p>
          <a:p>
            <a:pPr indent="0" marL="0">
              <a:spcAft>
                <a:spcPts val="300"/>
              </a:spcAft>
              <a:buNone/>
            </a:pPr>
            <a:r>
              <a:rPr lang="en-US" sz="1600" b="1" dirty="0">
                <a:solidFill>
                  <a:schemeClr val="bg1"/>
                </a:solidFill>
              </a:rPr>
              <a:t>Exact review</a:t>
            </a:r>
            <a:endParaRPr lang="en-US" sz="1200" dirty="0"/>
          </a:p>
          <a:p>
            <a:pPr indent="0" marL="0">
              <a:spcAft>
                <a:spcPts val="300"/>
              </a:spcAft>
              <a:buNone/>
            </a:pPr>
            <a:r>
              <a:rPr lang="en-US" sz="1200" dirty="0">
                <a:solidFill>
                  <a:schemeClr val="bg1"/>
                </a:solidFill>
              </a:rPr>
              <a:t>The whole sentence; starts on Cancel</a:t>
            </a:r>
            <a:endParaRPr lang="en-US" sz="1200" dirty="0"/>
          </a:p>
        </p:txBody>
      </p:sp>
      <p:sp>
        <p:nvSpPr>
          <p:cNvPr id="15" name="Flow arrow 4"/>
          <p:cNvSpPr/>
          <p:nvPr/>
        </p:nvSpPr>
        <p:spPr>
          <a:xfrm>
            <a:off x="7890053" y="2583180"/>
            <a:ext cx="201168" cy="0"/>
          </a:xfrm>
          <a:prstGeom prst="line">
            <a:avLst/>
          </a:prstGeom>
          <a:noFill/>
          <a:ln w="19050">
            <a:solidFill>
              <a:schemeClr val="accent4"/>
            </a:solidFill>
            <a:prstDash val="solid"/>
            <a:tailEnd type="triangle"/>
          </a:ln>
        </p:spPr>
      </p:sp>
      <p:sp>
        <p:nvSpPr>
          <p:cNvPr id="16" name="Flow step 5"/>
          <p:cNvSpPr/>
          <p:nvPr/>
        </p:nvSpPr>
        <p:spPr>
          <a:xfrm>
            <a:off x="8127797" y="1783080"/>
            <a:ext cx="1620469" cy="1600200"/>
          </a:xfrm>
          <a:prstGeom prst="roundRect">
            <a:avLst>
              <a:gd name="adj" fmla="val 6857"/>
            </a:avLst>
          </a:prstGeom>
          <a:solidFill>
            <a:schemeClr val="accent1"/>
          </a:solidFill>
          <a:ln w="12700">
            <a:solidFill>
              <a:schemeClr val="accent1"/>
            </a:solidFill>
            <a:prstDash val="solid"/>
          </a:ln>
        </p:spPr>
      </p:sp>
      <p:sp>
        <p:nvSpPr>
          <p:cNvPr id="17" name="Flow step 5 text"/>
          <p:cNvSpPr txBox="1"/>
          <p:nvPr/>
        </p:nvSpPr>
        <p:spPr>
          <a:xfrm>
            <a:off x="8255813" y="1892808"/>
            <a:ext cx="1364437" cy="1380744"/>
          </a:xfrm>
          <a:prstGeom prst="rect">
            <a:avLst/>
          </a:prstGeom>
          <a:noFill/>
          <a:ln/>
        </p:spPr>
        <p:txBody>
          <a:bodyPr wrap="square" lIns="0" tIns="0" rIns="0" bIns="0" rtlCol="0" anchor="t"/>
          <a:lstStyle/>
          <a:p>
            <a:pPr indent="0" marL="0">
              <a:spcAft>
                <a:spcPts val="300"/>
              </a:spcAft>
              <a:buNone/>
            </a:pPr>
            <a:r>
              <a:rPr lang="en-US" sz="1200" b="1" dirty="0">
                <a:solidFill>
                  <a:schemeClr val="accent6"/>
                </a:solidFill>
              </a:rPr>
              <a:t>5</a:t>
            </a:r>
            <a:endParaRPr lang="en-US" sz="1200" dirty="0"/>
          </a:p>
          <a:p>
            <a:pPr indent="0" marL="0">
              <a:spcAft>
                <a:spcPts val="300"/>
              </a:spcAft>
              <a:buNone/>
            </a:pPr>
            <a:r>
              <a:rPr lang="en-US" sz="1600" b="1" dirty="0">
                <a:solidFill>
                  <a:schemeClr val="bg1"/>
                </a:solidFill>
              </a:rPr>
              <a:t>Separate confirm</a:t>
            </a:r>
            <a:endParaRPr lang="en-US" sz="1200" dirty="0"/>
          </a:p>
          <a:p>
            <a:pPr indent="0" marL="0">
              <a:spcAft>
                <a:spcPts val="300"/>
              </a:spcAft>
              <a:buNone/>
            </a:pPr>
            <a:r>
              <a:rPr lang="en-US" sz="1200" dirty="0">
                <a:solidFill>
                  <a:schemeClr val="bg1"/>
                </a:solidFill>
              </a:rPr>
              <a:t>A new input cycle authorizes speech</a:t>
            </a:r>
            <a:endParaRPr lang="en-US" sz="1200" dirty="0"/>
          </a:p>
        </p:txBody>
      </p:sp>
      <p:sp>
        <p:nvSpPr>
          <p:cNvPr id="18" name="Flow arrow 5"/>
          <p:cNvSpPr/>
          <p:nvPr/>
        </p:nvSpPr>
        <p:spPr>
          <a:xfrm>
            <a:off x="9784842" y="2583180"/>
            <a:ext cx="201168" cy="0"/>
          </a:xfrm>
          <a:prstGeom prst="line">
            <a:avLst/>
          </a:prstGeom>
          <a:noFill/>
          <a:ln w="19050">
            <a:solidFill>
              <a:schemeClr val="accent4"/>
            </a:solidFill>
            <a:prstDash val="solid"/>
            <a:tailEnd type="triangle"/>
          </a:ln>
        </p:spPr>
      </p:sp>
      <p:sp>
        <p:nvSpPr>
          <p:cNvPr id="19" name="Flow step 6"/>
          <p:cNvSpPr/>
          <p:nvPr/>
        </p:nvSpPr>
        <p:spPr>
          <a:xfrm>
            <a:off x="10022586" y="1783080"/>
            <a:ext cx="1620469" cy="1600200"/>
          </a:xfrm>
          <a:prstGeom prst="roundRect">
            <a:avLst>
              <a:gd name="adj" fmla="val 6857"/>
            </a:avLst>
          </a:prstGeom>
          <a:solidFill>
            <a:schemeClr val="bg1"/>
          </a:solidFill>
          <a:ln w="12700">
            <a:solidFill>
              <a:schemeClr val="accent4"/>
            </a:solidFill>
            <a:prstDash val="solid"/>
          </a:ln>
        </p:spPr>
      </p:sp>
      <p:sp>
        <p:nvSpPr>
          <p:cNvPr id="20" name="Flow step 6 text"/>
          <p:cNvSpPr txBox="1"/>
          <p:nvPr/>
        </p:nvSpPr>
        <p:spPr>
          <a:xfrm>
            <a:off x="10150602" y="1892808"/>
            <a:ext cx="1364437" cy="1380744"/>
          </a:xfrm>
          <a:prstGeom prst="rect">
            <a:avLst/>
          </a:prstGeom>
          <a:noFill/>
          <a:ln/>
        </p:spPr>
        <p:txBody>
          <a:bodyPr wrap="square" lIns="0" tIns="0" rIns="0" bIns="0" rtlCol="0" anchor="t"/>
          <a:lstStyle/>
          <a:p>
            <a:pPr indent="0" marL="0">
              <a:spcAft>
                <a:spcPts val="300"/>
              </a:spcAft>
              <a:buNone/>
            </a:pPr>
            <a:r>
              <a:rPr lang="en-US" sz="1200" b="1" dirty="0">
                <a:solidFill>
                  <a:schemeClr val="accent4"/>
                </a:solidFill>
              </a:rPr>
              <a:t>6</a:t>
            </a:r>
            <a:endParaRPr lang="en-US" sz="1200" dirty="0"/>
          </a:p>
          <a:p>
            <a:pPr indent="0" marL="0">
              <a:spcAft>
                <a:spcPts val="300"/>
              </a:spcAft>
              <a:buNone/>
            </a:pPr>
            <a:r>
              <a:rPr lang="en-US" sz="1600" b="1" dirty="0">
                <a:solidFill>
                  <a:schemeClr val="tx1"/>
                </a:solidFill>
              </a:rPr>
              <a:t>Spoken</a:t>
            </a:r>
            <a:endParaRPr lang="en-US" sz="1200" dirty="0"/>
          </a:p>
          <a:p>
            <a:pPr indent="0" marL="0">
              <a:spcAft>
                <a:spcPts val="300"/>
              </a:spcAft>
              <a:buNone/>
            </a:pPr>
            <a:r>
              <a:rPr lang="en-US" sz="1200" dirty="0">
                <a:solidFill>
                  <a:schemeClr val="tx1"/>
                </a:solidFill>
              </a:rPr>
              <a:t>The confirmed sentence, nothing else</a:t>
            </a:r>
            <a:endParaRPr lang="en-US" sz="1200" dirty="0"/>
          </a:p>
        </p:txBody>
      </p:sp>
      <p:sp>
        <p:nvSpPr>
          <p:cNvPr id="21" name="Legend person swatch"/>
          <p:cNvSpPr/>
          <p:nvPr/>
        </p:nvSpPr>
        <p:spPr>
          <a:xfrm>
            <a:off x="548640" y="3584448"/>
            <a:ext cx="292608" cy="201168"/>
          </a:xfrm>
          <a:prstGeom prst="roundRect">
            <a:avLst>
              <a:gd name="adj" fmla="val 22727"/>
            </a:avLst>
          </a:prstGeom>
          <a:solidFill>
            <a:schemeClr val="accent1"/>
          </a:solidFill>
          <a:ln/>
        </p:spPr>
      </p:sp>
      <p:sp>
        <p:nvSpPr>
          <p:cNvPr id="22" name="Legend person"/>
          <p:cNvSpPr txBox="1"/>
          <p:nvPr/>
        </p:nvSpPr>
        <p:spPr>
          <a:xfrm>
            <a:off x="932688" y="3566160"/>
            <a:ext cx="2011680" cy="256032"/>
          </a:xfrm>
          <a:prstGeom prst="rect">
            <a:avLst/>
          </a:prstGeom>
          <a:noFill/>
          <a:ln/>
        </p:spPr>
        <p:txBody>
          <a:bodyPr wrap="square" lIns="0" tIns="0" rIns="0" bIns="0" rtlCol="0" anchor="t"/>
          <a:lstStyle/>
          <a:p>
            <a:pPr indent="0" marL="0">
              <a:buNone/>
            </a:pPr>
            <a:r>
              <a:rPr lang="en-US" sz="1200" dirty="0">
                <a:solidFill>
                  <a:schemeClr val="tx1"/>
                </a:solidFill>
              </a:rPr>
              <a:t>The person decides</a:t>
            </a:r>
            <a:endParaRPr lang="en-US" sz="1200" dirty="0"/>
          </a:p>
        </p:txBody>
      </p:sp>
      <p:sp>
        <p:nvSpPr>
          <p:cNvPr id="23" name="Legend AI swatch"/>
          <p:cNvSpPr/>
          <p:nvPr/>
        </p:nvSpPr>
        <p:spPr>
          <a:xfrm>
            <a:off x="2926080" y="3584448"/>
            <a:ext cx="292608" cy="201168"/>
          </a:xfrm>
          <a:prstGeom prst="roundRect">
            <a:avLst>
              <a:gd name="adj" fmla="val 22727"/>
            </a:avLst>
          </a:prstGeom>
          <a:solidFill>
            <a:schemeClr val="bg1"/>
          </a:solidFill>
          <a:ln w="19050">
            <a:solidFill>
              <a:schemeClr val="accent2"/>
            </a:solidFill>
            <a:prstDash val="dash"/>
          </a:ln>
        </p:spPr>
      </p:sp>
      <p:sp>
        <p:nvSpPr>
          <p:cNvPr id="24" name="Legend AI"/>
          <p:cNvSpPr txBox="1"/>
          <p:nvPr/>
        </p:nvSpPr>
        <p:spPr>
          <a:xfrm>
            <a:off x="3310128" y="3566160"/>
            <a:ext cx="2011680" cy="256032"/>
          </a:xfrm>
          <a:prstGeom prst="rect">
            <a:avLst/>
          </a:prstGeom>
          <a:noFill/>
          <a:ln/>
        </p:spPr>
        <p:txBody>
          <a:bodyPr wrap="square" lIns="0" tIns="0" rIns="0" bIns="0" rtlCol="0" anchor="t"/>
          <a:lstStyle/>
          <a:p>
            <a:pPr indent="0" marL="0">
              <a:buNone/>
            </a:pPr>
            <a:r>
              <a:rPr lang="en-US" sz="1200" dirty="0">
                <a:solidFill>
                  <a:schemeClr val="tx1"/>
                </a:solidFill>
              </a:rPr>
              <a:t>AI only offers</a:t>
            </a:r>
            <a:endParaRPr lang="en-US" sz="1200" dirty="0"/>
          </a:p>
        </p:txBody>
      </p:sp>
      <p:sp>
        <p:nvSpPr>
          <p:cNvPr id="25" name="Guardrail card 1"/>
          <p:cNvSpPr/>
          <p:nvPr/>
        </p:nvSpPr>
        <p:spPr>
          <a:xfrm>
            <a:off x="548640" y="4114800"/>
            <a:ext cx="3515258" cy="1325880"/>
          </a:xfrm>
          <a:prstGeom prst="roundRect">
            <a:avLst>
              <a:gd name="adj" fmla="val 8276"/>
            </a:avLst>
          </a:prstGeom>
          <a:solidFill>
            <a:schemeClr val="bg2"/>
          </a:solidFill>
          <a:ln/>
        </p:spPr>
      </p:sp>
      <p:sp>
        <p:nvSpPr>
          <p:cNvPr id="26" name="Guardrail card 1 circle"/>
          <p:cNvSpPr/>
          <p:nvPr/>
        </p:nvSpPr>
        <p:spPr>
          <a:xfrm>
            <a:off x="777240" y="4453128"/>
            <a:ext cx="640080" cy="640080"/>
          </a:xfrm>
          <a:prstGeom prst="ellipse">
            <a:avLst/>
          </a:prstGeom>
          <a:solidFill>
            <a:schemeClr val="bg1"/>
          </a:solidFill>
          <a:ln/>
        </p:spPr>
      </p:sp>
      <p:pic>
        <p:nvPicPr>
          <p:cNvPr id="27" name="Guardrail card 1 icon" descr="preencoded.png">    </p:cNvPr>
          <p:cNvPicPr>
            <a:picLocks noChangeAspect="1"/>
          </p:cNvPicPr>
          <p:nvPr/>
        </p:nvPicPr>
        <p:blipFill>
          <a:blip r:embed="rId1"/>
          <a:stretch>
            <a:fillRect/>
          </a:stretch>
        </p:blipFill>
        <p:spPr>
          <a:xfrm>
            <a:off x="930859" y="4606747"/>
            <a:ext cx="332842" cy="332842"/>
          </a:xfrm>
          <a:prstGeom prst="rect">
            <a:avLst/>
          </a:prstGeom>
        </p:spPr>
      </p:pic>
      <p:sp>
        <p:nvSpPr>
          <p:cNvPr id="28" name="Guardrail card 1 text"/>
          <p:cNvSpPr txBox="1"/>
          <p:nvPr/>
        </p:nvSpPr>
        <p:spPr>
          <a:xfrm>
            <a:off x="1600200" y="4224528"/>
            <a:ext cx="2280818" cy="1106424"/>
          </a:xfrm>
          <a:prstGeom prst="rect">
            <a:avLst/>
          </a:prstGeom>
          <a:noFill/>
          <a:ln/>
        </p:spPr>
        <p:txBody>
          <a:bodyPr wrap="square" lIns="0" tIns="0" rIns="0" bIns="0" rtlCol="0" anchor="ctr"/>
          <a:lstStyle/>
          <a:p>
            <a:pPr indent="0" marL="0">
              <a:spcAft>
                <a:spcPts val="300"/>
              </a:spcAft>
              <a:buNone/>
            </a:pPr>
            <a:r>
              <a:rPr lang="en-US" sz="1600" b="1" dirty="0">
                <a:solidFill>
                  <a:schemeClr val="tx1"/>
                </a:solidFill>
              </a:rPr>
              <a:t>AI cannot select</a:t>
            </a:r>
            <a:endParaRPr lang="en-US" sz="1600" dirty="0"/>
          </a:p>
          <a:p>
            <a:pPr indent="0" marL="0">
              <a:spcAft>
                <a:spcPts val="300"/>
              </a:spcAft>
              <a:buNone/>
            </a:pPr>
            <a:r>
              <a:rPr lang="en-US" sz="1400" dirty="0">
                <a:solidFill>
                  <a:schemeClr val="tx1"/>
                </a:solidFill>
              </a:rPr>
              <a:t>Only the person's input chooses a reply.</a:t>
            </a:r>
            <a:endParaRPr lang="en-US" sz="1600" dirty="0"/>
          </a:p>
        </p:txBody>
      </p:sp>
      <p:sp>
        <p:nvSpPr>
          <p:cNvPr id="29" name="Guardrail card 2"/>
          <p:cNvSpPr/>
          <p:nvPr/>
        </p:nvSpPr>
        <p:spPr>
          <a:xfrm>
            <a:off x="4338218" y="4114800"/>
            <a:ext cx="3515258" cy="1325880"/>
          </a:xfrm>
          <a:prstGeom prst="roundRect">
            <a:avLst>
              <a:gd name="adj" fmla="val 8276"/>
            </a:avLst>
          </a:prstGeom>
          <a:solidFill>
            <a:schemeClr val="bg2"/>
          </a:solidFill>
          <a:ln/>
        </p:spPr>
      </p:sp>
      <p:sp>
        <p:nvSpPr>
          <p:cNvPr id="30" name="Guardrail card 2 circle"/>
          <p:cNvSpPr/>
          <p:nvPr/>
        </p:nvSpPr>
        <p:spPr>
          <a:xfrm>
            <a:off x="4566818" y="4453128"/>
            <a:ext cx="640080" cy="640080"/>
          </a:xfrm>
          <a:prstGeom prst="ellipse">
            <a:avLst/>
          </a:prstGeom>
          <a:solidFill>
            <a:schemeClr val="bg1"/>
          </a:solidFill>
          <a:ln/>
        </p:spPr>
      </p:sp>
      <p:pic>
        <p:nvPicPr>
          <p:cNvPr id="31" name="Guardrail card 2 icon" descr="preencoded.png">    </p:cNvPr>
          <p:cNvPicPr>
            <a:picLocks noChangeAspect="1"/>
          </p:cNvPicPr>
          <p:nvPr/>
        </p:nvPicPr>
        <p:blipFill>
          <a:blip r:embed="rId2"/>
          <a:stretch>
            <a:fillRect/>
          </a:stretch>
        </p:blipFill>
        <p:spPr>
          <a:xfrm>
            <a:off x="4720438" y="4606747"/>
            <a:ext cx="332842" cy="332842"/>
          </a:xfrm>
          <a:prstGeom prst="rect">
            <a:avLst/>
          </a:prstGeom>
        </p:spPr>
      </p:pic>
      <p:sp>
        <p:nvSpPr>
          <p:cNvPr id="32" name="Guardrail card 2 text"/>
          <p:cNvSpPr txBox="1"/>
          <p:nvPr/>
        </p:nvSpPr>
        <p:spPr>
          <a:xfrm>
            <a:off x="5389778" y="4224528"/>
            <a:ext cx="2280818" cy="1106424"/>
          </a:xfrm>
          <a:prstGeom prst="rect">
            <a:avLst/>
          </a:prstGeom>
          <a:noFill/>
          <a:ln/>
        </p:spPr>
        <p:txBody>
          <a:bodyPr wrap="square" lIns="0" tIns="0" rIns="0" bIns="0" rtlCol="0" anchor="ctr"/>
          <a:lstStyle/>
          <a:p>
            <a:pPr indent="0" marL="0">
              <a:spcAft>
                <a:spcPts val="300"/>
              </a:spcAft>
              <a:buNone/>
            </a:pPr>
            <a:r>
              <a:rPr lang="en-US" sz="1600" b="1" dirty="0">
                <a:solidFill>
                  <a:schemeClr val="tx1"/>
                </a:solidFill>
              </a:rPr>
              <a:t>AI cannot speak</a:t>
            </a:r>
            <a:endParaRPr lang="en-US" sz="1600" dirty="0"/>
          </a:p>
          <a:p>
            <a:pPr indent="0" marL="0">
              <a:spcAft>
                <a:spcPts val="300"/>
              </a:spcAft>
              <a:buNone/>
            </a:pPr>
            <a:r>
              <a:rPr lang="en-US" sz="1400" dirty="0">
                <a:solidFill>
                  <a:schemeClr val="tx1"/>
                </a:solidFill>
              </a:rPr>
              <a:t>Nothing is ever spoken automatically.</a:t>
            </a:r>
            <a:endParaRPr lang="en-US" sz="1600" dirty="0"/>
          </a:p>
        </p:txBody>
      </p:sp>
      <p:sp>
        <p:nvSpPr>
          <p:cNvPr id="33" name="Guardrail card 3"/>
          <p:cNvSpPr/>
          <p:nvPr/>
        </p:nvSpPr>
        <p:spPr>
          <a:xfrm>
            <a:off x="8127797" y="4114800"/>
            <a:ext cx="3515258" cy="1325880"/>
          </a:xfrm>
          <a:prstGeom prst="roundRect">
            <a:avLst>
              <a:gd name="adj" fmla="val 8276"/>
            </a:avLst>
          </a:prstGeom>
          <a:solidFill>
            <a:schemeClr val="bg2"/>
          </a:solidFill>
          <a:ln/>
        </p:spPr>
      </p:sp>
      <p:sp>
        <p:nvSpPr>
          <p:cNvPr id="34" name="Guardrail card 3 circle"/>
          <p:cNvSpPr/>
          <p:nvPr/>
        </p:nvSpPr>
        <p:spPr>
          <a:xfrm>
            <a:off x="8356397" y="4453128"/>
            <a:ext cx="640080" cy="640080"/>
          </a:xfrm>
          <a:prstGeom prst="ellipse">
            <a:avLst/>
          </a:prstGeom>
          <a:solidFill>
            <a:schemeClr val="bg1"/>
          </a:solidFill>
          <a:ln/>
        </p:spPr>
      </p:sp>
      <p:pic>
        <p:nvPicPr>
          <p:cNvPr id="35" name="Guardrail card 3 icon" descr="preencoded.png">    </p:cNvPr>
          <p:cNvPicPr>
            <a:picLocks noChangeAspect="1"/>
          </p:cNvPicPr>
          <p:nvPr/>
        </p:nvPicPr>
        <p:blipFill>
          <a:blip r:embed="rId3"/>
          <a:stretch>
            <a:fillRect/>
          </a:stretch>
        </p:blipFill>
        <p:spPr>
          <a:xfrm>
            <a:off x="8510016" y="4606747"/>
            <a:ext cx="332842" cy="332842"/>
          </a:xfrm>
          <a:prstGeom prst="rect">
            <a:avLst/>
          </a:prstGeom>
        </p:spPr>
      </p:pic>
      <p:sp>
        <p:nvSpPr>
          <p:cNvPr id="36" name="Guardrail card 3 text"/>
          <p:cNvSpPr txBox="1"/>
          <p:nvPr/>
        </p:nvSpPr>
        <p:spPr>
          <a:xfrm>
            <a:off x="9179357" y="4224528"/>
            <a:ext cx="2280818" cy="1106424"/>
          </a:xfrm>
          <a:prstGeom prst="rect">
            <a:avLst/>
          </a:prstGeom>
          <a:noFill/>
          <a:ln/>
        </p:spPr>
        <p:txBody>
          <a:bodyPr wrap="square" lIns="0" tIns="0" rIns="0" bIns="0" rtlCol="0" anchor="ctr"/>
          <a:lstStyle/>
          <a:p>
            <a:pPr indent="0" marL="0">
              <a:spcAft>
                <a:spcPts val="300"/>
              </a:spcAft>
              <a:buNone/>
            </a:pPr>
            <a:r>
              <a:rPr lang="en-US" sz="1600" b="1" dirty="0">
                <a:solidFill>
                  <a:schemeClr val="tx1"/>
                </a:solidFill>
              </a:rPr>
              <a:t>AI cannot save memories</a:t>
            </a:r>
            <a:endParaRPr lang="en-US" sz="1600" dirty="0"/>
          </a:p>
          <a:p>
            <a:pPr indent="0" marL="0">
              <a:spcAft>
                <a:spcPts val="300"/>
              </a:spcAft>
              <a:buNone/>
            </a:pPr>
            <a:r>
              <a:rPr lang="en-US" sz="1400" dirty="0">
                <a:solidFill>
                  <a:schemeClr val="tx1"/>
                </a:solidFill>
              </a:rPr>
              <a:t>Only after an explicit yes and a separate confirmation.</a:t>
            </a:r>
            <a:endParaRPr lang="en-US" sz="1600" dirty="0"/>
          </a:p>
        </p:txBody>
      </p:sp>
      <p:sp>
        <p:nvSpPr>
          <p:cNvPr id="37" name="Initiation note"/>
          <p:cNvSpPr txBox="1"/>
          <p:nvPr/>
        </p:nvSpPr>
        <p:spPr>
          <a:xfrm>
            <a:off x="548640" y="5715000"/>
            <a:ext cx="11094415" cy="365760"/>
          </a:xfrm>
          <a:prstGeom prst="rect">
            <a:avLst/>
          </a:prstGeom>
          <a:noFill/>
          <a:ln/>
        </p:spPr>
        <p:txBody>
          <a:bodyPr wrap="square" lIns="0" tIns="0" rIns="0" bIns="0" rtlCol="0" anchor="ctr"/>
          <a:lstStyle/>
          <a:p>
            <a:pPr indent="0" marL="0">
              <a:buNone/>
            </a:pPr>
            <a:r>
              <a:rPr lang="en-US" sz="1600" dirty="0">
                <a:solidFill>
                  <a:schemeClr val="tx1"/>
                </a:solidFill>
              </a:rPr>
              <a:t>The person can also start a conversation, not just answer one.</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2 · THE PRODUCT</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As built: the board and the review</a:t>
            </a:r>
            <a:endParaRPr lang="en-US" sz="3600" dirty="0"/>
          </a:p>
        </p:txBody>
      </p:sp>
      <p:sp>
        <p:nvSpPr>
          <p:cNvPr id="4" name="Screenshot board frame"/>
          <p:cNvSpPr/>
          <p:nvPr/>
        </p:nvSpPr>
        <p:spPr>
          <a:xfrm>
            <a:off x="521208" y="1453896"/>
            <a:ext cx="5294376" cy="3984498"/>
          </a:xfrm>
          <a:prstGeom prst="rect">
            <a:avLst/>
          </a:prstGeom>
          <a:solidFill>
            <a:schemeClr val="bg1"/>
          </a:solidFill>
          <a:ln w="9525">
            <a:solidFill>
              <a:schemeClr val="accent4"/>
            </a:solidFill>
            <a:prstDash val="solid"/>
          </a:ln>
          <a:effectLst>
            <a:outerShdw sx="100000" sy="100000" kx="0" ky="0" algn="bl" rotWithShape="0" blurRad="76200" dist="25400" dir="5400000">
              <a:srgbClr val="000000">
                <a:alpha val="10000"/>
              </a:srgbClr>
            </a:outerShdw>
          </a:effectLst>
        </p:spPr>
      </p:sp>
      <p:pic>
        <p:nvPicPr>
          <p:cNvPr id="5" name="Screenshot board" descr="Still Here board in iPad simulator Safari: partner asked 'Are you coming to dinner tonight?' with three fixture suggestions, None of these, and Guide, Quick phrases, My words, More tools buttons.">    </p:cNvPr>
          <p:cNvPicPr>
            <a:picLocks noChangeAspect="1"/>
          </p:cNvPicPr>
          <p:nvPr/>
        </p:nvPicPr>
        <p:blipFill>
          <a:blip r:embed="rId1"/>
          <a:stretch>
            <a:fillRect/>
          </a:stretch>
        </p:blipFill>
        <p:spPr>
          <a:xfrm>
            <a:off x="548640" y="1481328"/>
            <a:ext cx="5239512" cy="3929634"/>
          </a:xfrm>
          <a:prstGeom prst="rect">
            <a:avLst/>
          </a:prstGeom>
        </p:spPr>
      </p:pic>
      <p:sp>
        <p:nvSpPr>
          <p:cNvPr id="6" name="Screenshot review frame"/>
          <p:cNvSpPr/>
          <p:nvPr/>
        </p:nvSpPr>
        <p:spPr>
          <a:xfrm>
            <a:off x="6376111" y="1453896"/>
            <a:ext cx="5294376" cy="3984498"/>
          </a:xfrm>
          <a:prstGeom prst="rect">
            <a:avLst/>
          </a:prstGeom>
          <a:solidFill>
            <a:schemeClr val="bg1"/>
          </a:solidFill>
          <a:ln w="9525">
            <a:solidFill>
              <a:schemeClr val="accent4"/>
            </a:solidFill>
            <a:prstDash val="solid"/>
          </a:ln>
          <a:effectLst>
            <a:outerShdw sx="100000" sy="100000" kx="0" ky="0" algn="bl" rotWithShape="0" blurRad="76200" dist="25400" dir="5400000">
              <a:srgbClr val="000000">
                <a:alpha val="10000"/>
              </a:srgbClr>
            </a:outerShdw>
          </a:effectLst>
        </p:spPr>
      </p:sp>
      <p:pic>
        <p:nvPicPr>
          <p:cNvPr id="7" name="Screenshot review" descr="Still Here review screen in iPad simulator Safari: 'Yes, that works for me.' with Cancel, Speak, and Change wording; text says nothing is spoken until you select Speak.">    </p:cNvPr>
          <p:cNvPicPr>
            <a:picLocks noChangeAspect="1"/>
          </p:cNvPicPr>
          <p:nvPr/>
        </p:nvPicPr>
        <p:blipFill>
          <a:blip r:embed="rId2"/>
          <a:stretch>
            <a:fillRect/>
          </a:stretch>
        </p:blipFill>
        <p:spPr>
          <a:xfrm>
            <a:off x="6403543" y="1481328"/>
            <a:ext cx="5239512" cy="3929634"/>
          </a:xfrm>
          <a:prstGeom prst="rect">
            <a:avLst/>
          </a:prstGeom>
        </p:spPr>
      </p:pic>
      <p:sp>
        <p:nvSpPr>
          <p:cNvPr id="8" name="Caption board"/>
          <p:cNvSpPr txBox="1"/>
          <p:nvPr/>
        </p:nvSpPr>
        <p:spPr>
          <a:xfrm>
            <a:off x="548640" y="5520690"/>
            <a:ext cx="5239512" cy="457200"/>
          </a:xfrm>
          <a:prstGeom prst="rect">
            <a:avLst/>
          </a:prstGeom>
          <a:noFill/>
          <a:ln/>
        </p:spPr>
        <p:txBody>
          <a:bodyPr wrap="square" lIns="0" tIns="0" rIns="0" bIns="0" rtlCol="0" anchor="t"/>
          <a:lstStyle/>
          <a:p>
            <a:pPr indent="0" marL="0">
              <a:buNone/>
            </a:pPr>
            <a:r>
              <a:rPr lang="en-US" sz="1200" dirty="0">
                <a:solidFill>
                  <a:schemeClr val="tx1"/>
                </a:solidFill>
              </a:rPr>
              <a:t>Board: the partner's question as typed, three different replies, None of these, and Guide / Quick phrases / My words.</a:t>
            </a:r>
            <a:endParaRPr lang="en-US" sz="1200" dirty="0"/>
          </a:p>
        </p:txBody>
      </p:sp>
      <p:sp>
        <p:nvSpPr>
          <p:cNvPr id="9" name="Caption review"/>
          <p:cNvSpPr txBox="1"/>
          <p:nvPr/>
        </p:nvSpPr>
        <p:spPr>
          <a:xfrm>
            <a:off x="6403543" y="5520690"/>
            <a:ext cx="5239512" cy="457200"/>
          </a:xfrm>
          <a:prstGeom prst="rect">
            <a:avLst/>
          </a:prstGeom>
          <a:noFill/>
          <a:ln/>
        </p:spPr>
        <p:txBody>
          <a:bodyPr wrap="square" lIns="0" tIns="0" rIns="0" bIns="0" rtlCol="0" anchor="t"/>
          <a:lstStyle/>
          <a:p>
            <a:pPr indent="0" marL="0">
              <a:buNone/>
            </a:pPr>
            <a:r>
              <a:rPr lang="en-US" sz="1200" dirty="0">
                <a:solidFill>
                  <a:schemeClr val="tx1"/>
                </a:solidFill>
              </a:rPr>
              <a:t>Review: the whole sentence, attributed to its source. "Nothing is spoken until you select Speak."</a:t>
            </a:r>
            <a:endParaRPr lang="en-US" sz="1200" dirty="0"/>
          </a:p>
        </p:txBody>
      </p:sp>
      <p:sp>
        <p:nvSpPr>
          <p:cNvPr id="10" name="Screenshot provenance"/>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100" dirty="0">
                <a:solidFill>
                  <a:schemeClr val="accent4"/>
                </a:solidFill>
              </a:rPr>
              <a:t>Real screenshots · iPad simulator, Safari, localhost · Fixture demo, touch input · 12:15–12:18 CT · not a physical iPad, not gesture-driven</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3 · HANDS-FREE ON IPAD</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Two facial gestures, one guarded path</a:t>
            </a:r>
            <a:endParaRPr lang="en-US" sz="3600" dirty="0"/>
          </a:p>
        </p:txBody>
      </p:sp>
      <p:sp>
        <p:nvSpPr>
          <p:cNvPr id="4" name="Gesture NEXT block"/>
          <p:cNvSpPr/>
          <p:nvPr/>
        </p:nvSpPr>
        <p:spPr>
          <a:xfrm>
            <a:off x="548640" y="1572768"/>
            <a:ext cx="1783080" cy="1261872"/>
          </a:xfrm>
          <a:prstGeom prst="roundRect">
            <a:avLst>
              <a:gd name="adj" fmla="val 8696"/>
            </a:avLst>
          </a:prstGeom>
          <a:solidFill>
            <a:schemeClr val="accent1"/>
          </a:solidFill>
          <a:ln/>
        </p:spPr>
      </p:sp>
      <p:sp>
        <p:nvSpPr>
          <p:cNvPr id="5" name="Gesture NEXT label"/>
          <p:cNvSpPr txBox="1"/>
          <p:nvPr/>
        </p:nvSpPr>
        <p:spPr>
          <a:xfrm>
            <a:off x="640080" y="1572768"/>
            <a:ext cx="1600200" cy="1261872"/>
          </a:xfrm>
          <a:prstGeom prst="rect">
            <a:avLst/>
          </a:prstGeom>
          <a:noFill/>
          <a:ln/>
        </p:spPr>
        <p:txBody>
          <a:bodyPr wrap="square" lIns="0" tIns="0" rIns="0" bIns="0" rtlCol="0" anchor="ctr"/>
          <a:lstStyle/>
          <a:p>
            <a:pPr algn="ctr" indent="0" marL="0">
              <a:buNone/>
            </a:pPr>
            <a:r>
              <a:rPr lang="en-US" sz="2200" b="1" dirty="0">
                <a:solidFill>
                  <a:schemeClr val="bg1"/>
                </a:solidFill>
              </a:rPr>
              <a:t>NEXT</a:t>
            </a:r>
            <a:endParaRPr lang="en-US" sz="2200" dirty="0"/>
          </a:p>
          <a:p>
            <a:pPr algn="ctr" indent="0" marL="0">
              <a:buNone/>
            </a:pPr>
            <a:r>
              <a:rPr lang="en-US" sz="1200" dirty="0">
                <a:solidFill>
                  <a:schemeClr val="bg1"/>
                </a:solidFill>
              </a:rPr>
              <a:t>eyebrows up 0.5 s</a:t>
            </a:r>
            <a:endParaRPr lang="en-US" sz="2200" dirty="0"/>
          </a:p>
        </p:txBody>
      </p:sp>
      <p:sp>
        <p:nvSpPr>
          <p:cNvPr id="6" name="Gesture NEXT text"/>
          <p:cNvSpPr txBox="1"/>
          <p:nvPr/>
        </p:nvSpPr>
        <p:spPr>
          <a:xfrm>
            <a:off x="2560320" y="1572768"/>
            <a:ext cx="4709160" cy="1261872"/>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rPr>
              <a:t>Raise both eyebrows for half a second</a:t>
            </a:r>
            <a:endParaRPr lang="en-US" sz="1700" dirty="0"/>
          </a:p>
          <a:p>
            <a:pPr indent="0" marL="0">
              <a:spcAft>
                <a:spcPts val="300"/>
              </a:spcAft>
              <a:buNone/>
            </a:pPr>
            <a:r>
              <a:rPr lang="en-US" sz="1400" dirty="0">
                <a:solidFill>
                  <a:schemeClr val="tx1"/>
                </a:solidFill>
              </a:rPr>
              <a:t>Moves the highlight exactly one step. Holding longer doesn't skip. Relax to rearm. Nothing moves on a timer.</a:t>
            </a:r>
            <a:endParaRPr lang="en-US" sz="1700" dirty="0"/>
          </a:p>
        </p:txBody>
      </p:sp>
      <p:sp>
        <p:nvSpPr>
          <p:cNvPr id="7" name="Gesture SELECT block"/>
          <p:cNvSpPr/>
          <p:nvPr/>
        </p:nvSpPr>
        <p:spPr>
          <a:xfrm>
            <a:off x="548640" y="3063240"/>
            <a:ext cx="1783080" cy="1261872"/>
          </a:xfrm>
          <a:prstGeom prst="roundRect">
            <a:avLst>
              <a:gd name="adj" fmla="val 8696"/>
            </a:avLst>
          </a:prstGeom>
          <a:solidFill>
            <a:schemeClr val="accent1"/>
          </a:solidFill>
          <a:ln/>
        </p:spPr>
      </p:sp>
      <p:sp>
        <p:nvSpPr>
          <p:cNvPr id="8" name="Gesture SELECT label"/>
          <p:cNvSpPr txBox="1"/>
          <p:nvPr/>
        </p:nvSpPr>
        <p:spPr>
          <a:xfrm>
            <a:off x="640080" y="3063240"/>
            <a:ext cx="1600200" cy="1261872"/>
          </a:xfrm>
          <a:prstGeom prst="rect">
            <a:avLst/>
          </a:prstGeom>
          <a:noFill/>
          <a:ln/>
        </p:spPr>
        <p:txBody>
          <a:bodyPr wrap="square" lIns="0" tIns="0" rIns="0" bIns="0" rtlCol="0" anchor="ctr"/>
          <a:lstStyle/>
          <a:p>
            <a:pPr algn="ctr" indent="0" marL="0">
              <a:buNone/>
            </a:pPr>
            <a:r>
              <a:rPr lang="en-US" sz="2200" b="1" dirty="0">
                <a:solidFill>
                  <a:schemeClr val="bg1"/>
                </a:solidFill>
              </a:rPr>
              <a:t>SELECT</a:t>
            </a:r>
            <a:endParaRPr lang="en-US" sz="2200" dirty="0"/>
          </a:p>
          <a:p>
            <a:pPr algn="ctr" indent="0" marL="0">
              <a:buNone/>
            </a:pPr>
            <a:r>
              <a:rPr lang="en-US" sz="1200" dirty="0">
                <a:solidFill>
                  <a:schemeClr val="bg1"/>
                </a:solidFill>
              </a:rPr>
              <a:t>long blink</a:t>
            </a:r>
            <a:endParaRPr lang="en-US" sz="2200" dirty="0"/>
          </a:p>
        </p:txBody>
      </p:sp>
      <p:sp>
        <p:nvSpPr>
          <p:cNvPr id="9" name="Gesture SELECT text"/>
          <p:cNvSpPr txBox="1"/>
          <p:nvPr/>
        </p:nvSpPr>
        <p:spPr>
          <a:xfrm>
            <a:off x="2560320" y="3063240"/>
            <a:ext cx="4709160" cy="1261872"/>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rPr>
              <a:t>A long, deliberate blink</a:t>
            </a:r>
            <a:endParaRPr lang="en-US" sz="1700" dirty="0"/>
          </a:p>
          <a:p>
            <a:pPr indent="0" marL="0">
              <a:spcAft>
                <a:spcPts val="300"/>
              </a:spcAft>
              <a:buNone/>
            </a:pPr>
            <a:r>
              <a:rPr lang="en-US" sz="1400" dirty="0">
                <a:solidFill>
                  <a:schemeClr val="tx1"/>
                </a:solidFill>
              </a:rPr>
              <a:t>Selects what was highlighted when your eyes closed. Ordinary blinks and winks are ignored.</a:t>
            </a:r>
            <a:endParaRPr lang="en-US" sz="1700" dirty="0"/>
          </a:p>
        </p:txBody>
      </p:sp>
      <p:sp>
        <p:nvSpPr>
          <p:cNvPr id="10" name="Gesture SPEAK block"/>
          <p:cNvSpPr/>
          <p:nvPr/>
        </p:nvSpPr>
        <p:spPr>
          <a:xfrm>
            <a:off x="548640" y="4553712"/>
            <a:ext cx="1783080" cy="1261872"/>
          </a:xfrm>
          <a:prstGeom prst="roundRect">
            <a:avLst>
              <a:gd name="adj" fmla="val 8696"/>
            </a:avLst>
          </a:prstGeom>
          <a:solidFill>
            <a:schemeClr val="accent1"/>
          </a:solidFill>
          <a:ln/>
        </p:spPr>
      </p:sp>
      <p:sp>
        <p:nvSpPr>
          <p:cNvPr id="11" name="Gesture SPEAK label"/>
          <p:cNvSpPr txBox="1"/>
          <p:nvPr/>
        </p:nvSpPr>
        <p:spPr>
          <a:xfrm>
            <a:off x="640080" y="4553712"/>
            <a:ext cx="1600200" cy="1261872"/>
          </a:xfrm>
          <a:prstGeom prst="rect">
            <a:avLst/>
          </a:prstGeom>
          <a:noFill/>
          <a:ln/>
        </p:spPr>
        <p:txBody>
          <a:bodyPr wrap="square" lIns="0" tIns="0" rIns="0" bIns="0" rtlCol="0" anchor="ctr"/>
          <a:lstStyle/>
          <a:p>
            <a:pPr algn="ctr" indent="0" marL="0">
              <a:buNone/>
            </a:pPr>
            <a:r>
              <a:rPr lang="en-US" sz="2200" b="1" dirty="0">
                <a:solidFill>
                  <a:schemeClr val="bg1"/>
                </a:solidFill>
              </a:rPr>
              <a:t>SPEAK</a:t>
            </a:r>
            <a:endParaRPr lang="en-US" sz="2200" dirty="0"/>
          </a:p>
          <a:p>
            <a:pPr algn="ctr" indent="0" marL="0">
              <a:buNone/>
            </a:pPr>
            <a:r>
              <a:rPr lang="en-US" sz="1200" dirty="0">
                <a:solidFill>
                  <a:schemeClr val="bg1"/>
                </a:solidFill>
              </a:rPr>
              <a:t>a new long blink</a:t>
            </a:r>
            <a:endParaRPr lang="en-US" sz="2200" dirty="0"/>
          </a:p>
        </p:txBody>
      </p:sp>
      <p:sp>
        <p:nvSpPr>
          <p:cNvPr id="12" name="Gesture SPEAK text"/>
          <p:cNvSpPr txBox="1"/>
          <p:nvPr/>
        </p:nvSpPr>
        <p:spPr>
          <a:xfrm>
            <a:off x="2560320" y="4553712"/>
            <a:ext cx="4709160" cy="1261872"/>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rPr>
              <a:t>A fresh blink, after review</a:t>
            </a:r>
            <a:endParaRPr lang="en-US" sz="1700" dirty="0"/>
          </a:p>
          <a:p>
            <a:pPr indent="0" marL="0">
              <a:spcAft>
                <a:spcPts val="300"/>
              </a:spcAft>
              <a:buNone/>
            </a:pPr>
            <a:r>
              <a:rPr lang="en-US" sz="1400" dirty="0">
                <a:solidFill>
                  <a:schemeClr val="tx1"/>
                </a:solidFill>
              </a:rPr>
              <a:t>Review opens on Cancel. Raise brows to reach Speak, then blink again. One gesture can never both select and confirm.</a:t>
            </a:r>
            <a:endParaRPr lang="en-US" sz="1700" dirty="0"/>
          </a:p>
        </p:txBody>
      </p:sp>
      <p:sp>
        <p:nvSpPr>
          <p:cNvPr id="13" name="Diagram iPad body"/>
          <p:cNvSpPr/>
          <p:nvPr/>
        </p:nvSpPr>
        <p:spPr>
          <a:xfrm>
            <a:off x="7726680" y="1572768"/>
            <a:ext cx="3916375" cy="2937281"/>
          </a:xfrm>
          <a:prstGeom prst="roundRect">
            <a:avLst>
              <a:gd name="adj" fmla="val 6849"/>
            </a:avLst>
          </a:prstGeom>
          <a:solidFill>
            <a:schemeClr val="tx2"/>
          </a:solidFill>
          <a:ln/>
        </p:spPr>
      </p:sp>
      <p:sp>
        <p:nvSpPr>
          <p:cNvPr id="14" name="Diagram iPad screen"/>
          <p:cNvSpPr/>
          <p:nvPr/>
        </p:nvSpPr>
        <p:spPr>
          <a:xfrm>
            <a:off x="7891272" y="1737360"/>
            <a:ext cx="3587191" cy="2608097"/>
          </a:xfrm>
          <a:prstGeom prst="rect">
            <a:avLst/>
          </a:prstGeom>
          <a:solidFill>
            <a:schemeClr val="bg1"/>
          </a:solidFill>
          <a:ln/>
        </p:spPr>
      </p:sp>
      <p:sp>
        <p:nvSpPr>
          <p:cNvPr id="15" name="Diagram option 1"/>
          <p:cNvSpPr/>
          <p:nvPr/>
        </p:nvSpPr>
        <p:spPr>
          <a:xfrm>
            <a:off x="8074152" y="2240280"/>
            <a:ext cx="1986991" cy="347472"/>
          </a:xfrm>
          <a:prstGeom prst="roundRect">
            <a:avLst>
              <a:gd name="adj" fmla="val 15789"/>
            </a:avLst>
          </a:prstGeom>
          <a:solidFill>
            <a:schemeClr val="bg1"/>
          </a:solidFill>
          <a:ln w="9525">
            <a:solidFill>
              <a:schemeClr val="accent4"/>
            </a:solidFill>
            <a:prstDash val="solid"/>
          </a:ln>
        </p:spPr>
      </p:sp>
      <p:sp>
        <p:nvSpPr>
          <p:cNvPr id="16" name="Diagram option 2"/>
          <p:cNvSpPr/>
          <p:nvPr/>
        </p:nvSpPr>
        <p:spPr>
          <a:xfrm>
            <a:off x="8074152" y="2697480"/>
            <a:ext cx="1986991" cy="347472"/>
          </a:xfrm>
          <a:prstGeom prst="roundRect">
            <a:avLst>
              <a:gd name="adj" fmla="val 15789"/>
            </a:avLst>
          </a:prstGeom>
          <a:solidFill>
            <a:schemeClr val="bg2"/>
          </a:solidFill>
          <a:ln w="28575">
            <a:solidFill>
              <a:schemeClr val="accent1"/>
            </a:solidFill>
            <a:prstDash val="solid"/>
          </a:ln>
        </p:spPr>
      </p:sp>
      <p:sp>
        <p:nvSpPr>
          <p:cNvPr id="17" name="Diagram option 3"/>
          <p:cNvSpPr/>
          <p:nvPr/>
        </p:nvSpPr>
        <p:spPr>
          <a:xfrm>
            <a:off x="8074152" y="3154680"/>
            <a:ext cx="1986991" cy="347472"/>
          </a:xfrm>
          <a:prstGeom prst="roundRect">
            <a:avLst>
              <a:gd name="adj" fmla="val 15789"/>
            </a:avLst>
          </a:prstGeom>
          <a:solidFill>
            <a:schemeClr val="bg1"/>
          </a:solidFill>
          <a:ln w="9525">
            <a:solidFill>
              <a:schemeClr val="accent4"/>
            </a:solidFill>
            <a:prstDash val="solid"/>
          </a:ln>
        </p:spPr>
      </p:sp>
      <p:sp>
        <p:nvSpPr>
          <p:cNvPr id="18" name="Diagram highlight label"/>
          <p:cNvSpPr txBox="1"/>
          <p:nvPr/>
        </p:nvSpPr>
        <p:spPr>
          <a:xfrm>
            <a:off x="8183880" y="2761488"/>
            <a:ext cx="1371600" cy="228600"/>
          </a:xfrm>
          <a:prstGeom prst="rect">
            <a:avLst/>
          </a:prstGeom>
          <a:noFill/>
          <a:ln/>
        </p:spPr>
        <p:txBody>
          <a:bodyPr wrap="square" lIns="0" tIns="0" rIns="0" bIns="0" rtlCol="0" anchor="t"/>
          <a:lstStyle/>
          <a:p>
            <a:pPr indent="0" marL="0">
              <a:buNone/>
            </a:pPr>
            <a:r>
              <a:rPr lang="en-US" sz="1000" dirty="0">
                <a:solidFill>
                  <a:schemeClr val="accent1"/>
                </a:solidFill>
              </a:rPr>
              <a:t>highlight</a:t>
            </a:r>
            <a:endParaRPr lang="en-US" sz="1000" dirty="0"/>
          </a:p>
        </p:txBody>
      </p:sp>
      <p:sp>
        <p:nvSpPr>
          <p:cNvPr id="19" name="Diagram live preview"/>
          <p:cNvSpPr/>
          <p:nvPr/>
        </p:nvSpPr>
        <p:spPr>
          <a:xfrm>
            <a:off x="10289743" y="1847088"/>
            <a:ext cx="1078992" cy="804672"/>
          </a:xfrm>
          <a:prstGeom prst="roundRect">
            <a:avLst>
              <a:gd name="adj" fmla="val 9091"/>
            </a:avLst>
          </a:prstGeom>
          <a:solidFill>
            <a:schemeClr val="tx2"/>
          </a:solidFill>
          <a:ln/>
        </p:spPr>
      </p:sp>
      <p:pic>
        <p:nvPicPr>
          <p:cNvPr id="20" name="Diagram preview face" descr="preencoded.png">    </p:cNvPr>
          <p:cNvPicPr>
            <a:picLocks noChangeAspect="1"/>
          </p:cNvPicPr>
          <p:nvPr/>
        </p:nvPicPr>
        <p:blipFill>
          <a:blip r:embed="rId1"/>
          <a:stretch>
            <a:fillRect/>
          </a:stretch>
        </p:blipFill>
        <p:spPr>
          <a:xfrm>
            <a:off x="10618927" y="2002536"/>
            <a:ext cx="420624" cy="420624"/>
          </a:xfrm>
          <a:prstGeom prst="rect">
            <a:avLst/>
          </a:prstGeom>
        </p:spPr>
      </p:pic>
      <p:sp>
        <p:nvSpPr>
          <p:cNvPr id="21" name="Diagram preview label"/>
          <p:cNvSpPr txBox="1"/>
          <p:nvPr/>
        </p:nvSpPr>
        <p:spPr>
          <a:xfrm>
            <a:off x="10289743" y="2688336"/>
            <a:ext cx="1078992" cy="228600"/>
          </a:xfrm>
          <a:prstGeom prst="rect">
            <a:avLst/>
          </a:prstGeom>
          <a:noFill/>
          <a:ln/>
        </p:spPr>
        <p:txBody>
          <a:bodyPr wrap="square" lIns="0" tIns="0" rIns="0" bIns="0" rtlCol="0" anchor="t"/>
          <a:lstStyle/>
          <a:p>
            <a:pPr indent="0" marL="0">
              <a:buNone/>
            </a:pPr>
            <a:r>
              <a:rPr lang="en-US" sz="1000" dirty="0">
                <a:solidFill>
                  <a:schemeClr val="tx1"/>
                </a:solidFill>
              </a:rPr>
              <a:t>live preview</a:t>
            </a:r>
            <a:endParaRPr lang="en-US" sz="1000" dirty="0"/>
          </a:p>
        </p:txBody>
      </p:sp>
      <p:sp>
        <p:nvSpPr>
          <p:cNvPr id="22" name="Diagram feedback"/>
          <p:cNvSpPr/>
          <p:nvPr/>
        </p:nvSpPr>
        <p:spPr>
          <a:xfrm>
            <a:off x="8074152" y="3888257"/>
            <a:ext cx="2651760" cy="310896"/>
          </a:xfrm>
          <a:prstGeom prst="roundRect">
            <a:avLst>
              <a:gd name="adj" fmla="val 17647"/>
            </a:avLst>
          </a:prstGeom>
          <a:solidFill>
            <a:schemeClr val="bg2"/>
          </a:solidFill>
          <a:ln w="9525">
            <a:solidFill>
              <a:schemeClr val="accent1"/>
            </a:solidFill>
          </a:ln>
        </p:spPr>
        <p:txBody>
          <a:bodyPr wrap="square" lIns="0" tIns="0" rIns="0" bIns="0" rtlCol="0" anchor="ctr"/>
          <a:lstStyle/>
          <a:p>
            <a:pPr algn="ctr" indent="0" marL="0">
              <a:buNone/>
            </a:pPr>
            <a:r>
              <a:rPr lang="en-US" sz="1100" b="1" dirty="0">
                <a:solidFill>
                  <a:schemeClr val="accent1"/>
                </a:solidFill>
              </a:rPr>
              <a:t>Eyebrow raise detected — Next</a:t>
            </a:r>
            <a:endParaRPr lang="en-US" sz="1100" dirty="0"/>
          </a:p>
        </p:txBody>
      </p:sp>
      <p:sp>
        <p:nvSpPr>
          <p:cNvPr id="23" name="Diagram caption"/>
          <p:cNvSpPr txBox="1"/>
          <p:nvPr/>
        </p:nvSpPr>
        <p:spPr>
          <a:xfrm>
            <a:off x="7726680" y="4619777"/>
            <a:ext cx="3916375" cy="685800"/>
          </a:xfrm>
          <a:prstGeom prst="rect">
            <a:avLst/>
          </a:prstGeom>
          <a:noFill/>
          <a:ln/>
        </p:spPr>
        <p:txBody>
          <a:bodyPr wrap="square" lIns="0" tIns="0" rIns="0" bIns="0" rtlCol="0" anchor="t"/>
          <a:lstStyle/>
          <a:p>
            <a:pPr indent="0" marL="0">
              <a:buNone/>
            </a:pPr>
            <a:r>
              <a:rPr lang="en-US" sz="1100" dirty="0">
                <a:solidFill>
                  <a:schemeClr val="accent4"/>
                </a:solidFill>
              </a:rPr>
              <a:t>Diagram, not a screenshot. A small mirrored live preview sits top right so the person can see tracking works. Live view only; nothing is recorded.</a:t>
            </a:r>
            <a:endParaRPr lang="en-US" sz="1100" dirty="0"/>
          </a:p>
        </p:txBody>
      </p:sp>
      <p:sp>
        <p:nvSpPr>
          <p:cNvPr id="24" name="Status not iPad-verified"/>
          <p:cNvSpPr/>
          <p:nvPr/>
        </p:nvSpPr>
        <p:spPr>
          <a:xfrm>
            <a:off x="7726680" y="5349240"/>
            <a:ext cx="1783080" cy="347472"/>
          </a:xfrm>
          <a:prstGeom prst="roundRect">
            <a:avLst>
              <a:gd name="adj" fmla="val 50000"/>
            </a:avLst>
          </a:prstGeom>
          <a:solidFill>
            <a:schemeClr val="accent3"/>
          </a:solidFill>
          <a:ln w="12700">
            <a:solidFill>
              <a:schemeClr val="accent2"/>
            </a:solidFill>
          </a:ln>
        </p:spPr>
        <p:txBody>
          <a:bodyPr wrap="square" lIns="0" tIns="0" rIns="0" bIns="0" rtlCol="0" anchor="ctr"/>
          <a:lstStyle/>
          <a:p>
            <a:pPr algn="ctr" indent="0" marL="0">
              <a:buNone/>
            </a:pPr>
            <a:r>
              <a:rPr lang="en-US" sz="1200" b="1" dirty="0">
                <a:solidFill>
                  <a:schemeClr val="accent2"/>
                </a:solidFill>
              </a:rPr>
              <a:t>Not iPad-verified</a:t>
            </a:r>
            <a:endParaRPr lang="en-US" sz="1200" dirty="0"/>
          </a:p>
        </p:txBody>
      </p:sp>
      <p:sp>
        <p:nvSpPr>
          <p:cNvPr id="25" name="Status reliability"/>
          <p:cNvSpPr/>
          <p:nvPr/>
        </p:nvSpPr>
        <p:spPr>
          <a:xfrm>
            <a:off x="9646920" y="5349240"/>
            <a:ext cx="1996135" cy="347472"/>
          </a:xfrm>
          <a:prstGeom prst="roundRect">
            <a:avLst>
              <a:gd name="adj" fmla="val 50000"/>
            </a:avLst>
          </a:prstGeom>
          <a:solidFill>
            <a:schemeClr val="accent3"/>
          </a:solidFill>
          <a:ln w="12700">
            <a:solidFill>
              <a:schemeClr val="accent2"/>
            </a:solidFill>
          </a:ln>
        </p:spPr>
        <p:txBody>
          <a:bodyPr wrap="square" lIns="0" tIns="0" rIns="0" bIns="0" rtlCol="0" anchor="ctr"/>
          <a:lstStyle/>
          <a:p>
            <a:pPr algn="ctr" indent="0" marL="0">
              <a:buNone/>
            </a:pPr>
            <a:r>
              <a:rPr lang="en-US" sz="1200" b="1" dirty="0">
                <a:solidFill>
                  <a:schemeClr val="accent2"/>
                </a:solidFill>
              </a:rPr>
              <a:t>Reliability not measured</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3 · HANDS-FREE ON IPAD</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Setup is calibrated per person, with real fallbacks</a:t>
            </a:r>
            <a:endParaRPr lang="en-US" sz="3600" dirty="0"/>
          </a:p>
        </p:txBody>
      </p:sp>
      <p:sp>
        <p:nvSpPr>
          <p:cNvPr id="4" name="Screenshot setup 1 frame"/>
          <p:cNvSpPr/>
          <p:nvPr/>
        </p:nvSpPr>
        <p:spPr>
          <a:xfrm>
            <a:off x="521208" y="1453896"/>
            <a:ext cx="3570122" cy="2691308"/>
          </a:xfrm>
          <a:prstGeom prst="rect">
            <a:avLst/>
          </a:prstGeom>
          <a:solidFill>
            <a:schemeClr val="bg1"/>
          </a:solidFill>
          <a:ln w="9525">
            <a:solidFill>
              <a:schemeClr val="accent4"/>
            </a:solidFill>
            <a:prstDash val="solid"/>
          </a:ln>
          <a:effectLst>
            <a:outerShdw sx="100000" sy="100000" kx="0" ky="0" algn="bl" rotWithShape="0" blurRad="76200" dist="25400" dir="5400000">
              <a:srgbClr val="000000">
                <a:alpha val="10000"/>
              </a:srgbClr>
            </a:outerShdw>
          </a:effectLst>
        </p:spPr>
      </p:sp>
      <p:pic>
        <p:nvPicPr>
          <p:cNvPr id="5" name="Screenshot setup 1" descr="Setup screen in iPad simulator: 'Use eyebrows + blinks' recommended, with Auto-scan with blink, Keyboard / switch, and Touch options.">    </p:cNvPr>
          <p:cNvPicPr>
            <a:picLocks noChangeAspect="1"/>
          </p:cNvPicPr>
          <p:nvPr/>
        </p:nvPicPr>
        <p:blipFill>
          <a:blip r:embed="rId1"/>
          <a:stretch>
            <a:fillRect/>
          </a:stretch>
        </p:blipFill>
        <p:spPr>
          <a:xfrm>
            <a:off x="548640" y="1481328"/>
            <a:ext cx="3515258" cy="2636444"/>
          </a:xfrm>
          <a:prstGeom prst="rect">
            <a:avLst/>
          </a:prstGeom>
        </p:spPr>
      </p:pic>
      <p:sp>
        <p:nvSpPr>
          <p:cNvPr id="6" name="Caption setup 1"/>
          <p:cNvSpPr txBox="1"/>
          <p:nvPr/>
        </p:nvSpPr>
        <p:spPr>
          <a:xfrm>
            <a:off x="548640" y="4227500"/>
            <a:ext cx="3515258" cy="685800"/>
          </a:xfrm>
          <a:prstGeom prst="rect">
            <a:avLst/>
          </a:prstGeom>
          <a:noFill/>
          <a:ln/>
        </p:spPr>
        <p:txBody>
          <a:bodyPr wrap="square" lIns="0" tIns="0" rIns="0" bIns="0" rtlCol="0" anchor="t"/>
          <a:lstStyle/>
          <a:p>
            <a:pPr indent="0" marL="0">
              <a:buNone/>
            </a:pPr>
            <a:r>
              <a:rPr lang="en-US" sz="1200" dirty="0">
                <a:solidFill>
                  <a:schemeClr val="tx1"/>
                </a:solidFill>
              </a:rPr>
              <a:t>Choose how to select: eyebrows + blinks recommended; auto-scan with blink, keyboard/switch, and touch alongside.</a:t>
            </a:r>
            <a:endParaRPr lang="en-US" sz="1200" dirty="0"/>
          </a:p>
        </p:txBody>
      </p:sp>
      <p:sp>
        <p:nvSpPr>
          <p:cNvPr id="7" name="Screenshot setup 2 frame"/>
          <p:cNvSpPr/>
          <p:nvPr/>
        </p:nvSpPr>
        <p:spPr>
          <a:xfrm>
            <a:off x="4310786" y="1453896"/>
            <a:ext cx="3570122" cy="2691308"/>
          </a:xfrm>
          <a:prstGeom prst="rect">
            <a:avLst/>
          </a:prstGeom>
          <a:solidFill>
            <a:schemeClr val="bg1"/>
          </a:solidFill>
          <a:ln w="9525">
            <a:solidFill>
              <a:schemeClr val="accent4"/>
            </a:solidFill>
            <a:prstDash val="solid"/>
          </a:ln>
          <a:effectLst>
            <a:outerShdw sx="100000" sy="100000" kx="0" ky="0" algn="bl" rotWithShape="0" blurRad="76200" dist="25400" dir="5400000">
              <a:srgbClr val="000000">
                <a:alpha val="10000"/>
              </a:srgbClr>
            </a:outerShdw>
          </a:effectLst>
        </p:spPr>
      </p:sp>
      <p:pic>
        <p:nvPicPr>
          <p:cNvPr id="8" name="Screenshot setup 2" descr="Eyebrow and blink calibration screen in iPad simulator, showing the steps from Camera through Practice confirm and a Turn on camera button.">    </p:cNvPr>
          <p:cNvPicPr>
            <a:picLocks noChangeAspect="1"/>
          </p:cNvPicPr>
          <p:nvPr/>
        </p:nvPicPr>
        <p:blipFill>
          <a:blip r:embed="rId2"/>
          <a:stretch>
            <a:fillRect/>
          </a:stretch>
        </p:blipFill>
        <p:spPr>
          <a:xfrm>
            <a:off x="4338218" y="1481328"/>
            <a:ext cx="3515258" cy="2636444"/>
          </a:xfrm>
          <a:prstGeom prst="rect">
            <a:avLst/>
          </a:prstGeom>
        </p:spPr>
      </p:pic>
      <p:sp>
        <p:nvSpPr>
          <p:cNvPr id="9" name="Caption setup 2"/>
          <p:cNvSpPr txBox="1"/>
          <p:nvPr/>
        </p:nvSpPr>
        <p:spPr>
          <a:xfrm>
            <a:off x="4338218" y="4227500"/>
            <a:ext cx="3515258" cy="685800"/>
          </a:xfrm>
          <a:prstGeom prst="rect">
            <a:avLst/>
          </a:prstGeom>
          <a:noFill/>
          <a:ln/>
        </p:spPr>
        <p:txBody>
          <a:bodyPr wrap="square" lIns="0" tIns="0" rIns="0" bIns="0" rtlCol="0" anchor="t"/>
          <a:lstStyle/>
          <a:p>
            <a:pPr indent="0" marL="0">
              <a:buNone/>
            </a:pPr>
            <a:r>
              <a:rPr lang="en-US" sz="1200" dirty="0">
                <a:solidFill>
                  <a:schemeClr val="tx1"/>
                </a:solidFill>
              </a:rPr>
              <a:t>Guided calibration: relax brows, raise brows, practice Next, natural and deliberate blinks, practice select and confirm.</a:t>
            </a:r>
            <a:endParaRPr lang="en-US" sz="1200" dirty="0"/>
          </a:p>
        </p:txBody>
      </p:sp>
      <p:sp>
        <p:nvSpPr>
          <p:cNvPr id="10" name="Screenshot setup 3 frame"/>
          <p:cNvSpPr/>
          <p:nvPr/>
        </p:nvSpPr>
        <p:spPr>
          <a:xfrm>
            <a:off x="8100365" y="1453896"/>
            <a:ext cx="3570122" cy="2691308"/>
          </a:xfrm>
          <a:prstGeom prst="rect">
            <a:avLst/>
          </a:prstGeom>
          <a:solidFill>
            <a:schemeClr val="bg1"/>
          </a:solidFill>
          <a:ln w="9525">
            <a:solidFill>
              <a:schemeClr val="accent4"/>
            </a:solidFill>
            <a:prstDash val="solid"/>
          </a:ln>
          <a:effectLst>
            <a:outerShdw sx="100000" sy="100000" kx="0" ky="0" algn="bl" rotWithShape="0" blurRad="76200" dist="25400" dir="5400000">
              <a:srgbClr val="000000">
                <a:alpha val="10000"/>
              </a:srgbClr>
            </a:outerShdw>
          </a:effectLst>
        </p:spPr>
      </p:sp>
      <p:pic>
        <p:nvPicPr>
          <p:cNvPr id="11" name="Screenshot setup 3" descr="Camera not available screen in iPad simulator offering Use keyboard / switch, Use touch, and Try the camera again.">    </p:cNvPr>
          <p:cNvPicPr>
            <a:picLocks noChangeAspect="1"/>
          </p:cNvPicPr>
          <p:nvPr/>
        </p:nvPicPr>
        <p:blipFill>
          <a:blip r:embed="rId3"/>
          <a:stretch>
            <a:fillRect/>
          </a:stretch>
        </p:blipFill>
        <p:spPr>
          <a:xfrm>
            <a:off x="8127797" y="1481328"/>
            <a:ext cx="3515258" cy="2636444"/>
          </a:xfrm>
          <a:prstGeom prst="rect">
            <a:avLst/>
          </a:prstGeom>
        </p:spPr>
      </p:pic>
      <p:sp>
        <p:nvSpPr>
          <p:cNvPr id="12" name="Caption setup 3"/>
          <p:cNvSpPr txBox="1"/>
          <p:nvPr/>
        </p:nvSpPr>
        <p:spPr>
          <a:xfrm>
            <a:off x="8127797" y="4227500"/>
            <a:ext cx="3515258" cy="685800"/>
          </a:xfrm>
          <a:prstGeom prst="rect">
            <a:avLst/>
          </a:prstGeom>
          <a:noFill/>
          <a:ln/>
        </p:spPr>
        <p:txBody>
          <a:bodyPr wrap="square" lIns="0" tIns="0" rIns="0" bIns="0" rtlCol="0" anchor="t"/>
          <a:lstStyle/>
          <a:p>
            <a:pPr indent="0" marL="0">
              <a:buNone/>
            </a:pPr>
            <a:r>
              <a:rPr lang="en-US" sz="1200" dirty="0">
                <a:solidFill>
                  <a:schemeClr val="tx1"/>
                </a:solidFill>
              </a:rPr>
              <a:t>No camera available: the app says so and offers keyboard/switch or touch instead of failing silently.</a:t>
            </a:r>
            <a:endParaRPr lang="en-US" sz="1200" dirty="0"/>
          </a:p>
        </p:txBody>
      </p:sp>
      <p:sp>
        <p:nvSpPr>
          <p:cNvPr id="13" name="Helper note card"/>
          <p:cNvSpPr/>
          <p:nvPr/>
        </p:nvSpPr>
        <p:spPr>
          <a:xfrm>
            <a:off x="548640" y="4983480"/>
            <a:ext cx="11094415" cy="868680"/>
          </a:xfrm>
          <a:prstGeom prst="roundRect">
            <a:avLst>
              <a:gd name="adj" fmla="val 12632"/>
            </a:avLst>
          </a:prstGeom>
          <a:solidFill>
            <a:schemeClr val="bg2"/>
          </a:solidFill>
          <a:ln/>
        </p:spPr>
      </p:sp>
      <p:sp>
        <p:nvSpPr>
          <p:cNvPr id="14" name="Helper note text"/>
          <p:cNvSpPr txBox="1"/>
          <p:nvPr/>
        </p:nvSpPr>
        <p:spPr>
          <a:xfrm>
            <a:off x="822960" y="4983480"/>
            <a:ext cx="10545775" cy="868680"/>
          </a:xfrm>
          <a:prstGeom prst="rect">
            <a:avLst/>
          </a:prstGeom>
          <a:noFill/>
          <a:ln/>
        </p:spPr>
        <p:txBody>
          <a:bodyPr wrap="square" lIns="0" tIns="0" rIns="0" bIns="0" rtlCol="0" anchor="ctr"/>
          <a:lstStyle/>
          <a:p>
            <a:pPr indent="0" marL="0">
              <a:buNone/>
            </a:pPr>
            <a:r>
              <a:rPr lang="en-US" sz="1500" b="1" dirty="0">
                <a:solidFill>
                  <a:schemeClr val="tx1"/>
                </a:solidFill>
              </a:rPr>
              <a:t>Said aloud: </a:t>
            </a:r>
            <a:pPr indent="0" marL="0">
              <a:buNone/>
            </a:pPr>
            <a:r>
              <a:rPr lang="en-US" sz="1500" dirty="0">
                <a:solidFill>
                  <a:schemeClr val="tx1"/>
                </a:solidFill>
              </a:rPr>
              <a:t>a helper may tap the camera Allow prompt and Enable Audio once. Every input method reaches every screen through the same review and separate confirmation.</a:t>
            </a:r>
            <a:endParaRPr lang="en-US" sz="1500" dirty="0"/>
          </a:p>
        </p:txBody>
      </p:sp>
      <p:sp>
        <p:nvSpPr>
          <p:cNvPr id="15" name="Screenshot provenance"/>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100" dirty="0">
                <a:solidFill>
                  <a:schemeClr val="accent4"/>
                </a:solidFill>
              </a:rPr>
              <a:t>Real screenshots · iPad simulator, Safari, localhost · 12:15–12:16 CT · the simulator has no camera, so calibration itself was not exercised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6"/>
                </a:solidFill>
              </a:rPr>
              <a:t>LIVE DEMO</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bg1"/>
                </a:solidFill>
              </a:rPr>
              <a:t>Hands in lap after setup</a:t>
            </a:r>
            <a:endParaRPr lang="en-US" sz="3600" dirty="0"/>
          </a:p>
        </p:txBody>
      </p:sp>
      <p:sp>
        <p:nvSpPr>
          <p:cNvPr id="4" name="Demo step 1 number bg"/>
          <p:cNvSpPr/>
          <p:nvPr/>
        </p:nvSpPr>
        <p:spPr>
          <a:xfrm>
            <a:off x="548640" y="1645920"/>
            <a:ext cx="512064" cy="512064"/>
          </a:xfrm>
          <a:prstGeom prst="ellipse">
            <a:avLst/>
          </a:prstGeom>
          <a:solidFill>
            <a:schemeClr val="accent6"/>
          </a:solidFill>
          <a:ln/>
        </p:spPr>
      </p:sp>
      <p:sp>
        <p:nvSpPr>
          <p:cNvPr id="5" name="Demo step 1 number"/>
          <p:cNvSpPr txBox="1"/>
          <p:nvPr/>
        </p:nvSpPr>
        <p:spPr>
          <a:xfrm>
            <a:off x="548640" y="1645920"/>
            <a:ext cx="512064" cy="512064"/>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6" name="Demo step 1 text"/>
          <p:cNvSpPr txBox="1"/>
          <p:nvPr/>
        </p:nvSpPr>
        <p:spPr>
          <a:xfrm>
            <a:off x="1280160" y="1600200"/>
            <a:ext cx="5394960" cy="603504"/>
          </a:xfrm>
          <a:prstGeom prst="rect">
            <a:avLst/>
          </a:prstGeom>
          <a:noFill/>
          <a:ln/>
        </p:spPr>
        <p:txBody>
          <a:bodyPr wrap="square" lIns="0" tIns="0" rIns="0" bIns="0" rtlCol="0" anchor="ctr"/>
          <a:lstStyle/>
          <a:p>
            <a:pPr indent="0" marL="0">
              <a:buNone/>
            </a:pPr>
            <a:r>
              <a:rPr lang="en-US" sz="1700" dirty="0">
                <a:solidFill>
                  <a:schemeClr val="bg1"/>
                </a:solidFill>
              </a:rPr>
              <a:t>Partner types: "Are you coming to dinner tonight?"</a:t>
            </a:r>
            <a:endParaRPr lang="en-US" sz="1700" dirty="0"/>
          </a:p>
        </p:txBody>
      </p:sp>
      <p:sp>
        <p:nvSpPr>
          <p:cNvPr id="7" name="Demo step 2 number bg"/>
          <p:cNvSpPr/>
          <p:nvPr/>
        </p:nvSpPr>
        <p:spPr>
          <a:xfrm>
            <a:off x="548640" y="2450592"/>
            <a:ext cx="512064" cy="512064"/>
          </a:xfrm>
          <a:prstGeom prst="ellipse">
            <a:avLst/>
          </a:prstGeom>
          <a:solidFill>
            <a:schemeClr val="accent6"/>
          </a:solidFill>
          <a:ln/>
        </p:spPr>
      </p:sp>
      <p:sp>
        <p:nvSpPr>
          <p:cNvPr id="8" name="Demo step 2 number"/>
          <p:cNvSpPr txBox="1"/>
          <p:nvPr/>
        </p:nvSpPr>
        <p:spPr>
          <a:xfrm>
            <a:off x="548640" y="2450592"/>
            <a:ext cx="512064" cy="512064"/>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9" name="Demo step 2 text"/>
          <p:cNvSpPr txBox="1"/>
          <p:nvPr/>
        </p:nvSpPr>
        <p:spPr>
          <a:xfrm>
            <a:off x="1280160" y="2404872"/>
            <a:ext cx="5394960" cy="603504"/>
          </a:xfrm>
          <a:prstGeom prst="rect">
            <a:avLst/>
          </a:prstGeom>
          <a:noFill/>
          <a:ln/>
        </p:spPr>
        <p:txBody>
          <a:bodyPr wrap="square" lIns="0" tIns="0" rIns="0" bIns="0" rtlCol="0" anchor="ctr"/>
          <a:lstStyle/>
          <a:p>
            <a:pPr indent="0" marL="0">
              <a:buNone/>
            </a:pPr>
            <a:r>
              <a:rPr lang="en-US" sz="1700" dirty="0">
                <a:solidFill>
                  <a:schemeClr val="bg1"/>
                </a:solidFill>
              </a:rPr>
              <a:t>One raise moves one step; holding longer doesn't skip</a:t>
            </a:r>
            <a:endParaRPr lang="en-US" sz="1700" dirty="0"/>
          </a:p>
        </p:txBody>
      </p:sp>
      <p:sp>
        <p:nvSpPr>
          <p:cNvPr id="10" name="Demo step 3 number bg"/>
          <p:cNvSpPr/>
          <p:nvPr/>
        </p:nvSpPr>
        <p:spPr>
          <a:xfrm>
            <a:off x="548640" y="3255264"/>
            <a:ext cx="512064" cy="512064"/>
          </a:xfrm>
          <a:prstGeom prst="ellipse">
            <a:avLst/>
          </a:prstGeom>
          <a:solidFill>
            <a:schemeClr val="accent6"/>
          </a:solidFill>
          <a:ln/>
        </p:spPr>
      </p:sp>
      <p:sp>
        <p:nvSpPr>
          <p:cNvPr id="11" name="Demo step 3 number"/>
          <p:cNvSpPr txBox="1"/>
          <p:nvPr/>
        </p:nvSpPr>
        <p:spPr>
          <a:xfrm>
            <a:off x="548640" y="3255264"/>
            <a:ext cx="512064" cy="512064"/>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2" name="Demo step 3 text"/>
          <p:cNvSpPr txBox="1"/>
          <p:nvPr/>
        </p:nvSpPr>
        <p:spPr>
          <a:xfrm>
            <a:off x="1280160" y="3209544"/>
            <a:ext cx="5394960" cy="603504"/>
          </a:xfrm>
          <a:prstGeom prst="rect">
            <a:avLst/>
          </a:prstGeom>
          <a:noFill/>
          <a:ln/>
        </p:spPr>
        <p:txBody>
          <a:bodyPr wrap="square" lIns="0" tIns="0" rIns="0" bIns="0" rtlCol="0" anchor="ctr"/>
          <a:lstStyle/>
          <a:p>
            <a:pPr indent="0" marL="0">
              <a:buNone/>
            </a:pPr>
            <a:r>
              <a:rPr lang="en-US" sz="1700" dirty="0">
                <a:solidFill>
                  <a:schemeClr val="bg1"/>
                </a:solidFill>
              </a:rPr>
              <a:t>Long blink on None of these: new meanings</a:t>
            </a:r>
            <a:endParaRPr lang="en-US" sz="1700" dirty="0"/>
          </a:p>
        </p:txBody>
      </p:sp>
      <p:sp>
        <p:nvSpPr>
          <p:cNvPr id="13" name="Demo step 4 number bg"/>
          <p:cNvSpPr/>
          <p:nvPr/>
        </p:nvSpPr>
        <p:spPr>
          <a:xfrm>
            <a:off x="548640" y="4059936"/>
            <a:ext cx="512064" cy="512064"/>
          </a:xfrm>
          <a:prstGeom prst="ellipse">
            <a:avLst/>
          </a:prstGeom>
          <a:solidFill>
            <a:schemeClr val="accent6"/>
          </a:solidFill>
          <a:ln/>
        </p:spPr>
      </p:sp>
      <p:sp>
        <p:nvSpPr>
          <p:cNvPr id="14" name="Demo step 4 number"/>
          <p:cNvSpPr txBox="1"/>
          <p:nvPr/>
        </p:nvSpPr>
        <p:spPr>
          <a:xfrm>
            <a:off x="548640" y="4059936"/>
            <a:ext cx="512064" cy="512064"/>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15" name="Demo step 4 text"/>
          <p:cNvSpPr txBox="1"/>
          <p:nvPr/>
        </p:nvSpPr>
        <p:spPr>
          <a:xfrm>
            <a:off x="1280160" y="4014216"/>
            <a:ext cx="5394960" cy="603504"/>
          </a:xfrm>
          <a:prstGeom prst="rect">
            <a:avLst/>
          </a:prstGeom>
          <a:noFill/>
          <a:ln/>
        </p:spPr>
        <p:txBody>
          <a:bodyPr wrap="square" lIns="0" tIns="0" rIns="0" bIns="0" rtlCol="0" anchor="ctr"/>
          <a:lstStyle/>
          <a:p>
            <a:pPr indent="0" marL="0">
              <a:buNone/>
            </a:pPr>
            <a:r>
              <a:rPr lang="en-US" sz="1700" dirty="0">
                <a:solidFill>
                  <a:schemeClr val="bg1"/>
                </a:solidFill>
              </a:rPr>
              <a:t>Guide my response → Suggest an alternative; pick a card</a:t>
            </a:r>
            <a:endParaRPr lang="en-US" sz="1700" dirty="0"/>
          </a:p>
        </p:txBody>
      </p:sp>
      <p:sp>
        <p:nvSpPr>
          <p:cNvPr id="16" name="Demo step 5 number bg"/>
          <p:cNvSpPr/>
          <p:nvPr/>
        </p:nvSpPr>
        <p:spPr>
          <a:xfrm>
            <a:off x="548640" y="4864608"/>
            <a:ext cx="512064" cy="512064"/>
          </a:xfrm>
          <a:prstGeom prst="ellipse">
            <a:avLst/>
          </a:prstGeom>
          <a:solidFill>
            <a:schemeClr val="accent6"/>
          </a:solidFill>
          <a:ln/>
        </p:spPr>
      </p:sp>
      <p:sp>
        <p:nvSpPr>
          <p:cNvPr id="17" name="Demo step 5 number"/>
          <p:cNvSpPr txBox="1"/>
          <p:nvPr/>
        </p:nvSpPr>
        <p:spPr>
          <a:xfrm>
            <a:off x="548640" y="4864608"/>
            <a:ext cx="512064" cy="512064"/>
          </a:xfrm>
          <a:prstGeom prst="rect">
            <a:avLst/>
          </a:prstGeom>
          <a:no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18" name="Demo step 5 text"/>
          <p:cNvSpPr txBox="1"/>
          <p:nvPr/>
        </p:nvSpPr>
        <p:spPr>
          <a:xfrm>
            <a:off x="1280160" y="4818888"/>
            <a:ext cx="5394960" cy="603504"/>
          </a:xfrm>
          <a:prstGeom prst="rect">
            <a:avLst/>
          </a:prstGeom>
          <a:noFill/>
          <a:ln/>
        </p:spPr>
        <p:txBody>
          <a:bodyPr wrap="square" lIns="0" tIns="0" rIns="0" bIns="0" rtlCol="0" anchor="ctr"/>
          <a:lstStyle/>
          <a:p>
            <a:pPr indent="0" marL="0">
              <a:buNone/>
            </a:pPr>
            <a:r>
              <a:rPr lang="en-US" sz="1700" dirty="0">
                <a:solidFill>
                  <a:schemeClr val="bg1"/>
                </a:solidFill>
              </a:rPr>
              <a:t>Review opens on Cancel → raise to Speak → new blink</a:t>
            </a:r>
            <a:endParaRPr lang="en-US" sz="1700" dirty="0"/>
          </a:p>
        </p:txBody>
      </p:sp>
      <p:sp>
        <p:nvSpPr>
          <p:cNvPr id="19" name="Fallback card"/>
          <p:cNvSpPr/>
          <p:nvPr/>
        </p:nvSpPr>
        <p:spPr>
          <a:xfrm>
            <a:off x="7086600" y="1554480"/>
            <a:ext cx="4556455" cy="4343400"/>
          </a:xfrm>
          <a:prstGeom prst="roundRect">
            <a:avLst>
              <a:gd name="adj" fmla="val 2526"/>
            </a:avLst>
          </a:prstGeom>
          <a:solidFill>
            <a:schemeClr val="bg1"/>
          </a:solidFill>
          <a:ln/>
        </p:spPr>
      </p:sp>
      <p:sp>
        <p:nvSpPr>
          <p:cNvPr id="20" name="Fallback heading"/>
          <p:cNvSpPr txBox="1"/>
          <p:nvPr/>
        </p:nvSpPr>
        <p:spPr>
          <a:xfrm>
            <a:off x="7360920" y="1691640"/>
            <a:ext cx="4007815" cy="457200"/>
          </a:xfrm>
          <a:prstGeom prst="rect">
            <a:avLst/>
          </a:prstGeom>
          <a:noFill/>
          <a:ln/>
        </p:spPr>
        <p:txBody>
          <a:bodyPr wrap="square" lIns="0" tIns="0" rIns="0" bIns="0" rtlCol="0" anchor="ctr"/>
          <a:lstStyle/>
          <a:p>
            <a:pPr indent="0" marL="0">
              <a:buNone/>
            </a:pPr>
            <a:r>
              <a:rPr lang="en-US" sz="1800" b="1" dirty="0">
                <a:solidFill>
                  <a:schemeClr val="tx1"/>
                </a:solidFill>
              </a:rPr>
              <a:t>If something fails, we say so</a:t>
            </a:r>
            <a:endParaRPr lang="en-US" sz="1800" dirty="0"/>
          </a:p>
        </p:txBody>
      </p:sp>
      <p:sp>
        <p:nvSpPr>
          <p:cNvPr id="21" name="Fallback list"/>
          <p:cNvSpPr txBox="1"/>
          <p:nvPr/>
        </p:nvSpPr>
        <p:spPr>
          <a:xfrm>
            <a:off x="7360920" y="2286000"/>
            <a:ext cx="4007815" cy="34747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Eyebrows unreliable: touch, or auto-scan + blink</a:t>
            </a:r>
            <a:endParaRPr lang="en-US" sz="1600" dirty="0"/>
          </a:p>
          <a:p>
            <a:pPr marL="342900" indent="-342900">
              <a:spcAft>
                <a:spcPts val="1400"/>
              </a:spcAft>
              <a:buSzPct val="100000"/>
              <a:buChar char="•"/>
            </a:pPr>
            <a:r>
              <a:rPr lang="en-US" sz="1600" dirty="0">
                <a:solidFill>
                  <a:schemeClr val="tx1"/>
                </a:solidFill>
              </a:rPr>
              <a:t>Blinks don't separate: keyboard / switch or touch</a:t>
            </a:r>
            <a:endParaRPr lang="en-US" sz="1600" dirty="0"/>
          </a:p>
          <a:p>
            <a:pPr marL="342900" indent="-342900">
              <a:spcAft>
                <a:spcPts val="1400"/>
              </a:spcAft>
              <a:buSzPct val="100000"/>
              <a:buChar char="•"/>
            </a:pPr>
            <a:r>
              <a:rPr lang="en-US" sz="1600" dirty="0">
                <a:solidFill>
                  <a:schemeClr val="tx1"/>
                </a:solidFill>
              </a:rPr>
              <a:t>Natural voice unavailable: labeled basic device voice, fresh confirmation</a:t>
            </a:r>
            <a:endParaRPr lang="en-US" sz="1600" dirty="0"/>
          </a:p>
          <a:p>
            <a:pPr marL="342900" indent="-342900">
              <a:spcAft>
                <a:spcPts val="1400"/>
              </a:spcAft>
              <a:buSzPct val="100000"/>
              <a:buChar char="•"/>
            </a:pPr>
            <a:r>
              <a:rPr lang="en-US" sz="1600" dirty="0">
                <a:solidFill>
                  <a:schemeClr val="tx1"/>
                </a:solidFill>
              </a:rPr>
              <a:t>Safari blocks audio: helper taps Enable audio; we say so</a:t>
            </a:r>
            <a:endParaRPr lang="en-US" sz="1600" dirty="0"/>
          </a:p>
          <a:p>
            <a:pPr marL="342900" indent="-342900">
              <a:spcAft>
                <a:spcPts val="1400"/>
              </a:spcAft>
              <a:buSzPct val="100000"/>
              <a:buChar char="•"/>
            </a:pPr>
            <a:r>
              <a:rPr lang="en-US" sz="1600" dirty="0">
                <a:solidFill>
                  <a:schemeClr val="tx1"/>
                </a:solidFill>
              </a:rPr>
              <a:t>Live AI fails: labeled Fixture demo, or My words</a:t>
            </a:r>
            <a:endParaRPr lang="en-US" sz="1600" dirty="0"/>
          </a:p>
        </p:txBody>
      </p:sp>
      <p:sp>
        <p:nvSpPr>
          <p:cNvPr id="22" name="Demo honesty note"/>
          <p:cNvSpPr txBox="1"/>
          <p:nvPr/>
        </p:nvSpPr>
        <p:spPr>
          <a:xfrm>
            <a:off x="548640" y="5852160"/>
            <a:ext cx="6400800" cy="411480"/>
          </a:xfrm>
          <a:prstGeom prst="rect">
            <a:avLst/>
          </a:prstGeom>
          <a:noFill/>
          <a:ln/>
        </p:spPr>
        <p:txBody>
          <a:bodyPr wrap="square" lIns="0" tIns="0" rIns="0" bIns="0" rtlCol="0" anchor="ctr"/>
          <a:lstStyle/>
          <a:p>
            <a:pPr indent="0" marL="0">
              <a:buNone/>
            </a:pPr>
            <a:r>
              <a:rPr lang="en-US" sz="1300" i="1" dirty="0">
                <a:solidFill>
                  <a:schemeClr val="accent6"/>
                </a:solidFill>
              </a:rPr>
              <a:t>Say the source shown on the badge (Live AI or Fixture demo) and which voice spoke.</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FE5D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4 · NATURAL VOICE</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ElevenLabs speaks exactly the confirmed sentence</a:t>
            </a:r>
            <a:endParaRPr lang="en-US" sz="3600" dirty="0"/>
          </a:p>
        </p:txBody>
      </p:sp>
      <p:sp>
        <p:nvSpPr>
          <p:cNvPr id="4" name="Voice row 1 circle"/>
          <p:cNvSpPr/>
          <p:nvPr/>
        </p:nvSpPr>
        <p:spPr>
          <a:xfrm>
            <a:off x="548640" y="1709928"/>
            <a:ext cx="640080" cy="640080"/>
          </a:xfrm>
          <a:prstGeom prst="ellipse">
            <a:avLst/>
          </a:prstGeom>
          <a:solidFill>
            <a:schemeClr val="accent1"/>
          </a:solidFill>
          <a:ln/>
        </p:spPr>
      </p:sp>
      <p:pic>
        <p:nvPicPr>
          <p:cNvPr id="5" name="Voice row 1 icon" descr="preencoded.png">    </p:cNvPr>
          <p:cNvPicPr>
            <a:picLocks noChangeAspect="1"/>
          </p:cNvPicPr>
          <p:nvPr/>
        </p:nvPicPr>
        <p:blipFill>
          <a:blip r:embed="rId1"/>
          <a:stretch>
            <a:fillRect/>
          </a:stretch>
        </p:blipFill>
        <p:spPr>
          <a:xfrm>
            <a:off x="702259" y="1863547"/>
            <a:ext cx="332842" cy="332842"/>
          </a:xfrm>
          <a:prstGeom prst="rect">
            <a:avLst/>
          </a:prstGeom>
        </p:spPr>
      </p:pic>
      <p:sp>
        <p:nvSpPr>
          <p:cNvPr id="6" name="Voice row 1 text"/>
          <p:cNvSpPr txBox="1"/>
          <p:nvPr/>
        </p:nvSpPr>
        <p:spPr>
          <a:xfrm>
            <a:off x="1417320" y="1572768"/>
            <a:ext cx="5074920" cy="914400"/>
          </a:xfrm>
          <a:prstGeom prst="rect">
            <a:avLst/>
          </a:prstGeom>
          <a:noFill/>
          <a:ln/>
        </p:spPr>
        <p:txBody>
          <a:bodyPr wrap="square" lIns="0" tIns="0" rIns="0" bIns="0" rtlCol="0" anchor="ctr"/>
          <a:lstStyle/>
          <a:p>
            <a:pPr indent="0" marL="0">
              <a:spcAft>
                <a:spcPts val="200"/>
              </a:spcAft>
              <a:buNone/>
            </a:pPr>
            <a:r>
              <a:rPr lang="en-US" sz="1700" b="1" dirty="0">
                <a:solidFill>
                  <a:schemeClr val="tx1"/>
                </a:solidFill>
              </a:rPr>
              <a:t>Only the confirmed sentence</a:t>
            </a:r>
            <a:endParaRPr lang="en-US" sz="1700" dirty="0"/>
          </a:p>
          <a:p>
            <a:pPr indent="0" marL="0">
              <a:spcAft>
                <a:spcPts val="200"/>
              </a:spcAft>
              <a:buNone/>
            </a:pPr>
            <a:r>
              <a:rPr lang="en-US" sz="1400" dirty="0">
                <a:solidFill>
                  <a:schemeClr val="tx1"/>
                </a:solidFill>
              </a:rPr>
              <a:t>No added words, no paraphrase, no chatbot talking for the user. Nothing is synthesized in advance.</a:t>
            </a:r>
            <a:endParaRPr lang="en-US" sz="1700" dirty="0"/>
          </a:p>
        </p:txBody>
      </p:sp>
      <p:sp>
        <p:nvSpPr>
          <p:cNvPr id="7" name="Voice row 2 circle"/>
          <p:cNvSpPr/>
          <p:nvPr/>
        </p:nvSpPr>
        <p:spPr>
          <a:xfrm>
            <a:off x="548640" y="2825496"/>
            <a:ext cx="640080" cy="640080"/>
          </a:xfrm>
          <a:prstGeom prst="ellipse">
            <a:avLst/>
          </a:prstGeom>
          <a:solidFill>
            <a:schemeClr val="accent1"/>
          </a:solidFill>
          <a:ln/>
        </p:spPr>
      </p:sp>
      <p:pic>
        <p:nvPicPr>
          <p:cNvPr id="8" name="Voice row 2 icon" descr="preencoded.png">    </p:cNvPr>
          <p:cNvPicPr>
            <a:picLocks noChangeAspect="1"/>
          </p:cNvPicPr>
          <p:nvPr/>
        </p:nvPicPr>
        <p:blipFill>
          <a:blip r:embed="rId2"/>
          <a:stretch>
            <a:fillRect/>
          </a:stretch>
        </p:blipFill>
        <p:spPr>
          <a:xfrm>
            <a:off x="702259" y="2979115"/>
            <a:ext cx="332842" cy="332842"/>
          </a:xfrm>
          <a:prstGeom prst="rect">
            <a:avLst/>
          </a:prstGeom>
        </p:spPr>
      </p:pic>
      <p:sp>
        <p:nvSpPr>
          <p:cNvPr id="9" name="Voice row 2 text"/>
          <p:cNvSpPr txBox="1"/>
          <p:nvPr/>
        </p:nvSpPr>
        <p:spPr>
          <a:xfrm>
            <a:off x="1417320" y="2688336"/>
            <a:ext cx="5074920" cy="914400"/>
          </a:xfrm>
          <a:prstGeom prst="rect">
            <a:avLst/>
          </a:prstGeom>
          <a:noFill/>
          <a:ln/>
        </p:spPr>
        <p:txBody>
          <a:bodyPr wrap="square" lIns="0" tIns="0" rIns="0" bIns="0" rtlCol="0" anchor="ctr"/>
          <a:lstStyle/>
          <a:p>
            <a:pPr indent="0" marL="0">
              <a:spcAft>
                <a:spcPts val="200"/>
              </a:spcAft>
              <a:buNone/>
            </a:pPr>
            <a:r>
              <a:rPr lang="en-US" sz="1700" b="1" dirty="0">
                <a:solidFill>
                  <a:schemeClr val="tx1"/>
                </a:solidFill>
              </a:rPr>
              <a:t>A prebuilt AI voice, not a clone</a:t>
            </a:r>
            <a:endParaRPr lang="en-US" sz="1700" dirty="0"/>
          </a:p>
          <a:p>
            <a:pPr indent="0" marL="0">
              <a:spcAft>
                <a:spcPts val="200"/>
              </a:spcAft>
              <a:buNone/>
            </a:pPr>
            <a:r>
              <a:rPr lang="en-US" sz="1400" dirty="0">
                <a:solidFill>
                  <a:schemeClr val="tx1"/>
                </a:solidFill>
              </a:rPr>
              <a:t>Disclosed as AI-generated speech.</a:t>
            </a:r>
            <a:endParaRPr lang="en-US" sz="1700" dirty="0"/>
          </a:p>
        </p:txBody>
      </p:sp>
      <p:sp>
        <p:nvSpPr>
          <p:cNvPr id="10" name="Voice row 3 circle"/>
          <p:cNvSpPr/>
          <p:nvPr/>
        </p:nvSpPr>
        <p:spPr>
          <a:xfrm>
            <a:off x="548640" y="3941064"/>
            <a:ext cx="640080" cy="640080"/>
          </a:xfrm>
          <a:prstGeom prst="ellipse">
            <a:avLst/>
          </a:prstGeom>
          <a:solidFill>
            <a:schemeClr val="accent1"/>
          </a:solidFill>
          <a:ln/>
        </p:spPr>
      </p:sp>
      <p:pic>
        <p:nvPicPr>
          <p:cNvPr id="11" name="Voice row 3 icon" descr="preencoded.png">    </p:cNvPr>
          <p:cNvPicPr>
            <a:picLocks noChangeAspect="1"/>
          </p:cNvPicPr>
          <p:nvPr/>
        </p:nvPicPr>
        <p:blipFill>
          <a:blip r:embed="rId3"/>
          <a:stretch>
            <a:fillRect/>
          </a:stretch>
        </p:blipFill>
        <p:spPr>
          <a:xfrm>
            <a:off x="702259" y="4094683"/>
            <a:ext cx="332842" cy="332842"/>
          </a:xfrm>
          <a:prstGeom prst="rect">
            <a:avLst/>
          </a:prstGeom>
        </p:spPr>
      </p:pic>
      <p:sp>
        <p:nvSpPr>
          <p:cNvPr id="12" name="Voice row 3 text"/>
          <p:cNvSpPr txBox="1"/>
          <p:nvPr/>
        </p:nvSpPr>
        <p:spPr>
          <a:xfrm>
            <a:off x="1417320" y="3803904"/>
            <a:ext cx="5074920" cy="914400"/>
          </a:xfrm>
          <a:prstGeom prst="rect">
            <a:avLst/>
          </a:prstGeom>
          <a:noFill/>
          <a:ln/>
        </p:spPr>
        <p:txBody>
          <a:bodyPr wrap="square" lIns="0" tIns="0" rIns="0" bIns="0" rtlCol="0" anchor="ctr"/>
          <a:lstStyle/>
          <a:p>
            <a:pPr indent="0" marL="0">
              <a:spcAft>
                <a:spcPts val="200"/>
              </a:spcAft>
              <a:buNone/>
            </a:pPr>
            <a:r>
              <a:rPr lang="en-US" sz="1700" b="1" dirty="0">
                <a:solidFill>
                  <a:schemeClr val="tx1"/>
                </a:solidFill>
              </a:rPr>
              <a:t>The key stays on our server</a:t>
            </a:r>
            <a:endParaRPr lang="en-US" sz="1700" dirty="0"/>
          </a:p>
          <a:p>
            <a:pPr indent="0" marL="0">
              <a:spcAft>
                <a:spcPts val="200"/>
              </a:spcAft>
              <a:buNone/>
            </a:pPr>
            <a:r>
              <a:rPr lang="en-US" sz="1400" dirty="0">
                <a:solidFill>
                  <a:schemeClr val="tx1"/>
                </a:solidFill>
              </a:rPr>
              <a:t>The iPad never holds the ElevenLabs key; the server sends only that sentence.</a:t>
            </a:r>
            <a:endParaRPr lang="en-US" sz="1700" dirty="0"/>
          </a:p>
        </p:txBody>
      </p:sp>
      <p:sp>
        <p:nvSpPr>
          <p:cNvPr id="13" name="Voice row 4 circle"/>
          <p:cNvSpPr/>
          <p:nvPr/>
        </p:nvSpPr>
        <p:spPr>
          <a:xfrm>
            <a:off x="548640" y="5056632"/>
            <a:ext cx="640080" cy="640080"/>
          </a:xfrm>
          <a:prstGeom prst="ellipse">
            <a:avLst/>
          </a:prstGeom>
          <a:solidFill>
            <a:schemeClr val="accent1"/>
          </a:solidFill>
          <a:ln/>
        </p:spPr>
      </p:sp>
      <p:pic>
        <p:nvPicPr>
          <p:cNvPr id="14" name="Voice row 4 icon" descr="preencoded.png">    </p:cNvPr>
          <p:cNvPicPr>
            <a:picLocks noChangeAspect="1"/>
          </p:cNvPicPr>
          <p:nvPr/>
        </p:nvPicPr>
        <p:blipFill>
          <a:blip r:embed="rId4"/>
          <a:stretch>
            <a:fillRect/>
          </a:stretch>
        </p:blipFill>
        <p:spPr>
          <a:xfrm>
            <a:off x="702259" y="5210251"/>
            <a:ext cx="332842" cy="332842"/>
          </a:xfrm>
          <a:prstGeom prst="rect">
            <a:avLst/>
          </a:prstGeom>
        </p:spPr>
      </p:pic>
      <p:sp>
        <p:nvSpPr>
          <p:cNvPr id="15" name="Voice row 4 text"/>
          <p:cNvSpPr txBox="1"/>
          <p:nvPr/>
        </p:nvSpPr>
        <p:spPr>
          <a:xfrm>
            <a:off x="1417320" y="4919472"/>
            <a:ext cx="5074920" cy="914400"/>
          </a:xfrm>
          <a:prstGeom prst="rect">
            <a:avLst/>
          </a:prstGeom>
          <a:noFill/>
          <a:ln/>
        </p:spPr>
        <p:txBody>
          <a:bodyPr wrap="square" lIns="0" tIns="0" rIns="0" bIns="0" rtlCol="0" anchor="ctr"/>
          <a:lstStyle/>
          <a:p>
            <a:pPr indent="0" marL="0">
              <a:spcAft>
                <a:spcPts val="200"/>
              </a:spcAft>
              <a:buNone/>
            </a:pPr>
            <a:r>
              <a:rPr lang="en-US" sz="1700" b="1" dirty="0">
                <a:solidFill>
                  <a:schemeClr val="tx1"/>
                </a:solidFill>
              </a:rPr>
              <a:t>A labeled fallback, never silent</a:t>
            </a:r>
            <a:endParaRPr lang="en-US" sz="1700" dirty="0"/>
          </a:p>
          <a:p>
            <a:pPr indent="0" marL="0">
              <a:spcAft>
                <a:spcPts val="200"/>
              </a:spcAft>
              <a:buNone/>
            </a:pPr>
            <a:r>
              <a:rPr lang="en-US" sz="1400" dirty="0">
                <a:solidFill>
                  <a:schemeClr val="tx1"/>
                </a:solidFill>
              </a:rPr>
              <a:t>If the natural voice fails, the basic device voice is offered and needs a fresh confirmation.</a:t>
            </a:r>
            <a:endParaRPr lang="en-US" sz="1700" dirty="0"/>
          </a:p>
        </p:txBody>
      </p:sp>
      <p:sp>
        <p:nvSpPr>
          <p:cNvPr id="16" name="Screenshot voice setup frame"/>
          <p:cNvSpPr/>
          <p:nvPr/>
        </p:nvSpPr>
        <p:spPr>
          <a:xfrm>
            <a:off x="7089343" y="1453896"/>
            <a:ext cx="4581144" cy="3449574"/>
          </a:xfrm>
          <a:prstGeom prst="rect">
            <a:avLst/>
          </a:prstGeom>
          <a:solidFill>
            <a:schemeClr val="bg1"/>
          </a:solidFill>
          <a:ln w="9525">
            <a:solidFill>
              <a:schemeClr val="accent4"/>
            </a:solidFill>
            <a:prstDash val="solid"/>
          </a:ln>
          <a:effectLst>
            <a:outerShdw sx="100000" sy="100000" kx="0" ky="0" algn="bl" rotWithShape="0" blurRad="76200" dist="25400" dir="5400000">
              <a:srgbClr val="000000">
                <a:alpha val="10000"/>
              </a:srgbClr>
            </a:outerShdw>
          </a:effectLst>
        </p:spPr>
      </p:sp>
      <p:pic>
        <p:nvPicPr>
          <p:cNvPr id="17" name="Screenshot voice setup" descr="Voice setup in iPad simulator: Natural voice (ElevenLabs) not configured on this server; the basic device voice will be used and labeled. Enable audio &amp; test voice button, Audio ready.">    </p:cNvPr>
          <p:cNvPicPr>
            <a:picLocks noChangeAspect="1"/>
          </p:cNvPicPr>
          <p:nvPr/>
        </p:nvPicPr>
        <p:blipFill>
          <a:blip r:embed="rId5"/>
          <a:stretch>
            <a:fillRect/>
          </a:stretch>
        </p:blipFill>
        <p:spPr>
          <a:xfrm>
            <a:off x="7116775" y="1481328"/>
            <a:ext cx="4526280" cy="3394710"/>
          </a:xfrm>
          <a:prstGeom prst="rect">
            <a:avLst/>
          </a:prstGeom>
        </p:spPr>
      </p:pic>
      <p:sp>
        <p:nvSpPr>
          <p:cNvPr id="18" name="Caption voice"/>
          <p:cNvSpPr txBox="1"/>
          <p:nvPr/>
        </p:nvSpPr>
        <p:spPr>
          <a:xfrm>
            <a:off x="7116775" y="4985766"/>
            <a:ext cx="4526280" cy="777240"/>
          </a:xfrm>
          <a:prstGeom prst="rect">
            <a:avLst/>
          </a:prstGeom>
          <a:noFill/>
          <a:ln/>
        </p:spPr>
        <p:txBody>
          <a:bodyPr wrap="square" lIns="0" tIns="0" rIns="0" bIns="0" rtlCol="0" anchor="t"/>
          <a:lstStyle/>
          <a:p>
            <a:pPr indent="0" marL="0">
              <a:buNone/>
            </a:pPr>
            <a:r>
              <a:rPr lang="en-US" sz="1100" dirty="0">
                <a:solidFill>
                  <a:schemeClr val="accent4"/>
                </a:solidFill>
              </a:rPr>
              <a:t>Voice setup as it really reads today: "Not configured on this server — the basic device voice will be used, and it will be labeled." iPad simulator, Safari, localhost, 12:16 CT.</a:t>
            </a:r>
            <a:endParaRPr lang="en-US" sz="1100" dirty="0"/>
          </a:p>
        </p:txBody>
      </p:sp>
      <p:sp>
        <p:nvSpPr>
          <p:cNvPr id="19" name="Status voice"/>
          <p:cNvSpPr/>
          <p:nvPr/>
        </p:nvSpPr>
        <p:spPr>
          <a:xfrm>
            <a:off x="548640" y="5897880"/>
            <a:ext cx="5943600" cy="347472"/>
          </a:xfrm>
          <a:prstGeom prst="roundRect">
            <a:avLst>
              <a:gd name="adj" fmla="val 50000"/>
            </a:avLst>
          </a:prstGeom>
          <a:solidFill>
            <a:schemeClr val="accent3"/>
          </a:solidFill>
          <a:ln w="12700">
            <a:solidFill>
              <a:schemeClr val="accent2"/>
            </a:solidFill>
          </a:ln>
        </p:spPr>
        <p:txBody>
          <a:bodyPr wrap="square" lIns="0" tIns="0" rIns="0" bIns="0" rtlCol="0" anchor="ctr"/>
          <a:lstStyle/>
          <a:p>
            <a:pPr algn="ctr" indent="0" marL="0">
              <a:buNone/>
            </a:pPr>
            <a:r>
              <a:rPr lang="en-US" sz="1200" b="1" dirty="0">
                <a:solidFill>
                  <a:schemeClr val="accent2"/>
                </a:solidFill>
              </a:rPr>
              <a:t>ElevenLabs: implemented, key not configured, not yet heard</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5 · ENGINEERING</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How a gesture becomes speech</a:t>
            </a:r>
            <a:endParaRPr lang="en-US" sz="3600" dirty="0"/>
          </a:p>
        </p:txBody>
      </p:sp>
      <p:sp>
        <p:nvSpPr>
          <p:cNvPr id="4" name="Band iPad"/>
          <p:cNvSpPr/>
          <p:nvPr/>
        </p:nvSpPr>
        <p:spPr>
          <a:xfrm>
            <a:off x="548640" y="1508760"/>
            <a:ext cx="11094415" cy="2148840"/>
          </a:xfrm>
          <a:prstGeom prst="roundRect">
            <a:avLst>
              <a:gd name="adj" fmla="val 5106"/>
            </a:avLst>
          </a:prstGeom>
          <a:solidFill>
            <a:schemeClr val="bg2"/>
          </a:solidFill>
          <a:ln/>
        </p:spPr>
      </p:sp>
      <p:sp>
        <p:nvSpPr>
          <p:cNvPr id="5" name="Band iPad label"/>
          <p:cNvSpPr txBox="1"/>
          <p:nvPr/>
        </p:nvSpPr>
        <p:spPr>
          <a:xfrm>
            <a:off x="777240" y="1645920"/>
            <a:ext cx="5486400" cy="274320"/>
          </a:xfrm>
          <a:prstGeom prst="rect">
            <a:avLst/>
          </a:prstGeom>
          <a:noFill/>
          <a:ln/>
        </p:spPr>
        <p:txBody>
          <a:bodyPr wrap="square" lIns="0" tIns="0" rIns="0" bIns="0" rtlCol="0" anchor="t"/>
          <a:lstStyle/>
          <a:p>
            <a:pPr indent="0" marL="0">
              <a:buNone/>
            </a:pPr>
            <a:r>
              <a:rPr lang="en-US" sz="1200" dirty="0">
                <a:solidFill>
                  <a:schemeClr val="accent1"/>
                </a:solidFill>
              </a:rPr>
              <a:t>ON THE IPAD, IN SAFARI</a:t>
            </a:r>
            <a:endParaRPr lang="en-US" sz="1200" dirty="0"/>
          </a:p>
        </p:txBody>
      </p:sp>
      <p:sp>
        <p:nvSpPr>
          <p:cNvPr id="6" name="Arch iPad box 1"/>
          <p:cNvSpPr/>
          <p:nvPr/>
        </p:nvSpPr>
        <p:spPr>
          <a:xfrm>
            <a:off x="777240" y="2057400"/>
            <a:ext cx="1907987" cy="1417320"/>
          </a:xfrm>
          <a:prstGeom prst="roundRect">
            <a:avLst>
              <a:gd name="adj" fmla="val 6452"/>
            </a:avLst>
          </a:prstGeom>
          <a:solidFill>
            <a:schemeClr val="bg1"/>
          </a:solidFill>
          <a:ln w="12700">
            <a:solidFill>
              <a:schemeClr val="accent5"/>
            </a:solidFill>
            <a:prstDash val="solid"/>
          </a:ln>
        </p:spPr>
      </p:sp>
      <p:sp>
        <p:nvSpPr>
          <p:cNvPr id="7" name="Arch iPad box 1 text"/>
          <p:cNvSpPr txBox="1"/>
          <p:nvPr/>
        </p:nvSpPr>
        <p:spPr>
          <a:xfrm>
            <a:off x="886968" y="2148840"/>
            <a:ext cx="1688531"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Local face model</a:t>
            </a:r>
            <a:endParaRPr lang="en-US" sz="1500" dirty="0"/>
          </a:p>
          <a:p>
            <a:pPr indent="0" marL="0">
              <a:spcAft>
                <a:spcPts val="400"/>
              </a:spcAft>
              <a:buNone/>
            </a:pPr>
            <a:r>
              <a:rPr lang="en-US" sz="1200" dirty="0">
                <a:solidFill>
                  <a:schemeClr val="tx1"/>
                </a:solidFill>
              </a:rPr>
              <a:t>MediaPipe Face Landmarker, pinned 1.1.1, served from our own origin</a:t>
            </a:r>
            <a:endParaRPr lang="en-US" sz="1500" dirty="0"/>
          </a:p>
        </p:txBody>
      </p:sp>
      <p:sp>
        <p:nvSpPr>
          <p:cNvPr id="8" name="Arch arrow 1"/>
          <p:cNvSpPr/>
          <p:nvPr/>
        </p:nvSpPr>
        <p:spPr>
          <a:xfrm>
            <a:off x="2721803" y="2766060"/>
            <a:ext cx="201168" cy="0"/>
          </a:xfrm>
          <a:prstGeom prst="line">
            <a:avLst/>
          </a:prstGeom>
          <a:noFill/>
          <a:ln w="19050">
            <a:solidFill>
              <a:schemeClr val="accent4"/>
            </a:solidFill>
            <a:prstDash val="solid"/>
            <a:tailEnd type="triangle"/>
          </a:ln>
        </p:spPr>
      </p:sp>
      <p:sp>
        <p:nvSpPr>
          <p:cNvPr id="9" name="Arch iPad box 2"/>
          <p:cNvSpPr/>
          <p:nvPr/>
        </p:nvSpPr>
        <p:spPr>
          <a:xfrm>
            <a:off x="2959547" y="2057400"/>
            <a:ext cx="1907987" cy="1417320"/>
          </a:xfrm>
          <a:prstGeom prst="roundRect">
            <a:avLst>
              <a:gd name="adj" fmla="val 6452"/>
            </a:avLst>
          </a:prstGeom>
          <a:solidFill>
            <a:schemeClr val="bg1"/>
          </a:solidFill>
          <a:ln w="12700">
            <a:solidFill>
              <a:schemeClr val="accent5"/>
            </a:solidFill>
            <a:prstDash val="solid"/>
          </a:ln>
        </p:spPr>
      </p:sp>
      <p:sp>
        <p:nvSpPr>
          <p:cNvPr id="10" name="Arch iPad box 2 text"/>
          <p:cNvSpPr txBox="1"/>
          <p:nvPr/>
        </p:nvSpPr>
        <p:spPr>
          <a:xfrm>
            <a:off x="3069275" y="2148840"/>
            <a:ext cx="1688531"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Two scores only</a:t>
            </a:r>
            <a:endParaRPr lang="en-US" sz="1500" dirty="0"/>
          </a:p>
          <a:p>
            <a:pPr indent="0" marL="0">
              <a:spcAft>
                <a:spcPts val="400"/>
              </a:spcAft>
              <a:buNone/>
            </a:pPr>
            <a:r>
              <a:rPr lang="en-US" sz="1200" dirty="0">
                <a:solidFill>
                  <a:schemeClr val="tx1"/>
                </a:solidFill>
              </a:rPr>
              <a:t>Brow raise and eye closure. No identity, gaze, or emotion</a:t>
            </a:r>
            <a:endParaRPr lang="en-US" sz="1500" dirty="0"/>
          </a:p>
        </p:txBody>
      </p:sp>
      <p:sp>
        <p:nvSpPr>
          <p:cNvPr id="11" name="Arch arrow 2"/>
          <p:cNvSpPr/>
          <p:nvPr/>
        </p:nvSpPr>
        <p:spPr>
          <a:xfrm>
            <a:off x="4904110" y="2766060"/>
            <a:ext cx="201168" cy="0"/>
          </a:xfrm>
          <a:prstGeom prst="line">
            <a:avLst/>
          </a:prstGeom>
          <a:noFill/>
          <a:ln w="19050">
            <a:solidFill>
              <a:schemeClr val="accent4"/>
            </a:solidFill>
            <a:prstDash val="solid"/>
            <a:tailEnd type="triangle"/>
          </a:ln>
        </p:spPr>
      </p:sp>
      <p:sp>
        <p:nvSpPr>
          <p:cNvPr id="12" name="Arch iPad box 3"/>
          <p:cNvSpPr/>
          <p:nvPr/>
        </p:nvSpPr>
        <p:spPr>
          <a:xfrm>
            <a:off x="5141854" y="2057400"/>
            <a:ext cx="1907987" cy="1417320"/>
          </a:xfrm>
          <a:prstGeom prst="roundRect">
            <a:avLst>
              <a:gd name="adj" fmla="val 6452"/>
            </a:avLst>
          </a:prstGeom>
          <a:solidFill>
            <a:schemeClr val="bg1"/>
          </a:solidFill>
          <a:ln w="12700">
            <a:solidFill>
              <a:schemeClr val="accent5"/>
            </a:solidFill>
            <a:prstDash val="solid"/>
          </a:ln>
        </p:spPr>
      </p:sp>
      <p:sp>
        <p:nvSpPr>
          <p:cNvPr id="13" name="Arch iPad box 3 text"/>
          <p:cNvSpPr txBox="1"/>
          <p:nvPr/>
        </p:nvSpPr>
        <p:spPr>
          <a:xfrm>
            <a:off x="5251582" y="2148840"/>
            <a:ext cx="1688531"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Per-person tuning</a:t>
            </a:r>
            <a:endParaRPr lang="en-US" sz="1500" dirty="0"/>
          </a:p>
          <a:p>
            <a:pPr indent="0" marL="0">
              <a:spcAft>
                <a:spcPts val="400"/>
              </a:spcAft>
              <a:buNone/>
            </a:pPr>
            <a:r>
              <a:rPr lang="en-US" sz="1200" dirty="0">
                <a:solidFill>
                  <a:schemeClr val="tx1"/>
                </a:solidFill>
              </a:rPr>
              <a:t>Calibration, hysteresis, 500 ms monotonic hold, latch and rearm</a:t>
            </a:r>
            <a:endParaRPr lang="en-US" sz="1500" dirty="0"/>
          </a:p>
        </p:txBody>
      </p:sp>
      <p:sp>
        <p:nvSpPr>
          <p:cNvPr id="14" name="Arch arrow 3"/>
          <p:cNvSpPr/>
          <p:nvPr/>
        </p:nvSpPr>
        <p:spPr>
          <a:xfrm>
            <a:off x="7086417" y="2766060"/>
            <a:ext cx="201168" cy="0"/>
          </a:xfrm>
          <a:prstGeom prst="line">
            <a:avLst/>
          </a:prstGeom>
          <a:noFill/>
          <a:ln w="19050">
            <a:solidFill>
              <a:schemeClr val="accent4"/>
            </a:solidFill>
            <a:prstDash val="solid"/>
            <a:tailEnd type="triangle"/>
          </a:ln>
        </p:spPr>
      </p:sp>
      <p:sp>
        <p:nvSpPr>
          <p:cNvPr id="15" name="Arch iPad box 4"/>
          <p:cNvSpPr/>
          <p:nvPr/>
        </p:nvSpPr>
        <p:spPr>
          <a:xfrm>
            <a:off x="7324161" y="2057400"/>
            <a:ext cx="1907987" cy="1417320"/>
          </a:xfrm>
          <a:prstGeom prst="roundRect">
            <a:avLst>
              <a:gd name="adj" fmla="val 6452"/>
            </a:avLst>
          </a:prstGeom>
          <a:solidFill>
            <a:schemeClr val="bg1"/>
          </a:solidFill>
          <a:ln w="12700">
            <a:solidFill>
              <a:schemeClr val="accent5"/>
            </a:solidFill>
            <a:prstDash val="solid"/>
          </a:ln>
        </p:spPr>
      </p:sp>
      <p:sp>
        <p:nvSpPr>
          <p:cNvPr id="16" name="Arch iPad box 4 text"/>
          <p:cNvSpPr txBox="1"/>
          <p:nvPr/>
        </p:nvSpPr>
        <p:spPr>
          <a:xfrm>
            <a:off x="7433889" y="2148840"/>
            <a:ext cx="1688531"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Gesture arbiter</a:t>
            </a:r>
            <a:endParaRPr lang="en-US" sz="1500" dirty="0"/>
          </a:p>
          <a:p>
            <a:pPr indent="0" marL="0">
              <a:spcAft>
                <a:spcPts val="400"/>
              </a:spcAft>
              <a:buNone/>
            </a:pPr>
            <a:r>
              <a:rPr lang="en-US" sz="1200" dirty="0">
                <a:solidFill>
                  <a:schemeClr val="tx1"/>
                </a:solidFill>
              </a:rPr>
              <a:t>At most one accepted command per physical gesture</a:t>
            </a:r>
            <a:endParaRPr lang="en-US" sz="1500" dirty="0"/>
          </a:p>
        </p:txBody>
      </p:sp>
      <p:sp>
        <p:nvSpPr>
          <p:cNvPr id="17" name="Arch arrow 4"/>
          <p:cNvSpPr/>
          <p:nvPr/>
        </p:nvSpPr>
        <p:spPr>
          <a:xfrm>
            <a:off x="9268724" y="2766060"/>
            <a:ext cx="201168" cy="0"/>
          </a:xfrm>
          <a:prstGeom prst="line">
            <a:avLst/>
          </a:prstGeom>
          <a:noFill/>
          <a:ln w="19050">
            <a:solidFill>
              <a:schemeClr val="accent4"/>
            </a:solidFill>
            <a:prstDash val="solid"/>
            <a:tailEnd type="triangle"/>
          </a:ln>
        </p:spPr>
      </p:sp>
      <p:sp>
        <p:nvSpPr>
          <p:cNvPr id="18" name="Arch iPad box 5"/>
          <p:cNvSpPr/>
          <p:nvPr/>
        </p:nvSpPr>
        <p:spPr>
          <a:xfrm>
            <a:off x="9506468" y="2057400"/>
            <a:ext cx="1907987" cy="1417320"/>
          </a:xfrm>
          <a:prstGeom prst="roundRect">
            <a:avLst>
              <a:gd name="adj" fmla="val 6452"/>
            </a:avLst>
          </a:prstGeom>
          <a:solidFill>
            <a:schemeClr val="accent1"/>
          </a:solidFill>
          <a:ln w="12700">
            <a:solidFill>
              <a:schemeClr val="accent5"/>
            </a:solidFill>
            <a:prstDash val="solid"/>
          </a:ln>
        </p:spPr>
      </p:sp>
      <p:sp>
        <p:nvSpPr>
          <p:cNvPr id="19" name="Arch iPad box 5 text"/>
          <p:cNvSpPr txBox="1"/>
          <p:nvPr/>
        </p:nvSpPr>
        <p:spPr>
          <a:xfrm>
            <a:off x="9616196" y="2148840"/>
            <a:ext cx="1688531" cy="1234440"/>
          </a:xfrm>
          <a:prstGeom prst="rect">
            <a:avLst/>
          </a:prstGeom>
          <a:noFill/>
          <a:ln/>
        </p:spPr>
        <p:txBody>
          <a:bodyPr wrap="square" lIns="0" tIns="0" rIns="0" bIns="0" rtlCol="0" anchor="t"/>
          <a:lstStyle/>
          <a:p>
            <a:pPr indent="0" marL="0">
              <a:spcAft>
                <a:spcPts val="400"/>
              </a:spcAft>
              <a:buNone/>
            </a:pPr>
            <a:r>
              <a:rPr lang="en-US" sz="1500" b="1" dirty="0">
                <a:solidFill>
                  <a:schemeClr val="bg1"/>
                </a:solidFill>
              </a:rPr>
              <a:t>One guarded kernel</a:t>
            </a:r>
            <a:endParaRPr lang="en-US" sz="1500" dirty="0"/>
          </a:p>
          <a:p>
            <a:pPr indent="0" marL="0">
              <a:spcAft>
                <a:spcPts val="400"/>
              </a:spcAft>
              <a:buNone/>
            </a:pPr>
            <a:r>
              <a:rPr lang="en-US" sz="1200" dirty="0">
                <a:solidFill>
                  <a:schemeClr val="bg1"/>
                </a:solidFill>
              </a:rPr>
              <a:t>One reducer, one target registry; immutable review; fresh confirm</a:t>
            </a:r>
            <a:endParaRPr lang="en-US" sz="1500" dirty="0"/>
          </a:p>
        </p:txBody>
      </p:sp>
      <p:sp>
        <p:nvSpPr>
          <p:cNvPr id="20" name="Arch down arrow"/>
          <p:cNvSpPr/>
          <p:nvPr/>
        </p:nvSpPr>
        <p:spPr>
          <a:xfrm>
            <a:off x="10460462" y="3657600"/>
            <a:ext cx="0" cy="457200"/>
          </a:xfrm>
          <a:prstGeom prst="line">
            <a:avLst/>
          </a:prstGeom>
          <a:noFill/>
          <a:ln w="19050">
            <a:solidFill>
              <a:schemeClr val="accent4"/>
            </a:solidFill>
            <a:prstDash val="solid"/>
            <a:tailEnd type="triangle"/>
          </a:ln>
        </p:spPr>
      </p:sp>
      <p:sp>
        <p:nvSpPr>
          <p:cNvPr id="21" name="Arch down label"/>
          <p:cNvSpPr txBox="1"/>
          <p:nvPr/>
        </p:nvSpPr>
        <p:spPr>
          <a:xfrm>
            <a:off x="5339822" y="3749040"/>
            <a:ext cx="4983480" cy="274320"/>
          </a:xfrm>
          <a:prstGeom prst="rect">
            <a:avLst/>
          </a:prstGeom>
          <a:noFill/>
          <a:ln/>
        </p:spPr>
        <p:txBody>
          <a:bodyPr wrap="square" lIns="0" tIns="0" rIns="0" bIns="0" rtlCol="0" anchor="t"/>
          <a:lstStyle/>
          <a:p>
            <a:pPr indent="0" marL="0">
              <a:buNone/>
            </a:pPr>
            <a:r>
              <a:rPr lang="en-US" sz="1100" dirty="0">
                <a:solidFill>
                  <a:schemeClr val="accent4"/>
                </a:solidFill>
              </a:rPr>
              <a:t>replies are requested; only the confirmed sentence goes to speech</a:t>
            </a:r>
            <a:endParaRPr lang="en-US" sz="1100" dirty="0"/>
          </a:p>
        </p:txBody>
      </p:sp>
      <p:sp>
        <p:nvSpPr>
          <p:cNvPr id="22" name="Band server"/>
          <p:cNvSpPr/>
          <p:nvPr/>
        </p:nvSpPr>
        <p:spPr>
          <a:xfrm>
            <a:off x="548640" y="4206240"/>
            <a:ext cx="11094415" cy="1691640"/>
          </a:xfrm>
          <a:prstGeom prst="roundRect">
            <a:avLst>
              <a:gd name="adj" fmla="val 6486"/>
            </a:avLst>
          </a:prstGeom>
          <a:solidFill>
            <a:schemeClr val="bg1"/>
          </a:solidFill>
          <a:ln w="12700">
            <a:solidFill>
              <a:schemeClr val="accent4"/>
            </a:solidFill>
            <a:prstDash val="solid"/>
          </a:ln>
        </p:spPr>
      </p:sp>
      <p:sp>
        <p:nvSpPr>
          <p:cNvPr id="23" name="Band server label"/>
          <p:cNvSpPr txBox="1"/>
          <p:nvPr/>
        </p:nvSpPr>
        <p:spPr>
          <a:xfrm>
            <a:off x="777240" y="4343400"/>
            <a:ext cx="5486400" cy="274320"/>
          </a:xfrm>
          <a:prstGeom prst="rect">
            <a:avLst/>
          </a:prstGeom>
          <a:noFill/>
          <a:ln/>
        </p:spPr>
        <p:txBody>
          <a:bodyPr wrap="square" lIns="0" tIns="0" rIns="0" bIns="0" rtlCol="0" anchor="t"/>
          <a:lstStyle/>
          <a:p>
            <a:pPr indent="0" marL="0">
              <a:buNone/>
            </a:pPr>
            <a:r>
              <a:rPr lang="en-US" sz="1200" dirty="0">
                <a:solidFill>
                  <a:schemeClr val="accent1"/>
                </a:solidFill>
              </a:rPr>
              <a:t>ON OUR SERVER · RAILWAY, HTTPS</a:t>
            </a:r>
            <a:endParaRPr lang="en-US" sz="1200" dirty="0"/>
          </a:p>
        </p:txBody>
      </p:sp>
      <p:sp>
        <p:nvSpPr>
          <p:cNvPr id="24" name="Arch server 1"/>
          <p:cNvSpPr txBox="1"/>
          <p:nvPr/>
        </p:nvSpPr>
        <p:spPr>
          <a:xfrm>
            <a:off x="777240" y="4663440"/>
            <a:ext cx="3362858" cy="10972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Structured replies</a:t>
            </a:r>
            <a:endParaRPr lang="en-US" sz="1500" dirty="0"/>
          </a:p>
          <a:p>
            <a:pPr indent="0" marL="0">
              <a:spcAft>
                <a:spcPts val="400"/>
              </a:spcAft>
              <a:buNone/>
            </a:pPr>
            <a:r>
              <a:rPr lang="en-US" sz="1300" dirty="0">
                <a:solidFill>
                  <a:schemeClr val="tx1"/>
                </a:solidFill>
              </a:rPr>
              <a:t>OpenAI gpt-6-astra, strict JSON schema, store: false, no tools; output validated to three distinct options</a:t>
            </a:r>
            <a:endParaRPr lang="en-US" sz="1500" dirty="0"/>
          </a:p>
        </p:txBody>
      </p:sp>
      <p:sp>
        <p:nvSpPr>
          <p:cNvPr id="25" name="Arch server 2"/>
          <p:cNvSpPr txBox="1"/>
          <p:nvPr/>
        </p:nvSpPr>
        <p:spPr>
          <a:xfrm>
            <a:off x="4414418" y="4663440"/>
            <a:ext cx="3362858" cy="10972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Speech, after confirmation</a:t>
            </a:r>
            <a:endParaRPr lang="en-US" sz="1500" dirty="0"/>
          </a:p>
          <a:p>
            <a:pPr indent="0" marL="0">
              <a:spcAft>
                <a:spcPts val="400"/>
              </a:spcAft>
              <a:buNone/>
            </a:pPr>
            <a:r>
              <a:rPr lang="en-US" sz="1300" dirty="0">
                <a:solidFill>
                  <a:schemeClr val="tx1"/>
                </a:solidFill>
              </a:rPr>
              <a:t>ElevenLabs gets only the confirmed sentence; key held server-side only</a:t>
            </a:r>
            <a:endParaRPr lang="en-US" sz="1500" dirty="0"/>
          </a:p>
        </p:txBody>
      </p:sp>
      <p:sp>
        <p:nvSpPr>
          <p:cNvPr id="26" name="Arch server 3"/>
          <p:cNvSpPr txBox="1"/>
          <p:nvPr/>
        </p:nvSpPr>
        <p:spPr>
          <a:xfrm>
            <a:off x="8051597" y="4663440"/>
            <a:ext cx="3362858" cy="10972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Access gate</a:t>
            </a:r>
            <a:endParaRPr lang="en-US" sz="1500" dirty="0"/>
          </a:p>
          <a:p>
            <a:pPr indent="0" marL="0">
              <a:spcAft>
                <a:spcPts val="400"/>
              </a:spcAft>
              <a:buNone/>
            </a:pPr>
            <a:r>
              <a:rPr lang="en-US" sz="1300" dirty="0">
                <a:solidFill>
                  <a:schemeClr val="tx1"/>
                </a:solidFill>
              </a:rPr>
              <a:t>Access code on paid routes; logs keep route, outcome, and duration, never sentence text</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5 · MEASURED EVIDENCE</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What actually ran, and what didn't</a:t>
            </a:r>
            <a:endParaRPr lang="en-US" sz="3600" dirty="0"/>
          </a:p>
        </p:txBody>
      </p:sp>
      <p:sp>
        <p:nvSpPr>
          <p:cNvPr id="4" name="Stat card 1"/>
          <p:cNvSpPr/>
          <p:nvPr/>
        </p:nvSpPr>
        <p:spPr>
          <a:xfrm>
            <a:off x="548640" y="1508760"/>
            <a:ext cx="3108960" cy="2084832"/>
          </a:xfrm>
          <a:prstGeom prst="roundRect">
            <a:avLst>
              <a:gd name="adj" fmla="val 5263"/>
            </a:avLst>
          </a:prstGeom>
          <a:solidFill>
            <a:schemeClr val="bg2"/>
          </a:solidFill>
          <a:ln/>
        </p:spPr>
      </p:sp>
      <p:sp>
        <p:nvSpPr>
          <p:cNvPr id="5" name="Stat 1 number"/>
          <p:cNvSpPr txBox="1"/>
          <p:nvPr/>
        </p:nvSpPr>
        <p:spPr>
          <a:xfrm>
            <a:off x="777240" y="1645920"/>
            <a:ext cx="2651760" cy="731520"/>
          </a:xfrm>
          <a:prstGeom prst="rect">
            <a:avLst/>
          </a:prstGeom>
          <a:noFill/>
          <a:ln/>
        </p:spPr>
        <p:txBody>
          <a:bodyPr wrap="square" lIns="0" tIns="0" rIns="0" bIns="0" rtlCol="0" anchor="ctr"/>
          <a:lstStyle/>
          <a:p>
            <a:pPr indent="0" marL="0">
              <a:buNone/>
            </a:pPr>
            <a:r>
              <a:rPr lang="en-US" sz="4000" b="1" dirty="0">
                <a:solidFill>
                  <a:schemeClr val="accent1"/>
                </a:solidFill>
              </a:rPr>
              <a:t>134/134</a:t>
            </a:r>
            <a:endParaRPr lang="en-US" sz="4000" dirty="0"/>
          </a:p>
        </p:txBody>
      </p:sp>
      <p:sp>
        <p:nvSpPr>
          <p:cNvPr id="6" name="Stat 1 text"/>
          <p:cNvSpPr txBox="1"/>
          <p:nvPr/>
        </p:nvSpPr>
        <p:spPr>
          <a:xfrm>
            <a:off x="777240" y="2404872"/>
            <a:ext cx="2651760" cy="1078992"/>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automated tests passed</a:t>
            </a:r>
            <a:endParaRPr lang="en-US" sz="1400" dirty="0"/>
          </a:p>
          <a:p>
            <a:pPr indent="0" marL="0">
              <a:spcAft>
                <a:spcPts val="300"/>
              </a:spcAft>
              <a:buNone/>
            </a:pPr>
            <a:r>
              <a:rPr lang="en-US" sz="1100" dirty="0">
                <a:solidFill>
                  <a:schemeClr val="accent4"/>
                </a:solidFill>
              </a:rPr>
              <a:t>vitest, 10 files, 11:50 CT. Reducer, blink gesture and calibration, schema, API routes (provider SDK mocked)</a:t>
            </a:r>
            <a:endParaRPr lang="en-US" sz="1400" dirty="0"/>
          </a:p>
        </p:txBody>
      </p:sp>
      <p:sp>
        <p:nvSpPr>
          <p:cNvPr id="7" name="Stat card 2"/>
          <p:cNvSpPr/>
          <p:nvPr/>
        </p:nvSpPr>
        <p:spPr>
          <a:xfrm>
            <a:off x="3931920" y="1508760"/>
            <a:ext cx="3108960" cy="2084832"/>
          </a:xfrm>
          <a:prstGeom prst="roundRect">
            <a:avLst>
              <a:gd name="adj" fmla="val 5263"/>
            </a:avLst>
          </a:prstGeom>
          <a:solidFill>
            <a:schemeClr val="bg2"/>
          </a:solidFill>
          <a:ln/>
        </p:spPr>
      </p:sp>
      <p:sp>
        <p:nvSpPr>
          <p:cNvPr id="8" name="Stat 2 number"/>
          <p:cNvSpPr txBox="1"/>
          <p:nvPr/>
        </p:nvSpPr>
        <p:spPr>
          <a:xfrm>
            <a:off x="4160520" y="1645920"/>
            <a:ext cx="2651760" cy="731520"/>
          </a:xfrm>
          <a:prstGeom prst="rect">
            <a:avLst/>
          </a:prstGeom>
          <a:noFill/>
          <a:ln/>
        </p:spPr>
        <p:txBody>
          <a:bodyPr wrap="square" lIns="0" tIns="0" rIns="0" bIns="0" rtlCol="0" anchor="ctr"/>
          <a:lstStyle/>
          <a:p>
            <a:pPr indent="0" marL="0">
              <a:buNone/>
            </a:pPr>
            <a:r>
              <a:rPr lang="en-US" sz="4000" b="1" dirty="0">
                <a:solidFill>
                  <a:schemeClr val="accent1"/>
                </a:solidFill>
              </a:rPr>
              <a:t>14/14</a:t>
            </a:r>
            <a:endParaRPr lang="en-US" sz="4000" dirty="0"/>
          </a:p>
        </p:txBody>
      </p:sp>
      <p:sp>
        <p:nvSpPr>
          <p:cNvPr id="9" name="Stat 2 text"/>
          <p:cNvSpPr txBox="1"/>
          <p:nvPr/>
        </p:nvSpPr>
        <p:spPr>
          <a:xfrm>
            <a:off x="4160520" y="2404872"/>
            <a:ext cx="2651760" cy="1078992"/>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synthetic live scenarios returned valid batches</a:t>
            </a:r>
            <a:endParaRPr lang="en-US" sz="1400" dirty="0"/>
          </a:p>
          <a:p>
            <a:pPr indent="0" marL="0">
              <a:spcAft>
                <a:spcPts val="300"/>
              </a:spcAft>
              <a:buNone/>
            </a:pPr>
            <a:r>
              <a:rPr lang="en-US" sz="1100" dirty="0">
                <a:solidFill>
                  <a:schemeClr val="accent4"/>
                </a:solidFill>
              </a:rPr>
              <a:t>gpt-6-astra, 11:35 CT. Human judgment of the outputs not yet recorded</a:t>
            </a:r>
            <a:endParaRPr lang="en-US" sz="1400" dirty="0"/>
          </a:p>
        </p:txBody>
      </p:sp>
      <p:sp>
        <p:nvSpPr>
          <p:cNvPr id="10" name="Stat card 3"/>
          <p:cNvSpPr/>
          <p:nvPr/>
        </p:nvSpPr>
        <p:spPr>
          <a:xfrm>
            <a:off x="548640" y="3867912"/>
            <a:ext cx="3108960" cy="2084832"/>
          </a:xfrm>
          <a:prstGeom prst="roundRect">
            <a:avLst>
              <a:gd name="adj" fmla="val 5263"/>
            </a:avLst>
          </a:prstGeom>
          <a:solidFill>
            <a:schemeClr val="bg2"/>
          </a:solidFill>
          <a:ln/>
        </p:spPr>
      </p:sp>
      <p:sp>
        <p:nvSpPr>
          <p:cNvPr id="11" name="Stat 3 number"/>
          <p:cNvSpPr txBox="1"/>
          <p:nvPr/>
        </p:nvSpPr>
        <p:spPr>
          <a:xfrm>
            <a:off x="777240" y="4005072"/>
            <a:ext cx="2651760" cy="731520"/>
          </a:xfrm>
          <a:prstGeom prst="rect">
            <a:avLst/>
          </a:prstGeom>
          <a:noFill/>
          <a:ln/>
        </p:spPr>
        <p:txBody>
          <a:bodyPr wrap="square" lIns="0" tIns="0" rIns="0" bIns="0" rtlCol="0" anchor="ctr"/>
          <a:lstStyle/>
          <a:p>
            <a:pPr indent="0" marL="0">
              <a:buNone/>
            </a:pPr>
            <a:r>
              <a:rPr lang="en-US" sz="4000" b="1" dirty="0">
                <a:solidFill>
                  <a:schemeClr val="accent1"/>
                </a:solidFill>
              </a:rPr>
              <a:t>401 / 200</a:t>
            </a:r>
            <a:endParaRPr lang="en-US" sz="4000" dirty="0"/>
          </a:p>
        </p:txBody>
      </p:sp>
      <p:sp>
        <p:nvSpPr>
          <p:cNvPr id="12" name="Stat 3 text"/>
          <p:cNvSpPr txBox="1"/>
          <p:nvPr/>
        </p:nvSpPr>
        <p:spPr>
          <a:xfrm>
            <a:off x="777240" y="4764024"/>
            <a:ext cx="2651760" cy="1078992"/>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Railway access gate</a:t>
            </a:r>
            <a:endParaRPr lang="en-US" sz="1400" dirty="0"/>
          </a:p>
          <a:p>
            <a:pPr indent="0" marL="0">
              <a:spcAft>
                <a:spcPts val="300"/>
              </a:spcAft>
              <a:buNone/>
            </a:pPr>
            <a:r>
              <a:rPr lang="en-US" sz="1100" dirty="0">
                <a:solidFill>
                  <a:schemeClr val="accent4"/>
                </a:solidFill>
              </a:rPr>
              <a:t>Live route without code: 401. With code: 200. 11:18 CT</a:t>
            </a:r>
            <a:endParaRPr lang="en-US" sz="1400" dirty="0"/>
          </a:p>
        </p:txBody>
      </p:sp>
      <p:sp>
        <p:nvSpPr>
          <p:cNvPr id="13" name="Stat card 4"/>
          <p:cNvSpPr/>
          <p:nvPr/>
        </p:nvSpPr>
        <p:spPr>
          <a:xfrm>
            <a:off x="3931920" y="3867912"/>
            <a:ext cx="3108960" cy="2084832"/>
          </a:xfrm>
          <a:prstGeom prst="roundRect">
            <a:avLst>
              <a:gd name="adj" fmla="val 5263"/>
            </a:avLst>
          </a:prstGeom>
          <a:solidFill>
            <a:schemeClr val="bg2"/>
          </a:solidFill>
          <a:ln/>
        </p:spPr>
      </p:sp>
      <p:sp>
        <p:nvSpPr>
          <p:cNvPr id="14" name="Stat 4 number"/>
          <p:cNvSpPr txBox="1"/>
          <p:nvPr/>
        </p:nvSpPr>
        <p:spPr>
          <a:xfrm>
            <a:off x="4160520" y="4005072"/>
            <a:ext cx="2651760" cy="731520"/>
          </a:xfrm>
          <a:prstGeom prst="rect">
            <a:avLst/>
          </a:prstGeom>
          <a:noFill/>
          <a:ln/>
        </p:spPr>
        <p:txBody>
          <a:bodyPr wrap="square" lIns="0" tIns="0" rIns="0" bIns="0" rtlCol="0" anchor="ctr"/>
          <a:lstStyle/>
          <a:p>
            <a:pPr indent="0" marL="0">
              <a:buNone/>
            </a:pPr>
            <a:r>
              <a:rPr lang="en-US" sz="4000" b="1" dirty="0">
                <a:solidFill>
                  <a:schemeClr val="accent1"/>
                </a:solidFill>
              </a:rPr>
              <a:t>Passed</a:t>
            </a:r>
            <a:endParaRPr lang="en-US" sz="4000" dirty="0"/>
          </a:p>
        </p:txBody>
      </p:sp>
      <p:sp>
        <p:nvSpPr>
          <p:cNvPr id="15" name="Stat 4 text"/>
          <p:cNvSpPr txBox="1"/>
          <p:nvPr/>
        </p:nvSpPr>
        <p:spPr>
          <a:xfrm>
            <a:off x="4160520" y="4764024"/>
            <a:ext cx="2651760" cy="1078992"/>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typecheck, lint, production build</a:t>
            </a:r>
            <a:endParaRPr lang="en-US" sz="1400" dirty="0"/>
          </a:p>
          <a:p>
            <a:pPr indent="0" marL="0">
              <a:spcAft>
                <a:spcPts val="300"/>
              </a:spcAft>
              <a:buNone/>
            </a:pPr>
            <a:r>
              <a:rPr lang="en-US" sz="1100" dirty="0">
                <a:solidFill>
                  <a:schemeClr val="accent4"/>
                </a:solidFill>
              </a:rPr>
              <a:t>11:00 CT. Client bundle grep found no key or prompt names</a:t>
            </a:r>
            <a:endParaRPr lang="en-US" sz="1400" dirty="0"/>
          </a:p>
        </p:txBody>
      </p:sp>
      <p:sp>
        <p:nvSpPr>
          <p:cNvPr id="16" name="Gaps card"/>
          <p:cNvSpPr/>
          <p:nvPr/>
        </p:nvSpPr>
        <p:spPr>
          <a:xfrm>
            <a:off x="7406640" y="1508760"/>
            <a:ext cx="4236415" cy="4443984"/>
          </a:xfrm>
          <a:prstGeom prst="roundRect">
            <a:avLst>
              <a:gd name="adj" fmla="val 2590"/>
            </a:avLst>
          </a:prstGeom>
          <a:solidFill>
            <a:schemeClr val="accent3"/>
          </a:solidFill>
          <a:ln w="12700">
            <a:solidFill>
              <a:schemeClr val="accent2"/>
            </a:solidFill>
            <a:prstDash val="solid"/>
          </a:ln>
        </p:spPr>
      </p:sp>
      <p:sp>
        <p:nvSpPr>
          <p:cNvPr id="17" name="Gaps heading"/>
          <p:cNvSpPr txBox="1"/>
          <p:nvPr/>
        </p:nvSpPr>
        <p:spPr>
          <a:xfrm>
            <a:off x="7680960" y="1645920"/>
            <a:ext cx="3687775" cy="411480"/>
          </a:xfrm>
          <a:prstGeom prst="rect">
            <a:avLst/>
          </a:prstGeom>
          <a:noFill/>
          <a:ln/>
        </p:spPr>
        <p:txBody>
          <a:bodyPr wrap="square" lIns="0" tIns="0" rIns="0" bIns="0" rtlCol="0" anchor="ctr"/>
          <a:lstStyle/>
          <a:p>
            <a:pPr indent="0" marL="0">
              <a:buNone/>
            </a:pPr>
            <a:r>
              <a:rPr lang="en-US" sz="1800" b="1" dirty="0">
                <a:solidFill>
                  <a:schemeClr val="accent2"/>
                </a:solidFill>
              </a:rPr>
              <a:t>Not run or not measured</a:t>
            </a:r>
            <a:endParaRPr lang="en-US" sz="1800" dirty="0"/>
          </a:p>
        </p:txBody>
      </p:sp>
      <p:sp>
        <p:nvSpPr>
          <p:cNvPr id="18" name="Gaps list"/>
          <p:cNvSpPr txBox="1"/>
          <p:nvPr/>
        </p:nvSpPr>
        <p:spPr>
          <a:xfrm>
            <a:off x="7680960" y="2194560"/>
            <a:ext cx="3687775" cy="3621024"/>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Physical iPad acceptance trial: not run</a:t>
            </a:r>
            <a:endParaRPr lang="en-US" sz="1500" dirty="0"/>
          </a:p>
          <a:p>
            <a:pPr marL="342900" indent="-342900">
              <a:spcAft>
                <a:spcPts val="1000"/>
              </a:spcAft>
              <a:buSzPct val="100000"/>
              <a:buChar char="•"/>
            </a:pPr>
            <a:r>
              <a:rPr lang="en-US" sz="1500" dirty="0">
                <a:solidFill>
                  <a:schemeClr val="tx1"/>
                </a:solidFill>
              </a:rPr>
              <a:t>Eyebrow and blink on a real camera: not run</a:t>
            </a:r>
            <a:endParaRPr lang="en-US" sz="1500" dirty="0"/>
          </a:p>
          <a:p>
            <a:pPr marL="342900" indent="-342900">
              <a:spcAft>
                <a:spcPts val="1000"/>
              </a:spcAft>
              <a:buSzPct val="100000"/>
              <a:buChar char="•"/>
            </a:pPr>
            <a:r>
              <a:rPr lang="en-US" sz="1500" dirty="0">
                <a:solidFill>
                  <a:schemeClr val="tx1"/>
                </a:solidFill>
              </a:rPr>
              <a:t>Gesture reliability: not measured</a:t>
            </a:r>
            <a:endParaRPr lang="en-US" sz="1500" dirty="0"/>
          </a:p>
          <a:p>
            <a:pPr marL="342900" indent="-342900">
              <a:spcAft>
                <a:spcPts val="1000"/>
              </a:spcAft>
              <a:buSzPct val="100000"/>
              <a:buChar char="•"/>
            </a:pPr>
            <a:r>
              <a:rPr lang="en-US" sz="1500" dirty="0">
                <a:solidFill>
                  <a:schemeClr val="tx1"/>
                </a:solidFill>
              </a:rPr>
              <a:t>ElevenLabs live voice: not configured</a:t>
            </a:r>
            <a:endParaRPr lang="en-US" sz="1500" dirty="0"/>
          </a:p>
          <a:p>
            <a:pPr marL="342900" indent="-342900">
              <a:spcAft>
                <a:spcPts val="1000"/>
              </a:spcAft>
              <a:buSzPct val="100000"/>
              <a:buChar char="•"/>
            </a:pPr>
            <a:r>
              <a:rPr lang="en-US" sz="1500" dirty="0">
                <a:solidFill>
                  <a:schemeClr val="tx1"/>
                </a:solidFill>
              </a:rPr>
              <a:t>Eyebrow, arbiter, and speech tests: written, no run recorded</a:t>
            </a:r>
            <a:endParaRPr lang="en-US" sz="1500" dirty="0"/>
          </a:p>
          <a:p>
            <a:pPr marL="342900" indent="-342900">
              <a:spcAft>
                <a:spcPts val="1000"/>
              </a:spcAft>
              <a:buSzPct val="100000"/>
              <a:buChar char="•"/>
            </a:pPr>
            <a:r>
              <a:rPr lang="en-US" sz="1500" dirty="0">
                <a:solidFill>
                  <a:schemeClr val="tx1"/>
                </a:solidFill>
              </a:rPr>
              <a:t>Time to speech, latency, error rates: not measured</a:t>
            </a:r>
            <a:endParaRPr lang="en-US" sz="1500" dirty="0"/>
          </a:p>
          <a:p>
            <a:pPr marL="342900" indent="-342900">
              <a:spcAft>
                <a:spcPts val="1000"/>
              </a:spcAft>
              <a:buSzPct val="100000"/>
              <a:buChar char="•"/>
            </a:pPr>
            <a:r>
              <a:rPr lang="en-US" sz="1500" dirty="0">
                <a:solidFill>
                  <a:schemeClr val="tx1"/>
                </a:solidFill>
              </a:rPr>
              <a:t>Testing with AAC users: none</a:t>
            </a:r>
            <a:endParaRPr lang="en-US" sz="1500" dirty="0"/>
          </a:p>
        </p:txBody>
      </p:sp>
      <p:sp>
        <p:nvSpPr>
          <p:cNvPr id="19" name="Evidence footnote"/>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100" dirty="0">
                <a:solidFill>
                  <a:schemeClr val="accent4"/>
                </a:solidFill>
              </a:rPr>
              <a:t>Source: docs/TEST_RESULTS.md. Synthetic tests prove logic, not reliability. All automated and browser checks ran on a MacBook, not an iPad.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6 · LIMITATIONS AND NEXT STEPS</a:t>
            </a:r>
            <a:endParaRPr lang="en-US" sz="12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indent="0" marL="0">
              <a:buNone/>
            </a:pPr>
            <a:r>
              <a:rPr lang="en-US" sz="3600" b="1" dirty="0">
                <a:solidFill>
                  <a:schemeClr val="tx1"/>
                </a:solidFill>
              </a:rPr>
              <a:t>Limits we state plainly, and what comes next</a:t>
            </a:r>
            <a:endParaRPr lang="en-US" sz="3600" dirty="0"/>
          </a:p>
        </p:txBody>
      </p:sp>
      <p:sp>
        <p:nvSpPr>
          <p:cNvPr id="4" name="Limits card"/>
          <p:cNvSpPr/>
          <p:nvPr/>
        </p:nvSpPr>
        <p:spPr>
          <a:xfrm>
            <a:off x="548640" y="1508760"/>
            <a:ext cx="5989320" cy="4434840"/>
          </a:xfrm>
          <a:prstGeom prst="roundRect">
            <a:avLst>
              <a:gd name="adj" fmla="val 2474"/>
            </a:avLst>
          </a:prstGeom>
          <a:solidFill>
            <a:schemeClr val="bg2"/>
          </a:solidFill>
          <a:ln/>
        </p:spPr>
      </p:sp>
      <p:sp>
        <p:nvSpPr>
          <p:cNvPr id="5" name="Limits heading"/>
          <p:cNvSpPr txBox="1"/>
          <p:nvPr/>
        </p:nvSpPr>
        <p:spPr>
          <a:xfrm>
            <a:off x="822960" y="1645920"/>
            <a:ext cx="5440680" cy="411480"/>
          </a:xfrm>
          <a:prstGeom prst="rect">
            <a:avLst/>
          </a:prstGeom>
          <a:noFill/>
          <a:ln/>
        </p:spPr>
        <p:txBody>
          <a:bodyPr wrap="square" lIns="0" tIns="0" rIns="0" bIns="0" rtlCol="0" anchor="ctr"/>
          <a:lstStyle/>
          <a:p>
            <a:pPr indent="0" marL="0">
              <a:buNone/>
            </a:pPr>
            <a:r>
              <a:rPr lang="en-US" sz="1800" b="1" dirty="0">
                <a:solidFill>
                  <a:schemeClr val="tx1"/>
                </a:solidFill>
              </a:rPr>
              <a:t>Limitations</a:t>
            </a:r>
            <a:endParaRPr lang="en-US" sz="1800" dirty="0"/>
          </a:p>
        </p:txBody>
      </p:sp>
      <p:sp>
        <p:nvSpPr>
          <p:cNvPr id="6" name="Limits list"/>
          <p:cNvSpPr txBox="1"/>
          <p:nvPr/>
        </p:nvSpPr>
        <p:spPr>
          <a:xfrm>
            <a:off x="822960" y="2194560"/>
            <a:ext cx="5440680" cy="36118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Not clinically validated. Not tested with AAC users or people with ALS.</a:t>
            </a:r>
            <a:endParaRPr lang="en-US" sz="1600" dirty="0"/>
          </a:p>
          <a:p>
            <a:pPr marL="342900" indent="-342900">
              <a:spcAft>
                <a:spcPts val="1200"/>
              </a:spcAft>
              <a:buSzPct val="100000"/>
              <a:buChar char="•"/>
            </a:pPr>
            <a:r>
              <a:rPr lang="en-US" sz="1600" dirty="0">
                <a:solidFill>
                  <a:schemeClr val="tx1"/>
                </a:solidFill>
              </a:rPr>
              <a:t>Not everyone can raise their eyebrows or blink on purpose, so auto-scan, switch, keyboard, and touch stay first-class.</a:t>
            </a:r>
            <a:endParaRPr lang="en-US" sz="1600" dirty="0"/>
          </a:p>
          <a:p>
            <a:pPr marL="342900" indent="-342900">
              <a:spcAft>
                <a:spcPts val="1200"/>
              </a:spcAft>
              <a:buSzPct val="100000"/>
              <a:buChar char="•"/>
            </a:pPr>
            <a:r>
              <a:rPr lang="en-US" sz="1600" dirty="0">
                <a:solidFill>
                  <a:schemeClr val="tx1"/>
                </a:solidFill>
              </a:rPr>
              <a:t>The camera stays on the iPad by design; the network-log check is still pending.</a:t>
            </a:r>
            <a:endParaRPr lang="en-US" sz="1600" dirty="0"/>
          </a:p>
          <a:p>
            <a:pPr marL="342900" indent="-342900">
              <a:spcAft>
                <a:spcPts val="1200"/>
              </a:spcAft>
              <a:buSzPct val="100000"/>
              <a:buChar char="•"/>
            </a:pPr>
            <a:r>
              <a:rPr lang="en-US" sz="1600" dirty="0">
                <a:solidFill>
                  <a:schemeClr val="tx1"/>
                </a:solidFill>
              </a:rPr>
              <a:t>The confirmed sentence goes to ElevenLabs. We make no zero-retention claim.</a:t>
            </a:r>
            <a:endParaRPr lang="en-US" sz="1600" dirty="0"/>
          </a:p>
          <a:p>
            <a:pPr marL="342900" indent="-342900">
              <a:spcAft>
                <a:spcPts val="1200"/>
              </a:spcAft>
              <a:buSzPct val="100000"/>
              <a:buChar char="•"/>
            </a:pPr>
            <a:r>
              <a:rPr lang="en-US" sz="1600" dirty="0">
                <a:solidFill>
                  <a:schemeClr val="tx1"/>
                </a:solidFill>
              </a:rPr>
              <a:t>AAC and facial-gesture access already exist. Our contribution is this working combination.</a:t>
            </a:r>
            <a:endParaRPr lang="en-US" sz="1600" dirty="0"/>
          </a:p>
        </p:txBody>
      </p:sp>
      <p:sp>
        <p:nvSpPr>
          <p:cNvPr id="7" name="Next heading"/>
          <p:cNvSpPr txBox="1"/>
          <p:nvPr/>
        </p:nvSpPr>
        <p:spPr>
          <a:xfrm>
            <a:off x="6903720" y="1645920"/>
            <a:ext cx="4739335" cy="411480"/>
          </a:xfrm>
          <a:prstGeom prst="rect">
            <a:avLst/>
          </a:prstGeom>
          <a:noFill/>
          <a:ln/>
        </p:spPr>
        <p:txBody>
          <a:bodyPr wrap="square" lIns="0" tIns="0" rIns="0" bIns="0" rtlCol="0" anchor="ctr"/>
          <a:lstStyle/>
          <a:p>
            <a:pPr indent="0" marL="0">
              <a:buNone/>
            </a:pPr>
            <a:r>
              <a:rPr lang="en-US" sz="1800" b="1" dirty="0">
                <a:solidFill>
                  <a:schemeClr val="tx1"/>
                </a:solidFill>
              </a:rPr>
              <a:t>Next steps</a:t>
            </a:r>
            <a:endParaRPr lang="en-US" sz="1800" dirty="0"/>
          </a:p>
        </p:txBody>
      </p:sp>
      <p:sp>
        <p:nvSpPr>
          <p:cNvPr id="8" name="Next 1 circle"/>
          <p:cNvSpPr/>
          <p:nvPr/>
        </p:nvSpPr>
        <p:spPr>
          <a:xfrm>
            <a:off x="6903720" y="2267712"/>
            <a:ext cx="603504" cy="603504"/>
          </a:xfrm>
          <a:prstGeom prst="ellipse">
            <a:avLst/>
          </a:prstGeom>
          <a:solidFill>
            <a:schemeClr val="accent1"/>
          </a:solidFill>
          <a:ln/>
        </p:spPr>
      </p:sp>
      <p:pic>
        <p:nvPicPr>
          <p:cNvPr id="9" name="Next 1 icon" descr="preencoded.png">    </p:cNvPr>
          <p:cNvPicPr>
            <a:picLocks noChangeAspect="1"/>
          </p:cNvPicPr>
          <p:nvPr/>
        </p:nvPicPr>
        <p:blipFill>
          <a:blip r:embed="rId1"/>
          <a:stretch>
            <a:fillRect/>
          </a:stretch>
        </p:blipFill>
        <p:spPr>
          <a:xfrm>
            <a:off x="7048561" y="2412553"/>
            <a:ext cx="313822" cy="313822"/>
          </a:xfrm>
          <a:prstGeom prst="rect">
            <a:avLst/>
          </a:prstGeom>
        </p:spPr>
      </p:pic>
      <p:sp>
        <p:nvSpPr>
          <p:cNvPr id="10" name="Next 1 text"/>
          <p:cNvSpPr txBox="1"/>
          <p:nvPr/>
        </p:nvSpPr>
        <p:spPr>
          <a:xfrm>
            <a:off x="7726680" y="2194560"/>
            <a:ext cx="3916375" cy="777240"/>
          </a:xfrm>
          <a:prstGeom prst="rect">
            <a:avLst/>
          </a:prstGeom>
          <a:noFill/>
          <a:ln/>
        </p:spPr>
        <p:txBody>
          <a:bodyPr wrap="square" lIns="0" tIns="0" rIns="0" bIns="0" rtlCol="0" anchor="ctr"/>
          <a:lstStyle/>
          <a:p>
            <a:pPr indent="0" marL="0">
              <a:spcAft>
                <a:spcPts val="200"/>
              </a:spcAft>
              <a:buNone/>
            </a:pPr>
            <a:r>
              <a:rPr lang="en-US" sz="1600" b="1" dirty="0">
                <a:solidFill>
                  <a:schemeClr val="tx1"/>
                </a:solidFill>
              </a:rPr>
              <a:t>Run the physical iPad trial</a:t>
            </a:r>
            <a:endParaRPr lang="en-US" sz="1600" dirty="0"/>
          </a:p>
          <a:p>
            <a:pPr indent="0" marL="0">
              <a:spcAft>
                <a:spcPts val="200"/>
              </a:spcAft>
              <a:buNone/>
            </a:pPr>
            <a:r>
              <a:rPr lang="en-US" sz="1400" dirty="0">
                <a:solidFill>
                  <a:schemeClr val="tx1"/>
                </a:solidFill>
              </a:rPr>
              <a:t>Record counts with n and conditions.</a:t>
            </a:r>
            <a:endParaRPr lang="en-US" sz="1600" dirty="0"/>
          </a:p>
        </p:txBody>
      </p:sp>
      <p:sp>
        <p:nvSpPr>
          <p:cNvPr id="11" name="Next 2 circle"/>
          <p:cNvSpPr/>
          <p:nvPr/>
        </p:nvSpPr>
        <p:spPr>
          <a:xfrm>
            <a:off x="6903720" y="3209544"/>
            <a:ext cx="603504" cy="603504"/>
          </a:xfrm>
          <a:prstGeom prst="ellipse">
            <a:avLst/>
          </a:prstGeom>
          <a:solidFill>
            <a:schemeClr val="accent1"/>
          </a:solidFill>
          <a:ln/>
        </p:spPr>
      </p:sp>
      <p:pic>
        <p:nvPicPr>
          <p:cNvPr id="12" name="Next 2 icon" descr="preencoded.png">    </p:cNvPr>
          <p:cNvPicPr>
            <a:picLocks noChangeAspect="1"/>
          </p:cNvPicPr>
          <p:nvPr/>
        </p:nvPicPr>
        <p:blipFill>
          <a:blip r:embed="rId2"/>
          <a:stretch>
            <a:fillRect/>
          </a:stretch>
        </p:blipFill>
        <p:spPr>
          <a:xfrm>
            <a:off x="7048561" y="3354385"/>
            <a:ext cx="313822" cy="313822"/>
          </a:xfrm>
          <a:prstGeom prst="rect">
            <a:avLst/>
          </a:prstGeom>
        </p:spPr>
      </p:pic>
      <p:sp>
        <p:nvSpPr>
          <p:cNvPr id="13" name="Next 2 text"/>
          <p:cNvSpPr txBox="1"/>
          <p:nvPr/>
        </p:nvSpPr>
        <p:spPr>
          <a:xfrm>
            <a:off x="7726680" y="3136392"/>
            <a:ext cx="3916375" cy="777240"/>
          </a:xfrm>
          <a:prstGeom prst="rect">
            <a:avLst/>
          </a:prstGeom>
          <a:noFill/>
          <a:ln/>
        </p:spPr>
        <p:txBody>
          <a:bodyPr wrap="square" lIns="0" tIns="0" rIns="0" bIns="0" rtlCol="0" anchor="ctr"/>
          <a:lstStyle/>
          <a:p>
            <a:pPr indent="0" marL="0">
              <a:spcAft>
                <a:spcPts val="200"/>
              </a:spcAft>
              <a:buNone/>
            </a:pPr>
            <a:r>
              <a:rPr lang="en-US" sz="1600" b="1" dirty="0">
                <a:solidFill>
                  <a:schemeClr val="tx1"/>
                </a:solidFill>
              </a:rPr>
              <a:t>Configure and listen to the voice</a:t>
            </a:r>
            <a:endParaRPr lang="en-US" sz="1600" dirty="0"/>
          </a:p>
          <a:p>
            <a:pPr indent="0" marL="0">
              <a:spcAft>
                <a:spcPts val="200"/>
              </a:spcAft>
              <a:buNone/>
            </a:pPr>
            <a:r>
              <a:rPr lang="en-US" sz="1400" dirty="0">
                <a:solidFill>
                  <a:schemeClr val="tx1"/>
                </a:solidFill>
              </a:rPr>
              <a:t>Hear ElevenLabs on the iPad before claiming it.</a:t>
            </a:r>
            <a:endParaRPr lang="en-US" sz="1600" dirty="0"/>
          </a:p>
        </p:txBody>
      </p:sp>
      <p:sp>
        <p:nvSpPr>
          <p:cNvPr id="14" name="Next 3 circle"/>
          <p:cNvSpPr/>
          <p:nvPr/>
        </p:nvSpPr>
        <p:spPr>
          <a:xfrm>
            <a:off x="6903720" y="4151376"/>
            <a:ext cx="603504" cy="603504"/>
          </a:xfrm>
          <a:prstGeom prst="ellipse">
            <a:avLst/>
          </a:prstGeom>
          <a:solidFill>
            <a:schemeClr val="accent1"/>
          </a:solidFill>
          <a:ln/>
        </p:spPr>
      </p:sp>
      <p:pic>
        <p:nvPicPr>
          <p:cNvPr id="15" name="Next 3 icon" descr="preencoded.png">    </p:cNvPr>
          <p:cNvPicPr>
            <a:picLocks noChangeAspect="1"/>
          </p:cNvPicPr>
          <p:nvPr/>
        </p:nvPicPr>
        <p:blipFill>
          <a:blip r:embed="rId3"/>
          <a:stretch>
            <a:fillRect/>
          </a:stretch>
        </p:blipFill>
        <p:spPr>
          <a:xfrm>
            <a:off x="7048561" y="4296217"/>
            <a:ext cx="313822" cy="313822"/>
          </a:xfrm>
          <a:prstGeom prst="rect">
            <a:avLst/>
          </a:prstGeom>
        </p:spPr>
      </p:pic>
      <p:sp>
        <p:nvSpPr>
          <p:cNvPr id="16" name="Next 3 text"/>
          <p:cNvSpPr txBox="1"/>
          <p:nvPr/>
        </p:nvSpPr>
        <p:spPr>
          <a:xfrm>
            <a:off x="7726680" y="4078224"/>
            <a:ext cx="3916375" cy="777240"/>
          </a:xfrm>
          <a:prstGeom prst="rect">
            <a:avLst/>
          </a:prstGeom>
          <a:noFill/>
          <a:ln/>
        </p:spPr>
        <p:txBody>
          <a:bodyPr wrap="square" lIns="0" tIns="0" rIns="0" bIns="0" rtlCol="0" anchor="ctr"/>
          <a:lstStyle/>
          <a:p>
            <a:pPr indent="0" marL="0">
              <a:spcAft>
                <a:spcPts val="200"/>
              </a:spcAft>
              <a:buNone/>
            </a:pPr>
            <a:r>
              <a:rPr lang="en-US" sz="1600" b="1" dirty="0">
                <a:solidFill>
                  <a:schemeClr val="tx1"/>
                </a:solidFill>
              </a:rPr>
              <a:t>Co-design with AAC users and specialists</a:t>
            </a:r>
            <a:endParaRPr lang="en-US" sz="1600" dirty="0"/>
          </a:p>
          <a:p>
            <a:pPr indent="0" marL="0">
              <a:spcAft>
                <a:spcPts val="200"/>
              </a:spcAft>
              <a:buNone/>
            </a:pPr>
            <a:r>
              <a:rPr lang="en-US" sz="1400" dirty="0">
                <a:solidFill>
                  <a:schemeClr val="tx1"/>
                </a:solidFill>
              </a:rPr>
              <a:t>Evaluation and co-design: planned, not yet arranged.</a:t>
            </a:r>
            <a:endParaRPr lang="en-US" sz="1600" dirty="0"/>
          </a:p>
        </p:txBody>
      </p:sp>
      <p:sp>
        <p:nvSpPr>
          <p:cNvPr id="17" name="Next 4 circle"/>
          <p:cNvSpPr/>
          <p:nvPr/>
        </p:nvSpPr>
        <p:spPr>
          <a:xfrm>
            <a:off x="6903720" y="5093208"/>
            <a:ext cx="603504" cy="603504"/>
          </a:xfrm>
          <a:prstGeom prst="ellipse">
            <a:avLst/>
          </a:prstGeom>
          <a:solidFill>
            <a:schemeClr val="accent1"/>
          </a:solidFill>
          <a:ln/>
        </p:spPr>
      </p:sp>
      <p:pic>
        <p:nvPicPr>
          <p:cNvPr id="18" name="Next 4 icon" descr="preencoded.png">    </p:cNvPr>
          <p:cNvPicPr>
            <a:picLocks noChangeAspect="1"/>
          </p:cNvPicPr>
          <p:nvPr/>
        </p:nvPicPr>
        <p:blipFill>
          <a:blip r:embed="rId4"/>
          <a:stretch>
            <a:fillRect/>
          </a:stretch>
        </p:blipFill>
        <p:spPr>
          <a:xfrm>
            <a:off x="7048561" y="5238049"/>
            <a:ext cx="313822" cy="313822"/>
          </a:xfrm>
          <a:prstGeom prst="rect">
            <a:avLst/>
          </a:prstGeom>
        </p:spPr>
      </p:pic>
      <p:sp>
        <p:nvSpPr>
          <p:cNvPr id="19" name="Next 4 text"/>
          <p:cNvSpPr txBox="1"/>
          <p:nvPr/>
        </p:nvSpPr>
        <p:spPr>
          <a:xfrm>
            <a:off x="7726680" y="5020056"/>
            <a:ext cx="3916375" cy="777240"/>
          </a:xfrm>
          <a:prstGeom prst="rect">
            <a:avLst/>
          </a:prstGeom>
          <a:noFill/>
          <a:ln/>
        </p:spPr>
        <p:txBody>
          <a:bodyPr wrap="square" lIns="0" tIns="0" rIns="0" bIns="0" rtlCol="0" anchor="ctr"/>
          <a:lstStyle/>
          <a:p>
            <a:pPr indent="0" marL="0">
              <a:spcAft>
                <a:spcPts val="200"/>
              </a:spcAft>
              <a:buNone/>
            </a:pPr>
            <a:r>
              <a:rPr lang="en-US" sz="1600" b="1" dirty="0">
                <a:solidFill>
                  <a:schemeClr val="tx1"/>
                </a:solidFill>
              </a:rPr>
              <a:t>Measure effort</a:t>
            </a:r>
            <a:endParaRPr lang="en-US" sz="1600" dirty="0"/>
          </a:p>
          <a:p>
            <a:pPr indent="0" marL="0">
              <a:spcAft>
                <a:spcPts val="200"/>
              </a:spcAft>
              <a:buNone/>
            </a:pPr>
            <a:r>
              <a:rPr lang="en-US" sz="1400" dirty="0">
                <a:solidFill>
                  <a:schemeClr val="tx1"/>
                </a:solidFill>
              </a:rPr>
              <a:t>Time to speech versus a scanning keyboard.</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4F5E5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9601200" cy="2194560"/>
          </a:xfrm>
          <a:prstGeom prst="rect">
            <a:avLst/>
          </a:prstGeom>
          <a:noFill/>
          <a:ln/>
        </p:spPr>
        <p:txBody>
          <a:bodyPr wrap="square" lIns="0" tIns="0" rIns="0" bIns="0" rtlCol="0" anchor="b"/>
          <a:lstStyle/>
          <a:p>
            <a:pPr indent="0" marL="0">
              <a:buNone/>
            </a:pPr>
            <a:r>
              <a:rPr lang="en-US" sz="4800" b="1" dirty="0">
                <a:solidFill>
                  <a:schemeClr val="bg1"/>
                </a:solidFill>
              </a:rPr>
              <a:t>AI offers possibilities. The person keeps authorship.</a:t>
            </a:r>
            <a:endParaRPr lang="en-US" sz="4800" dirty="0"/>
          </a:p>
        </p:txBody>
      </p:sp>
      <p:sp>
        <p:nvSpPr>
          <p:cNvPr id="3" name="Text 0"/>
          <p:cNvSpPr/>
          <p:nvPr>
            <p:ph idx="101" type="body" hasCustomPrompt="1"/>
          </p:nvPr>
        </p:nvSpPr>
        <p:spPr>
          <a:xfrm>
            <a:off x="548640" y="3931920"/>
            <a:ext cx="11094415" cy="640080"/>
          </a:xfrm>
          <a:prstGeom prst="rect">
            <a:avLst/>
          </a:prstGeom>
          <a:noFill/>
          <a:ln/>
        </p:spPr>
        <p:txBody>
          <a:bodyPr wrap="square" lIns="0" tIns="0" rIns="0" bIns="0" rtlCol="0" anchor="t"/>
          <a:lstStyle/>
          <a:p>
            <a:pPr indent="0" marL="0">
              <a:buNone/>
            </a:pPr>
            <a:r>
              <a:rPr lang="en-US" sz="2400" dirty="0">
                <a:solidFill>
                  <a:schemeClr val="accent6"/>
                </a:solidFill>
              </a:rPr>
              <a:t>Still Here · Your words. Your choice.</a:t>
            </a:r>
            <a:endParaRPr lang="en-US" sz="2400" dirty="0"/>
          </a:p>
        </p:txBody>
      </p:sp>
      <p:sp>
        <p:nvSpPr>
          <p:cNvPr id="4" name="Close references"/>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200" dirty="0">
                <a:solidFill>
                  <a:srgbClr val="CFE5DA"/>
                </a:solidFill>
              </a:rPr>
              <a:t>Evidence and limits: docs/TEST_RESULTS.md · Demo: docs/DEMO_SCRIPT.md · Q&amp;A: docs/JUDGE_QA.md</a:t>
            </a:r>
            <a:endParaRPr lang="en-US" sz="1200" dirty="0"/>
          </a:p>
        </p:txBody>
      </p:sp>
    </p:spTree>
  </p:cSld>
  <p:clrMapOvr>
    <a:masterClrMapping/>
  </p:clrMapOvr>
</p:sld>
</file>

<file path=ppt/theme/theme1.xml><?xml version="1.0" encoding="utf-8"?>
<a:theme xmlns:a="http://schemas.openxmlformats.org/drawingml/2006/main" name="Still Here">
  <a:themeElements>
    <a:clrScheme name="Still Here">
      <a:dk1>
        <a:srgbClr val="13201B"/>
      </a:dk1>
      <a:lt1>
        <a:srgbClr val="FFFFFF"/>
      </a:lt1>
      <a:dk2>
        <a:srgbClr val="0F2A22"/>
      </a:dk2>
      <a:lt2>
        <a:srgbClr val="EDF5F1"/>
      </a:lt2>
      <a:accent1>
        <a:srgbClr val="0B6B50"/>
      </a:accent1>
      <a:accent2>
        <a:srgbClr val="8A4F00"/>
      </a:accent2>
      <a:accent3>
        <a:srgbClr val="FCEBCF"/>
      </a:accent3>
      <a:accent4>
        <a:srgbClr val="4F5E58"/>
      </a:accent4>
      <a:accent5>
        <a:srgbClr val="CFE5DA"/>
      </a:accent5>
      <a:accent6>
        <a:srgbClr val="8FDCBC"/>
      </a:accent6>
      <a:hlink>
        <a:srgbClr val="0B6B50"/>
      </a:hlink>
      <a:folHlink>
        <a:srgbClr val="4F5E58"/>
      </a:folHlink>
    </a:clrScheme>
    <a:fontScheme name="Still He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Still Here: hackathon pitch</dc:title>
  <dc:subject>SASEHacks for Good, October 24, 2026</dc:subject>
  <dc:creator>Still Here team</dc:creator>
  <cp:lastModifiedBy>Still Here team</cp:lastModifiedBy>
  <cp:revision>1</cp:revision>
  <dcterms:created xsi:type="dcterms:W3CDTF">2026-10-24T17:28:19Z</dcterms:created>
  <dcterms:modified xsi:type="dcterms:W3CDTF">2026-10-24T17:28:19Z</dcterms:modified>
</cp:coreProperties>
</file>