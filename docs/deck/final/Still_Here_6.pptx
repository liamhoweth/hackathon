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f07c3953-673c-a07b-9b23-aaa6670d33d5}">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Liam and Richard, and this is Still Here. It helps people who can't speak or use their hands join a conversation while it's still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friend asks, "Are you coming to dinner tonight?" and by the time you spell out an answer, everyone has moved on. We built for ALS first because most people with ALS lose their speech while their thinking often stays intact, and that is exactly what Still Here needs. The same face controls can also help people with locked-in syndrome, cerebral palsy, high spinal cord injury, and patients who cannot speak for a while, like after intubation.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Here listens when the partner talks and suggests the two best replies, plus other ways to answer. The person raises their eyebrows to move and does a long blink to choose. The chosen reply is spoken in a natural voice, on an everyday phone or tablet with a front camera, no eye tracker or special hardware. Today we've tested it on an iPad; phones are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touch screen tapping and no eye tracker. Raising your eyebrows moves to the next option, keeping them up keeps moving, dropping your jaw goes back, and a long blink chooses and speaks. A one-minute calibration learns each person's face, and the partner simply talks.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dinner question on the iPad. Two likely replies appear, and one long blink speaks the highlighted one. If neither fits, Other ways to answer lets the person pick a direction instead. Nothing is spoken unless the person chooses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tracking runs on the iPad, so camera frames stay on the device by design, and a short calibration learns each person's face. Our server keeps the API keys private and calls OpenAI for replies and ElevenLabs for the voice, and learning is off by default and keeps only what the person approves. Next, we want to test with people with ALS, bring it to phones and offline use, and add a personal voice. Your words, your choice.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AFA"/>
        </a:solidFill>
      </p:bgPr>
    </p:bg>
    <p:spTree>
      <p:nvGrpSpPr>
        <p:cNvPr id="1" name=""/>
        <p:cNvGrpSpPr/>
        <p:nvPr/>
      </p:nvGrpSpPr>
      <p:grpSpPr>
        <a:xfrm>
          <a:off x="0" y="0"/>
          <a:ext cx="0" cy="0"/>
          <a:chOff x="0" y="0"/>
          <a:chExt cx="0" cy="0"/>
        </a:xfrm>
      </p:grpSpPr>
      <p:pic>
        <p:nvPicPr>
          <p:cNvPr id="2" name="Image 0" descr="Still Here mark">    </p:cNvPr>
          <p:cNvPicPr>
            <a:picLocks noChangeAspect="1"/>
          </p:cNvPicPr>
          <p:nvPr/>
        </p:nvPicPr>
        <p:blipFill>
          <a:blip r:embed="rId1"/>
          <a:stretch>
            <a:fillRect/>
          </a:stretch>
        </p:blipFill>
        <p:spPr>
          <a:xfrm>
            <a:off x="8028432" y="4796028"/>
            <a:ext cx="182880" cy="182880"/>
          </a:xfrm>
          <a:prstGeom prst="rect">
            <a:avLst/>
          </a:prstGeom>
        </p:spPr>
      </p:pic>
      <p:sp>
        <p:nvSpPr>
          <p:cNvPr id="3" name="Text 0"/>
          <p:cNvSpPr/>
          <p:nvPr>
            <p:ph idx="101" type="title" hasCustomPrompt="1"/>
          </p:nvPr>
        </p:nvSpPr>
        <p:spPr>
          <a:xfrm>
            <a:off x="457200" y="292608"/>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1417"/>
        </a:solidFill>
      </p:bgPr>
    </p:bg>
    <p:spTree>
      <p:nvGrpSpPr>
        <p:cNvPr id="1" name=""/>
        <p:cNvGrpSpPr/>
        <p:nvPr/>
      </p:nvGrpSpPr>
      <p:grpSpPr>
        <a:xfrm>
          <a:off x="0" y="0"/>
          <a:ext cx="0" cy="0"/>
          <a:chOff x="0" y="0"/>
          <a:chExt cx="0" cy="0"/>
        </a:xfrm>
      </p:grpSpPr>
      <p:pic>
        <p:nvPicPr>
          <p:cNvPr id="2" name="Image 0" descr="Still Here mark">    </p:cNvPr>
          <p:cNvPicPr>
            <a:picLocks noChangeAspect="1"/>
          </p:cNvPicPr>
          <p:nvPr/>
        </p:nvPicPr>
        <p:blipFill>
          <a:blip r:embed="rId1"/>
          <a:stretch>
            <a:fillRect/>
          </a:stretch>
        </p:blipFill>
        <p:spPr>
          <a:xfrm>
            <a:off x="8028432" y="4796028"/>
            <a:ext cx="182880" cy="182880"/>
          </a:xfrm>
          <a:prstGeom prst="rect">
            <a:avLst/>
          </a:prstGeom>
        </p:spPr>
      </p:pic>
      <p:sp>
        <p:nvSpPr>
          <p:cNvPr id="3" name="Text 0"/>
          <p:cNvSpPr/>
          <p:nvPr>
            <p:ph idx="101" type="title" hasCustomPrompt="1"/>
          </p:nvPr>
        </p:nvSpPr>
        <p:spPr>
          <a:xfrm>
            <a:off x="457200" y="292608"/>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121417"/>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Close">
    <p:bg>
      <p:bgPr>
        <a:solidFill>
          <a:srgbClr val="1214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4206240" cy="1737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ull Image">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ark Plain">
    <p:bg>
      <p:bgPr>
        <a:solidFill>
          <a:srgbClr val="1214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till Here">    </p:cNvPr>
          <p:cNvPicPr>
            <a:picLocks noChangeAspect="1"/>
          </p:cNvPicPr>
          <p:nvPr/>
        </p:nvPicPr>
        <p:blipFill>
          <a:blip r:embed="rId1"/>
          <a:stretch>
            <a:fillRect/>
          </a:stretch>
        </p:blipFill>
        <p:spPr>
          <a:xfrm>
            <a:off x="411480" y="1188720"/>
            <a:ext cx="4023360" cy="1005840"/>
          </a:xfrm>
          <a:prstGeom prst="rect">
            <a:avLst/>
          </a:prstGeom>
        </p:spPr>
      </p:pic>
      <p:sp>
        <p:nvSpPr>
          <p:cNvPr id="3" name="Text 0"/>
          <p:cNvSpPr txBox="1"/>
          <p:nvPr/>
        </p:nvSpPr>
        <p:spPr>
          <a:xfrm>
            <a:off x="548640" y="2423160"/>
            <a:ext cx="4023360" cy="822960"/>
          </a:xfrm>
          <a:prstGeom prst="rect">
            <a:avLst/>
          </a:prstGeom>
          <a:noFill/>
          <a:ln/>
        </p:spPr>
        <p:txBody>
          <a:bodyPr wrap="square" lIns="0" tIns="0" rIns="0" bIns="0" rtlCol="0" anchor="t"/>
          <a:lstStyle/>
          <a:p>
            <a:pPr indent="0" marL="0">
              <a:buNone/>
            </a:pPr>
            <a:r>
              <a:rPr lang="en-US" sz="2200" b="1" dirty="0">
                <a:solidFill>
                  <a:srgbClr val="7FD1B0"/>
                </a:solidFill>
              </a:rPr>
              <a:t>Be part of the conversation while it's still happening.</a:t>
            </a:r>
            <a:endParaRPr lang="en-US" sz="2200" dirty="0"/>
          </a:p>
        </p:txBody>
      </p:sp>
      <p:sp>
        <p:nvSpPr>
          <p:cNvPr id="4" name="Text 1"/>
          <p:cNvSpPr txBox="1"/>
          <p:nvPr/>
        </p:nvSpPr>
        <p:spPr>
          <a:xfrm>
            <a:off x="548640" y="4206240"/>
            <a:ext cx="4297680" cy="274320"/>
          </a:xfrm>
          <a:prstGeom prst="rect">
            <a:avLst/>
          </a:prstGeom>
          <a:noFill/>
          <a:ln/>
        </p:spPr>
        <p:txBody>
          <a:bodyPr wrap="square" lIns="0" tIns="0" rIns="0" bIns="0" rtlCol="0" anchor="t"/>
          <a:lstStyle/>
          <a:p>
            <a:pPr indent="0" marL="0">
              <a:buNone/>
            </a:pPr>
            <a:r>
              <a:rPr lang="en-US" sz="1200" dirty="0">
                <a:solidFill>
                  <a:srgbClr val="9AA0A8"/>
                </a:solidFill>
              </a:rPr>
              <a:t>Liam Howeth  ·  Richard Oduma  ·  SASEHacks for Good</a:t>
            </a:r>
            <a:endParaRPr lang="en-US" sz="1200" dirty="0"/>
          </a:p>
        </p:txBody>
      </p:sp>
      <p:sp>
        <p:nvSpPr>
          <p:cNvPr id="5" name="device frame"/>
          <p:cNvSpPr/>
          <p:nvPr/>
        </p:nvSpPr>
        <p:spPr>
          <a:xfrm>
            <a:off x="4937760" y="960120"/>
            <a:ext cx="3840480" cy="2910302"/>
          </a:xfrm>
          <a:prstGeom prst="roundRect">
            <a:avLst>
              <a:gd name="adj" fmla="val 3142"/>
            </a:avLst>
          </a:prstGeom>
          <a:solidFill>
            <a:srgbClr val="2B2F35"/>
          </a:solidFill>
          <a:ln w="9525">
            <a:solidFill>
              <a:srgbClr val="4A5058"/>
            </a:solidFill>
            <a:prstDash val="solid"/>
          </a:ln>
          <a:effectLst>
            <a:outerShdw sx="100000" sy="100000" kx="0" ky="0" algn="bl" rotWithShape="0" blurRad="101600" dist="25400" dir="5400000">
              <a:srgbClr val="000000">
                <a:alpha val="16000"/>
              </a:srgbClr>
            </a:outerShdw>
          </a:effectLst>
        </p:spPr>
      </p:sp>
      <p:pic>
        <p:nvPicPr>
          <p:cNvPr id="6" name="Image 1" descr="Still Here board on iPad: partner question and two reply cards">    </p:cNvPr>
          <p:cNvPicPr>
            <a:picLocks noChangeAspect="1"/>
          </p:cNvPicPr>
          <p:nvPr/>
        </p:nvPicPr>
        <p:blipFill>
          <a:blip r:embed="rId2"/>
          <a:stretch>
            <a:fillRect/>
          </a:stretch>
        </p:blipFill>
        <p:spPr>
          <a:xfrm>
            <a:off x="5001768" y="1024128"/>
            <a:ext cx="3712464" cy="2782286"/>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Built for people living with ALS</a:t>
            </a:r>
            <a:endParaRPr lang="en-US" sz="3200" dirty="0"/>
          </a:p>
        </p:txBody>
      </p:sp>
      <p:sp>
        <p:nvSpPr>
          <p:cNvPr id="3" name="ALS card"/>
          <p:cNvSpPr/>
          <p:nvPr/>
        </p:nvSpPr>
        <p:spPr>
          <a:xfrm>
            <a:off x="457200" y="1143000"/>
            <a:ext cx="4023360" cy="2514600"/>
          </a:xfrm>
          <a:prstGeom prst="roundRect">
            <a:avLst>
              <a:gd name="adj" fmla="val 436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Text 2"/>
          <p:cNvSpPr txBox="1"/>
          <p:nvPr/>
        </p:nvSpPr>
        <p:spPr>
          <a:xfrm>
            <a:off x="685800" y="1298448"/>
            <a:ext cx="3566160" cy="365760"/>
          </a:xfrm>
          <a:prstGeom prst="rect">
            <a:avLst/>
          </a:prstGeom>
          <a:noFill/>
          <a:ln/>
        </p:spPr>
        <p:txBody>
          <a:bodyPr wrap="square" lIns="0" tIns="0" rIns="0" bIns="0" rtlCol="0" anchor="ctr"/>
          <a:lstStyle/>
          <a:p>
            <a:pPr indent="0" marL="0">
              <a:buNone/>
            </a:pPr>
            <a:r>
              <a:rPr lang="en-US" sz="2000" b="1" dirty="0">
                <a:solidFill>
                  <a:srgbClr val="0B5D46"/>
                </a:solidFill>
              </a:rPr>
              <a:t>What is ALS?</a:t>
            </a:r>
            <a:endParaRPr lang="en-US" sz="2000" dirty="0"/>
          </a:p>
        </p:txBody>
      </p:sp>
      <p:sp>
        <p:nvSpPr>
          <p:cNvPr id="5" name="Text 3"/>
          <p:cNvSpPr txBox="1"/>
          <p:nvPr/>
        </p:nvSpPr>
        <p:spPr>
          <a:xfrm>
            <a:off x="685800" y="1737360"/>
            <a:ext cx="3566160" cy="1143000"/>
          </a:xfrm>
          <a:prstGeom prst="rect">
            <a:avLst/>
          </a:prstGeom>
          <a:noFill/>
          <a:ln/>
        </p:spPr>
        <p:txBody>
          <a:bodyPr wrap="square" lIns="0" tIns="0" rIns="0" bIns="0" rtlCol="0" anchor="t"/>
          <a:lstStyle/>
          <a:p>
            <a:pPr indent="0" marL="0">
              <a:buNone/>
            </a:pPr>
            <a:r>
              <a:rPr lang="en-US" sz="1500" dirty="0">
                <a:solidFill>
                  <a:srgbClr val="121417"/>
                </a:solidFill>
              </a:rPr>
              <a:t>A progressive disease that destroys the nerve cells controlling muscles. People lose movement, speech, and breathing. Thinking often stays intact.¹</a:t>
            </a:r>
            <a:endParaRPr lang="en-US" sz="1500" dirty="0"/>
          </a:p>
        </p:txBody>
      </p:sp>
      <p:sp>
        <p:nvSpPr>
          <p:cNvPr id="6" name="Shape 4"/>
          <p:cNvSpPr/>
          <p:nvPr/>
        </p:nvSpPr>
        <p:spPr>
          <a:xfrm>
            <a:off x="685800" y="2971800"/>
            <a:ext cx="3566160" cy="0"/>
          </a:xfrm>
          <a:prstGeom prst="line">
            <a:avLst/>
          </a:prstGeom>
          <a:noFill/>
          <a:ln w="9525">
            <a:solidFill>
              <a:srgbClr val="D9DCE0"/>
            </a:solidFill>
            <a:prstDash val="solid"/>
          </a:ln>
        </p:spPr>
      </p:sp>
      <p:sp>
        <p:nvSpPr>
          <p:cNvPr id="7" name="Text 5"/>
          <p:cNvSpPr txBox="1"/>
          <p:nvPr/>
        </p:nvSpPr>
        <p:spPr>
          <a:xfrm>
            <a:off x="685800" y="3035808"/>
            <a:ext cx="3566160" cy="502920"/>
          </a:xfrm>
          <a:prstGeom prst="rect">
            <a:avLst/>
          </a:prstGeom>
          <a:noFill/>
          <a:ln/>
        </p:spPr>
        <p:txBody>
          <a:bodyPr wrap="square" lIns="0" tIns="0" rIns="0" bIns="0" rtlCol="0" anchor="ctr"/>
          <a:lstStyle/>
          <a:p>
            <a:pPr indent="0" marL="0">
              <a:buNone/>
            </a:pPr>
            <a:r>
              <a:rPr lang="en-US" sz="1600" b="1" dirty="0">
                <a:solidFill>
                  <a:srgbClr val="0B5D46"/>
                </a:solidFill>
              </a:rPr>
              <a:t>Most people with ALS lose their speech.²</a:t>
            </a:r>
            <a:endParaRPr lang="en-US" sz="1600" dirty="0"/>
          </a:p>
        </p:txBody>
      </p:sp>
      <p:sp>
        <p:nvSpPr>
          <p:cNvPr id="8" name="also helps card"/>
          <p:cNvSpPr/>
          <p:nvPr/>
        </p:nvSpPr>
        <p:spPr>
          <a:xfrm>
            <a:off x="4663440" y="1143000"/>
            <a:ext cx="4023360" cy="2514600"/>
          </a:xfrm>
          <a:prstGeom prst="roundRect">
            <a:avLst>
              <a:gd name="adj" fmla="val 436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9" name="Text 7"/>
          <p:cNvSpPr txBox="1"/>
          <p:nvPr/>
        </p:nvSpPr>
        <p:spPr>
          <a:xfrm>
            <a:off x="4892040" y="1298448"/>
            <a:ext cx="3566160" cy="365760"/>
          </a:xfrm>
          <a:prstGeom prst="rect">
            <a:avLst/>
          </a:prstGeom>
          <a:noFill/>
          <a:ln/>
        </p:spPr>
        <p:txBody>
          <a:bodyPr wrap="square" lIns="0" tIns="0" rIns="0" bIns="0" rtlCol="0" anchor="ctr"/>
          <a:lstStyle/>
          <a:p>
            <a:pPr indent="0" marL="0">
              <a:buNone/>
            </a:pPr>
            <a:r>
              <a:rPr lang="en-US" sz="2000" b="1" dirty="0">
                <a:solidFill>
                  <a:srgbClr val="0B5D46"/>
                </a:solidFill>
              </a:rPr>
              <a:t>Also helps</a:t>
            </a:r>
            <a:endParaRPr lang="en-US" sz="2000" dirty="0"/>
          </a:p>
        </p:txBody>
      </p:sp>
      <p:pic>
        <p:nvPicPr>
          <p:cNvPr id="10" name="Image 0" descr="preencoded.png">    </p:cNvPr>
          <p:cNvPicPr>
            <a:picLocks noChangeAspect="1"/>
          </p:cNvPicPr>
          <p:nvPr/>
        </p:nvPicPr>
        <p:blipFill>
          <a:blip r:embed="rId1"/>
          <a:stretch>
            <a:fillRect/>
          </a:stretch>
        </p:blipFill>
        <p:spPr>
          <a:xfrm>
            <a:off x="4910328" y="1819656"/>
            <a:ext cx="201168" cy="201168"/>
          </a:xfrm>
          <a:prstGeom prst="rect">
            <a:avLst/>
          </a:prstGeom>
        </p:spPr>
      </p:pic>
      <p:sp>
        <p:nvSpPr>
          <p:cNvPr id="11" name="Text 8"/>
          <p:cNvSpPr txBox="1"/>
          <p:nvPr/>
        </p:nvSpPr>
        <p:spPr>
          <a:xfrm>
            <a:off x="5212080" y="1755648"/>
            <a:ext cx="3337560" cy="329184"/>
          </a:xfrm>
          <a:prstGeom prst="rect">
            <a:avLst/>
          </a:prstGeom>
          <a:noFill/>
          <a:ln/>
        </p:spPr>
        <p:txBody>
          <a:bodyPr wrap="square" lIns="0" tIns="0" rIns="0" bIns="0" rtlCol="0" anchor="ctr"/>
          <a:lstStyle/>
          <a:p>
            <a:pPr indent="0" marL="0">
              <a:buNone/>
            </a:pPr>
            <a:r>
              <a:rPr lang="en-US" sz="1400" dirty="0">
                <a:solidFill>
                  <a:srgbClr val="121417"/>
                </a:solidFill>
              </a:rPr>
              <a:t>Locked-in syndrome</a:t>
            </a:r>
            <a:endParaRPr lang="en-US" sz="1400" dirty="0"/>
          </a:p>
        </p:txBody>
      </p:sp>
      <p:pic>
        <p:nvPicPr>
          <p:cNvPr id="12" name="Image 1" descr="preencoded.png">    </p:cNvPr>
          <p:cNvPicPr>
            <a:picLocks noChangeAspect="1"/>
          </p:cNvPicPr>
          <p:nvPr/>
        </p:nvPicPr>
        <p:blipFill>
          <a:blip r:embed="rId2"/>
          <a:stretch>
            <a:fillRect/>
          </a:stretch>
        </p:blipFill>
        <p:spPr>
          <a:xfrm>
            <a:off x="4910328" y="2185416"/>
            <a:ext cx="201168" cy="201168"/>
          </a:xfrm>
          <a:prstGeom prst="rect">
            <a:avLst/>
          </a:prstGeom>
        </p:spPr>
      </p:pic>
      <p:sp>
        <p:nvSpPr>
          <p:cNvPr id="13" name="Text 9"/>
          <p:cNvSpPr txBox="1"/>
          <p:nvPr/>
        </p:nvSpPr>
        <p:spPr>
          <a:xfrm>
            <a:off x="5212080" y="2121408"/>
            <a:ext cx="3337560" cy="329184"/>
          </a:xfrm>
          <a:prstGeom prst="rect">
            <a:avLst/>
          </a:prstGeom>
          <a:noFill/>
          <a:ln/>
        </p:spPr>
        <p:txBody>
          <a:bodyPr wrap="square" lIns="0" tIns="0" rIns="0" bIns="0" rtlCol="0" anchor="ctr"/>
          <a:lstStyle/>
          <a:p>
            <a:pPr indent="0" marL="0">
              <a:buNone/>
            </a:pPr>
            <a:r>
              <a:rPr lang="en-US" sz="1400" dirty="0">
                <a:solidFill>
                  <a:srgbClr val="121417"/>
                </a:solidFill>
              </a:rPr>
              <a:t>Cerebral palsy</a:t>
            </a:r>
            <a:endParaRPr lang="en-US" sz="1400" dirty="0"/>
          </a:p>
        </p:txBody>
      </p:sp>
      <p:pic>
        <p:nvPicPr>
          <p:cNvPr id="14" name="Image 2" descr="preencoded.png">    </p:cNvPr>
          <p:cNvPicPr>
            <a:picLocks noChangeAspect="1"/>
          </p:cNvPicPr>
          <p:nvPr/>
        </p:nvPicPr>
        <p:blipFill>
          <a:blip r:embed="rId3"/>
          <a:stretch>
            <a:fillRect/>
          </a:stretch>
        </p:blipFill>
        <p:spPr>
          <a:xfrm>
            <a:off x="4910328" y="2551176"/>
            <a:ext cx="201168" cy="201168"/>
          </a:xfrm>
          <a:prstGeom prst="rect">
            <a:avLst/>
          </a:prstGeom>
        </p:spPr>
      </p:pic>
      <p:sp>
        <p:nvSpPr>
          <p:cNvPr id="15" name="Text 10"/>
          <p:cNvSpPr txBox="1"/>
          <p:nvPr/>
        </p:nvSpPr>
        <p:spPr>
          <a:xfrm>
            <a:off x="5212080" y="2487168"/>
            <a:ext cx="3337560" cy="329184"/>
          </a:xfrm>
          <a:prstGeom prst="rect">
            <a:avLst/>
          </a:prstGeom>
          <a:noFill/>
          <a:ln/>
        </p:spPr>
        <p:txBody>
          <a:bodyPr wrap="square" lIns="0" tIns="0" rIns="0" bIns="0" rtlCol="0" anchor="ctr"/>
          <a:lstStyle/>
          <a:p>
            <a:pPr indent="0" marL="0">
              <a:buNone/>
            </a:pPr>
            <a:r>
              <a:rPr lang="en-US" sz="1400" dirty="0">
                <a:solidFill>
                  <a:srgbClr val="121417"/>
                </a:solidFill>
              </a:rPr>
              <a:t>High spinal cord injury</a:t>
            </a:r>
            <a:endParaRPr lang="en-US" sz="1400" dirty="0"/>
          </a:p>
        </p:txBody>
      </p:sp>
      <p:pic>
        <p:nvPicPr>
          <p:cNvPr id="16" name="Image 3" descr="preencoded.png">    </p:cNvPr>
          <p:cNvPicPr>
            <a:picLocks noChangeAspect="1"/>
          </p:cNvPicPr>
          <p:nvPr/>
        </p:nvPicPr>
        <p:blipFill>
          <a:blip r:embed="rId4"/>
          <a:stretch>
            <a:fillRect/>
          </a:stretch>
        </p:blipFill>
        <p:spPr>
          <a:xfrm>
            <a:off x="4910328" y="2916936"/>
            <a:ext cx="201168" cy="201168"/>
          </a:xfrm>
          <a:prstGeom prst="rect">
            <a:avLst/>
          </a:prstGeom>
        </p:spPr>
      </p:pic>
      <p:sp>
        <p:nvSpPr>
          <p:cNvPr id="17" name="Text 11"/>
          <p:cNvSpPr txBox="1"/>
          <p:nvPr/>
        </p:nvSpPr>
        <p:spPr>
          <a:xfrm>
            <a:off x="5212080" y="2852928"/>
            <a:ext cx="3337560" cy="329184"/>
          </a:xfrm>
          <a:prstGeom prst="rect">
            <a:avLst/>
          </a:prstGeom>
          <a:noFill/>
          <a:ln/>
        </p:spPr>
        <p:txBody>
          <a:bodyPr wrap="square" lIns="0" tIns="0" rIns="0" bIns="0" rtlCol="0" anchor="ctr"/>
          <a:lstStyle/>
          <a:p>
            <a:pPr indent="0" marL="0">
              <a:buNone/>
            </a:pPr>
            <a:r>
              <a:rPr lang="en-US" sz="1400" dirty="0">
                <a:solidFill>
                  <a:srgbClr val="121417"/>
                </a:solidFill>
              </a:rPr>
              <a:t>Muscular dystrophy or MS</a:t>
            </a:r>
            <a:endParaRPr lang="en-US" sz="1400" dirty="0"/>
          </a:p>
        </p:txBody>
      </p:sp>
      <p:pic>
        <p:nvPicPr>
          <p:cNvPr id="18" name="Image 4" descr="preencoded.png">    </p:cNvPr>
          <p:cNvPicPr>
            <a:picLocks noChangeAspect="1"/>
          </p:cNvPicPr>
          <p:nvPr/>
        </p:nvPicPr>
        <p:blipFill>
          <a:blip r:embed="rId5"/>
          <a:stretch>
            <a:fillRect/>
          </a:stretch>
        </p:blipFill>
        <p:spPr>
          <a:xfrm>
            <a:off x="4910328" y="3282696"/>
            <a:ext cx="201168" cy="201168"/>
          </a:xfrm>
          <a:prstGeom prst="rect">
            <a:avLst/>
          </a:prstGeom>
        </p:spPr>
      </p:pic>
      <p:sp>
        <p:nvSpPr>
          <p:cNvPr id="19" name="Text 12"/>
          <p:cNvSpPr txBox="1"/>
          <p:nvPr/>
        </p:nvSpPr>
        <p:spPr>
          <a:xfrm>
            <a:off x="5212080" y="3218688"/>
            <a:ext cx="3337560" cy="329184"/>
          </a:xfrm>
          <a:prstGeom prst="rect">
            <a:avLst/>
          </a:prstGeom>
          <a:noFill/>
          <a:ln/>
        </p:spPr>
        <p:txBody>
          <a:bodyPr wrap="square" lIns="0" tIns="0" rIns="0" bIns="0" rtlCol="0" anchor="ctr"/>
          <a:lstStyle/>
          <a:p>
            <a:pPr indent="0" marL="0">
              <a:buNone/>
            </a:pPr>
            <a:r>
              <a:rPr lang="en-US" sz="1400" dirty="0">
                <a:solidFill>
                  <a:srgbClr val="121417"/>
                </a:solidFill>
              </a:rPr>
              <a:t>Intubated hospital patients</a:t>
            </a:r>
            <a:endParaRPr lang="en-US" sz="1400" dirty="0"/>
          </a:p>
        </p:txBody>
      </p:sp>
      <p:sp>
        <p:nvSpPr>
          <p:cNvPr id="20" name="Text 13"/>
          <p:cNvSpPr txBox="1"/>
          <p:nvPr/>
        </p:nvSpPr>
        <p:spPr>
          <a:xfrm>
            <a:off x="457200" y="3767328"/>
            <a:ext cx="1325880" cy="411480"/>
          </a:xfrm>
          <a:prstGeom prst="rect">
            <a:avLst/>
          </a:prstGeom>
          <a:noFill/>
          <a:ln/>
        </p:spPr>
        <p:txBody>
          <a:bodyPr wrap="square" lIns="0" tIns="0" rIns="0" bIns="0" rtlCol="0" anchor="ctr"/>
          <a:lstStyle/>
          <a:p>
            <a:pPr indent="0" marL="0">
              <a:buNone/>
            </a:pPr>
            <a:r>
              <a:rPr lang="en-US" sz="2400" b="1" dirty="0">
                <a:solidFill>
                  <a:srgbClr val="0B5D46"/>
                </a:solidFill>
              </a:rPr>
              <a:t>5M+</a:t>
            </a:r>
            <a:endParaRPr lang="en-US" sz="2400" dirty="0"/>
          </a:p>
        </p:txBody>
      </p:sp>
      <p:sp>
        <p:nvSpPr>
          <p:cNvPr id="21" name="Text 14"/>
          <p:cNvSpPr txBox="1"/>
          <p:nvPr/>
        </p:nvSpPr>
        <p:spPr>
          <a:xfrm>
            <a:off x="1828800" y="3767328"/>
            <a:ext cx="2651760" cy="411480"/>
          </a:xfrm>
          <a:prstGeom prst="rect">
            <a:avLst/>
          </a:prstGeom>
          <a:noFill/>
          <a:ln/>
        </p:spPr>
        <p:txBody>
          <a:bodyPr wrap="square" lIns="0" tIns="0" rIns="0" bIns="0" rtlCol="0" anchor="ctr"/>
          <a:lstStyle/>
          <a:p>
            <a:pPr indent="0" marL="0">
              <a:buNone/>
            </a:pPr>
            <a:r>
              <a:rPr lang="en-US" sz="1400" dirty="0">
                <a:solidFill>
                  <a:srgbClr val="464B53"/>
                </a:solidFill>
              </a:rPr>
              <a:t>Americans can't rely on speech³</a:t>
            </a:r>
            <a:endParaRPr lang="en-US" sz="1400" dirty="0"/>
          </a:p>
        </p:txBody>
      </p:sp>
      <p:sp>
        <p:nvSpPr>
          <p:cNvPr id="22" name="Text 15"/>
          <p:cNvSpPr txBox="1"/>
          <p:nvPr/>
        </p:nvSpPr>
        <p:spPr>
          <a:xfrm>
            <a:off x="4663440" y="3767328"/>
            <a:ext cx="1325880" cy="411480"/>
          </a:xfrm>
          <a:prstGeom prst="rect">
            <a:avLst/>
          </a:prstGeom>
          <a:noFill/>
          <a:ln/>
        </p:spPr>
        <p:txBody>
          <a:bodyPr wrap="square" lIns="0" tIns="0" rIns="0" bIns="0" rtlCol="0" anchor="ctr"/>
          <a:lstStyle/>
          <a:p>
            <a:pPr indent="0" marL="0">
              <a:buNone/>
            </a:pPr>
            <a:r>
              <a:rPr lang="en-US" sz="2400" b="1" dirty="0">
                <a:solidFill>
                  <a:srgbClr val="0B5D46"/>
                </a:solidFill>
              </a:rPr>
              <a:t>$10,000+</a:t>
            </a:r>
            <a:endParaRPr lang="en-US" sz="2400" dirty="0"/>
          </a:p>
        </p:txBody>
      </p:sp>
      <p:sp>
        <p:nvSpPr>
          <p:cNvPr id="23" name="Text 16"/>
          <p:cNvSpPr txBox="1"/>
          <p:nvPr/>
        </p:nvSpPr>
        <p:spPr>
          <a:xfrm>
            <a:off x="6035040" y="3767328"/>
            <a:ext cx="2651760" cy="411480"/>
          </a:xfrm>
          <a:prstGeom prst="rect">
            <a:avLst/>
          </a:prstGeom>
          <a:noFill/>
          <a:ln/>
        </p:spPr>
        <p:txBody>
          <a:bodyPr wrap="square" lIns="0" tIns="0" rIns="0" bIns="0" rtlCol="0" anchor="ctr"/>
          <a:lstStyle/>
          <a:p>
            <a:pPr indent="0" marL="0">
              <a:buNone/>
            </a:pPr>
            <a:r>
              <a:rPr lang="en-US" sz="1400" dirty="0">
                <a:solidFill>
                  <a:srgbClr val="464B53"/>
                </a:solidFill>
              </a:rPr>
              <a:t>eye-gaze devices⁴</a:t>
            </a:r>
            <a:endParaRPr lang="en-US" sz="1400" dirty="0"/>
          </a:p>
        </p:txBody>
      </p:sp>
      <p:sp>
        <p:nvSpPr>
          <p:cNvPr id="24" name="Text 17"/>
          <p:cNvSpPr txBox="1"/>
          <p:nvPr/>
        </p:nvSpPr>
        <p:spPr>
          <a:xfrm>
            <a:off x="457200" y="4279392"/>
            <a:ext cx="7406640" cy="411480"/>
          </a:xfrm>
          <a:prstGeom prst="rect">
            <a:avLst/>
          </a:prstGeom>
          <a:noFill/>
          <a:ln/>
        </p:spPr>
        <p:txBody>
          <a:bodyPr wrap="square" lIns="0" tIns="0" rIns="0" bIns="0" rtlCol="0" anchor="t"/>
          <a:lstStyle/>
          <a:p>
            <a:pPr indent="0" marL="0">
              <a:buNone/>
            </a:pPr>
            <a:r>
              <a:rPr lang="en-US" sz="800" dirty="0">
                <a:solidFill>
                  <a:srgbClr val="464B53"/>
                </a:solidFill>
              </a:rPr>
              <a:t>¹ ALS Association, "What is ALS?" and "Changes in Thinking" (accessed 2026-10-24).  ² Eshghi et al., Scientific Reports 12:15713 (2022).  ³ CommunicationFIRST, organization estimate (accessed 2026-10-24).  ⁴ Montana AT Program, Tobii I-16 eye-gaze device, est. $10,695 (older model).</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Listen. Suggest. Choose. Speak.</a:t>
            </a:r>
            <a:endParaRPr lang="en-US" sz="3200" dirty="0"/>
          </a:p>
        </p:txBody>
      </p:sp>
      <p:sp>
        <p:nvSpPr>
          <p:cNvPr id="3" name="card"/>
          <p:cNvSpPr/>
          <p:nvPr/>
        </p:nvSpPr>
        <p:spPr>
          <a:xfrm>
            <a:off x="457200" y="1234440"/>
            <a:ext cx="1783080" cy="22402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icon LuMic"/>
          <p:cNvSpPr/>
          <p:nvPr/>
        </p:nvSpPr>
        <p:spPr>
          <a:xfrm>
            <a:off x="960120" y="1463040"/>
            <a:ext cx="777240" cy="777240"/>
          </a:xfrm>
          <a:prstGeom prst="ellipse">
            <a:avLst/>
          </a:prstGeom>
          <a:solidFill>
            <a:srgbClr val="0B5D46"/>
          </a:solidFill>
          <a:ln w="12700">
            <a:solidFill>
              <a:srgbClr val="0B5D46"/>
            </a:solidFill>
            <a:prstDash val="solid"/>
          </a:ln>
        </p:spPr>
      </p:sp>
      <p:pic>
        <p:nvPicPr>
          <p:cNvPr id="5" name="Image 0" descr="preencoded.png">    </p:cNvPr>
          <p:cNvPicPr>
            <a:picLocks noChangeAspect="1"/>
          </p:cNvPicPr>
          <p:nvPr/>
        </p:nvPicPr>
        <p:blipFill>
          <a:blip r:embed="rId1"/>
          <a:stretch>
            <a:fillRect/>
          </a:stretch>
        </p:blipFill>
        <p:spPr>
          <a:xfrm>
            <a:off x="1154430" y="1657350"/>
            <a:ext cx="388620" cy="388620"/>
          </a:xfrm>
          <a:prstGeom prst="rect">
            <a:avLst/>
          </a:prstGeom>
        </p:spPr>
      </p:pic>
      <p:sp>
        <p:nvSpPr>
          <p:cNvPr id="6" name="Text 3"/>
          <p:cNvSpPr txBox="1"/>
          <p:nvPr/>
        </p:nvSpPr>
        <p:spPr>
          <a:xfrm>
            <a:off x="548640" y="2350008"/>
            <a:ext cx="1600200" cy="411480"/>
          </a:xfrm>
          <a:prstGeom prst="rect">
            <a:avLst/>
          </a:prstGeom>
          <a:noFill/>
          <a:ln/>
        </p:spPr>
        <p:txBody>
          <a:bodyPr wrap="square" lIns="0" tIns="0" rIns="0" bIns="0" rtlCol="0" anchor="ctr"/>
          <a:lstStyle/>
          <a:p>
            <a:pPr algn="ctr" indent="0" marL="0">
              <a:buNone/>
            </a:pPr>
            <a:r>
              <a:rPr lang="en-US" sz="2200" b="1" dirty="0">
                <a:solidFill>
                  <a:srgbClr val="121417"/>
                </a:solidFill>
              </a:rPr>
              <a:t>Listen</a:t>
            </a:r>
            <a:endParaRPr lang="en-US" sz="2200" dirty="0"/>
          </a:p>
        </p:txBody>
      </p:sp>
      <p:sp>
        <p:nvSpPr>
          <p:cNvPr id="7" name="Text 4"/>
          <p:cNvSpPr txBox="1"/>
          <p:nvPr/>
        </p:nvSpPr>
        <p:spPr>
          <a:xfrm>
            <a:off x="594360" y="2788920"/>
            <a:ext cx="1508760" cy="566928"/>
          </a:xfrm>
          <a:prstGeom prst="rect">
            <a:avLst/>
          </a:prstGeom>
          <a:noFill/>
          <a:ln/>
        </p:spPr>
        <p:txBody>
          <a:bodyPr wrap="square" lIns="0" tIns="0" rIns="0" bIns="0" rtlCol="0" anchor="t"/>
          <a:lstStyle/>
          <a:p>
            <a:pPr algn="ctr" indent="0" marL="0">
              <a:buNone/>
            </a:pPr>
            <a:r>
              <a:rPr lang="en-US" sz="1400" dirty="0">
                <a:solidFill>
                  <a:srgbClr val="464B53"/>
                </a:solidFill>
              </a:rPr>
              <a:t>Partner just talks</a:t>
            </a:r>
            <a:endParaRPr lang="en-US" sz="1400" dirty="0"/>
          </a:p>
        </p:txBody>
      </p:sp>
      <p:sp>
        <p:nvSpPr>
          <p:cNvPr id="8" name="Shape 5"/>
          <p:cNvSpPr/>
          <p:nvPr/>
        </p:nvSpPr>
        <p:spPr>
          <a:xfrm>
            <a:off x="2295144" y="1856232"/>
            <a:ext cx="256032" cy="914"/>
          </a:xfrm>
          <a:prstGeom prst="line">
            <a:avLst/>
          </a:prstGeom>
          <a:noFill/>
          <a:ln w="19050">
            <a:solidFill>
              <a:srgbClr val="0B5D46"/>
            </a:solidFill>
            <a:prstDash val="solid"/>
            <a:tailEnd type="triangle"/>
          </a:ln>
        </p:spPr>
      </p:sp>
      <p:sp>
        <p:nvSpPr>
          <p:cNvPr id="9" name="card"/>
          <p:cNvSpPr/>
          <p:nvPr/>
        </p:nvSpPr>
        <p:spPr>
          <a:xfrm>
            <a:off x="2606040" y="1234440"/>
            <a:ext cx="1783080" cy="22402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0" name="icon LuMessagesSquare"/>
          <p:cNvSpPr/>
          <p:nvPr/>
        </p:nvSpPr>
        <p:spPr>
          <a:xfrm>
            <a:off x="3108960" y="1463040"/>
            <a:ext cx="777240" cy="777240"/>
          </a:xfrm>
          <a:prstGeom prst="ellipse">
            <a:avLst/>
          </a:prstGeom>
          <a:solidFill>
            <a:srgbClr val="0B5D46"/>
          </a:solidFill>
          <a:ln w="12700">
            <a:solidFill>
              <a:srgbClr val="0B5D46"/>
            </a:solidFill>
            <a:prstDash val="solid"/>
          </a:ln>
        </p:spPr>
      </p:sp>
      <p:pic>
        <p:nvPicPr>
          <p:cNvPr id="11" name="Image 1" descr="preencoded.png">    </p:cNvPr>
          <p:cNvPicPr>
            <a:picLocks noChangeAspect="1"/>
          </p:cNvPicPr>
          <p:nvPr/>
        </p:nvPicPr>
        <p:blipFill>
          <a:blip r:embed="rId2"/>
          <a:stretch>
            <a:fillRect/>
          </a:stretch>
        </p:blipFill>
        <p:spPr>
          <a:xfrm>
            <a:off x="3303270" y="1657350"/>
            <a:ext cx="388620" cy="388620"/>
          </a:xfrm>
          <a:prstGeom prst="rect">
            <a:avLst/>
          </a:prstGeom>
        </p:spPr>
      </p:pic>
      <p:sp>
        <p:nvSpPr>
          <p:cNvPr id="12" name="Text 8"/>
          <p:cNvSpPr txBox="1"/>
          <p:nvPr/>
        </p:nvSpPr>
        <p:spPr>
          <a:xfrm>
            <a:off x="2697480" y="2350008"/>
            <a:ext cx="1600200" cy="411480"/>
          </a:xfrm>
          <a:prstGeom prst="rect">
            <a:avLst/>
          </a:prstGeom>
          <a:noFill/>
          <a:ln/>
        </p:spPr>
        <p:txBody>
          <a:bodyPr wrap="square" lIns="0" tIns="0" rIns="0" bIns="0" rtlCol="0" anchor="ctr"/>
          <a:lstStyle/>
          <a:p>
            <a:pPr algn="ctr" indent="0" marL="0">
              <a:buNone/>
            </a:pPr>
            <a:r>
              <a:rPr lang="en-US" sz="2200" b="1" dirty="0">
                <a:solidFill>
                  <a:srgbClr val="121417"/>
                </a:solidFill>
              </a:rPr>
              <a:t>Suggest</a:t>
            </a:r>
            <a:endParaRPr lang="en-US" sz="2200" dirty="0"/>
          </a:p>
        </p:txBody>
      </p:sp>
      <p:sp>
        <p:nvSpPr>
          <p:cNvPr id="13" name="Text 9"/>
          <p:cNvSpPr txBox="1"/>
          <p:nvPr/>
        </p:nvSpPr>
        <p:spPr>
          <a:xfrm>
            <a:off x="2743200" y="2788920"/>
            <a:ext cx="1508760" cy="566928"/>
          </a:xfrm>
          <a:prstGeom prst="rect">
            <a:avLst/>
          </a:prstGeom>
          <a:noFill/>
          <a:ln/>
        </p:spPr>
        <p:txBody>
          <a:bodyPr wrap="square" lIns="0" tIns="0" rIns="0" bIns="0" rtlCol="0" anchor="t"/>
          <a:lstStyle/>
          <a:p>
            <a:pPr algn="ctr" indent="0" marL="0">
              <a:buNone/>
            </a:pPr>
            <a:r>
              <a:rPr lang="en-US" sz="1400" dirty="0">
                <a:solidFill>
                  <a:srgbClr val="464B53"/>
                </a:solidFill>
              </a:rPr>
              <a:t>Two best replies + other ways</a:t>
            </a:r>
            <a:endParaRPr lang="en-US" sz="1400" dirty="0"/>
          </a:p>
        </p:txBody>
      </p:sp>
      <p:sp>
        <p:nvSpPr>
          <p:cNvPr id="14" name="Shape 10"/>
          <p:cNvSpPr/>
          <p:nvPr/>
        </p:nvSpPr>
        <p:spPr>
          <a:xfrm>
            <a:off x="4443984" y="1856232"/>
            <a:ext cx="256032" cy="914"/>
          </a:xfrm>
          <a:prstGeom prst="line">
            <a:avLst/>
          </a:prstGeom>
          <a:noFill/>
          <a:ln w="19050">
            <a:solidFill>
              <a:srgbClr val="0B5D46"/>
            </a:solidFill>
            <a:prstDash val="solid"/>
            <a:tailEnd type="triangle"/>
          </a:ln>
        </p:spPr>
      </p:sp>
      <p:sp>
        <p:nvSpPr>
          <p:cNvPr id="15" name="card"/>
          <p:cNvSpPr/>
          <p:nvPr/>
        </p:nvSpPr>
        <p:spPr>
          <a:xfrm>
            <a:off x="4754880" y="1234440"/>
            <a:ext cx="1783080" cy="22402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6" name="icon LuScanFace"/>
          <p:cNvSpPr/>
          <p:nvPr/>
        </p:nvSpPr>
        <p:spPr>
          <a:xfrm>
            <a:off x="5257800" y="1463040"/>
            <a:ext cx="777240" cy="777240"/>
          </a:xfrm>
          <a:prstGeom prst="ellipse">
            <a:avLst/>
          </a:prstGeom>
          <a:solidFill>
            <a:srgbClr val="0B5D46"/>
          </a:solidFill>
          <a:ln w="12700">
            <a:solidFill>
              <a:srgbClr val="0B5D46"/>
            </a:solidFill>
            <a:prstDash val="solid"/>
          </a:ln>
        </p:spPr>
      </p:sp>
      <p:pic>
        <p:nvPicPr>
          <p:cNvPr id="17" name="Image 2" descr="preencoded.png">    </p:cNvPr>
          <p:cNvPicPr>
            <a:picLocks noChangeAspect="1"/>
          </p:cNvPicPr>
          <p:nvPr/>
        </p:nvPicPr>
        <p:blipFill>
          <a:blip r:embed="rId3"/>
          <a:stretch>
            <a:fillRect/>
          </a:stretch>
        </p:blipFill>
        <p:spPr>
          <a:xfrm>
            <a:off x="5452110" y="1657350"/>
            <a:ext cx="388620" cy="388620"/>
          </a:xfrm>
          <a:prstGeom prst="rect">
            <a:avLst/>
          </a:prstGeom>
        </p:spPr>
      </p:pic>
      <p:sp>
        <p:nvSpPr>
          <p:cNvPr id="18" name="Text 13"/>
          <p:cNvSpPr txBox="1"/>
          <p:nvPr/>
        </p:nvSpPr>
        <p:spPr>
          <a:xfrm>
            <a:off x="4846320" y="2350008"/>
            <a:ext cx="1600200" cy="411480"/>
          </a:xfrm>
          <a:prstGeom prst="rect">
            <a:avLst/>
          </a:prstGeom>
          <a:noFill/>
          <a:ln/>
        </p:spPr>
        <p:txBody>
          <a:bodyPr wrap="square" lIns="0" tIns="0" rIns="0" bIns="0" rtlCol="0" anchor="ctr"/>
          <a:lstStyle/>
          <a:p>
            <a:pPr algn="ctr" indent="0" marL="0">
              <a:buNone/>
            </a:pPr>
            <a:r>
              <a:rPr lang="en-US" sz="2200" b="1" dirty="0">
                <a:solidFill>
                  <a:srgbClr val="121417"/>
                </a:solidFill>
              </a:rPr>
              <a:t>Choose</a:t>
            </a:r>
            <a:endParaRPr lang="en-US" sz="2200" dirty="0"/>
          </a:p>
        </p:txBody>
      </p:sp>
      <p:sp>
        <p:nvSpPr>
          <p:cNvPr id="19" name="Text 14"/>
          <p:cNvSpPr txBox="1"/>
          <p:nvPr/>
        </p:nvSpPr>
        <p:spPr>
          <a:xfrm>
            <a:off x="4892040" y="2788920"/>
            <a:ext cx="1508760" cy="566928"/>
          </a:xfrm>
          <a:prstGeom prst="rect">
            <a:avLst/>
          </a:prstGeom>
          <a:noFill/>
          <a:ln/>
        </p:spPr>
        <p:txBody>
          <a:bodyPr wrap="square" lIns="0" tIns="0" rIns="0" bIns="0" rtlCol="0" anchor="t"/>
          <a:lstStyle/>
          <a:p>
            <a:pPr algn="ctr" indent="0" marL="0">
              <a:buNone/>
            </a:pPr>
            <a:r>
              <a:rPr lang="en-US" sz="1400" dirty="0">
                <a:solidFill>
                  <a:srgbClr val="464B53"/>
                </a:solidFill>
              </a:rPr>
              <a:t>Eyebrows move, blink picks</a:t>
            </a:r>
            <a:endParaRPr lang="en-US" sz="1400" dirty="0"/>
          </a:p>
        </p:txBody>
      </p:sp>
      <p:sp>
        <p:nvSpPr>
          <p:cNvPr id="20" name="Shape 15"/>
          <p:cNvSpPr/>
          <p:nvPr/>
        </p:nvSpPr>
        <p:spPr>
          <a:xfrm>
            <a:off x="6592824" y="1856232"/>
            <a:ext cx="256032" cy="914"/>
          </a:xfrm>
          <a:prstGeom prst="line">
            <a:avLst/>
          </a:prstGeom>
          <a:noFill/>
          <a:ln w="19050">
            <a:solidFill>
              <a:srgbClr val="0B5D46"/>
            </a:solidFill>
            <a:prstDash val="solid"/>
            <a:tailEnd type="triangle"/>
          </a:ln>
        </p:spPr>
      </p:sp>
      <p:sp>
        <p:nvSpPr>
          <p:cNvPr id="21" name="card"/>
          <p:cNvSpPr/>
          <p:nvPr/>
        </p:nvSpPr>
        <p:spPr>
          <a:xfrm>
            <a:off x="6903720" y="1234440"/>
            <a:ext cx="1783080" cy="22402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22" name="icon LuVolume2"/>
          <p:cNvSpPr/>
          <p:nvPr/>
        </p:nvSpPr>
        <p:spPr>
          <a:xfrm>
            <a:off x="7406640" y="1463040"/>
            <a:ext cx="777240" cy="777240"/>
          </a:xfrm>
          <a:prstGeom prst="ellipse">
            <a:avLst/>
          </a:prstGeom>
          <a:solidFill>
            <a:srgbClr val="0B5D46"/>
          </a:solidFill>
          <a:ln w="12700">
            <a:solidFill>
              <a:srgbClr val="0B5D46"/>
            </a:solidFill>
            <a:prstDash val="solid"/>
          </a:ln>
        </p:spPr>
      </p:sp>
      <p:pic>
        <p:nvPicPr>
          <p:cNvPr id="23" name="Image 3" descr="preencoded.png">    </p:cNvPr>
          <p:cNvPicPr>
            <a:picLocks noChangeAspect="1"/>
          </p:cNvPicPr>
          <p:nvPr/>
        </p:nvPicPr>
        <p:blipFill>
          <a:blip r:embed="rId4"/>
          <a:stretch>
            <a:fillRect/>
          </a:stretch>
        </p:blipFill>
        <p:spPr>
          <a:xfrm>
            <a:off x="7600950" y="1657350"/>
            <a:ext cx="388620" cy="388620"/>
          </a:xfrm>
          <a:prstGeom prst="rect">
            <a:avLst/>
          </a:prstGeom>
        </p:spPr>
      </p:pic>
      <p:sp>
        <p:nvSpPr>
          <p:cNvPr id="24" name="Text 18"/>
          <p:cNvSpPr txBox="1"/>
          <p:nvPr/>
        </p:nvSpPr>
        <p:spPr>
          <a:xfrm>
            <a:off x="6995160" y="2350008"/>
            <a:ext cx="1600200" cy="411480"/>
          </a:xfrm>
          <a:prstGeom prst="rect">
            <a:avLst/>
          </a:prstGeom>
          <a:noFill/>
          <a:ln/>
        </p:spPr>
        <p:txBody>
          <a:bodyPr wrap="square" lIns="0" tIns="0" rIns="0" bIns="0" rtlCol="0" anchor="ctr"/>
          <a:lstStyle/>
          <a:p>
            <a:pPr algn="ctr" indent="0" marL="0">
              <a:buNone/>
            </a:pPr>
            <a:r>
              <a:rPr lang="en-US" sz="2200" b="1" dirty="0">
                <a:solidFill>
                  <a:srgbClr val="121417"/>
                </a:solidFill>
              </a:rPr>
              <a:t>Speak</a:t>
            </a:r>
            <a:endParaRPr lang="en-US" sz="2200" dirty="0"/>
          </a:p>
        </p:txBody>
      </p:sp>
      <p:sp>
        <p:nvSpPr>
          <p:cNvPr id="25" name="Text 19"/>
          <p:cNvSpPr txBox="1"/>
          <p:nvPr/>
        </p:nvSpPr>
        <p:spPr>
          <a:xfrm>
            <a:off x="7040880" y="2788920"/>
            <a:ext cx="1508760" cy="566928"/>
          </a:xfrm>
          <a:prstGeom prst="rect">
            <a:avLst/>
          </a:prstGeom>
          <a:noFill/>
          <a:ln/>
        </p:spPr>
        <p:txBody>
          <a:bodyPr wrap="square" lIns="0" tIns="0" rIns="0" bIns="0" rtlCol="0" anchor="t"/>
          <a:lstStyle/>
          <a:p>
            <a:pPr algn="ctr" indent="0" marL="0">
              <a:buNone/>
            </a:pPr>
            <a:r>
              <a:rPr lang="en-US" sz="1400" dirty="0">
                <a:solidFill>
                  <a:srgbClr val="464B53"/>
                </a:solidFill>
              </a:rPr>
              <a:t>Natural voice</a:t>
            </a:r>
            <a:endParaRPr lang="en-US" sz="1400" dirty="0"/>
          </a:p>
        </p:txBody>
      </p:sp>
      <p:pic>
        <p:nvPicPr>
          <p:cNvPr id="26" name="Image 4" descr="Phone or tablet">    </p:cNvPr>
          <p:cNvPicPr>
            <a:picLocks noChangeAspect="1"/>
          </p:cNvPicPr>
          <p:nvPr/>
        </p:nvPicPr>
        <p:blipFill>
          <a:blip r:embed="rId5"/>
          <a:stretch>
            <a:fillRect/>
          </a:stretch>
        </p:blipFill>
        <p:spPr>
          <a:xfrm>
            <a:off x="1600200" y="3822192"/>
            <a:ext cx="457200" cy="457200"/>
          </a:xfrm>
          <a:prstGeom prst="rect">
            <a:avLst/>
          </a:prstGeom>
        </p:spPr>
      </p:pic>
      <p:sp>
        <p:nvSpPr>
          <p:cNvPr id="27" name="Text 20"/>
          <p:cNvSpPr txBox="1"/>
          <p:nvPr/>
        </p:nvSpPr>
        <p:spPr>
          <a:xfrm>
            <a:off x="2148840" y="3794760"/>
            <a:ext cx="5669280" cy="502920"/>
          </a:xfrm>
          <a:prstGeom prst="rect">
            <a:avLst/>
          </a:prstGeom>
          <a:noFill/>
          <a:ln/>
        </p:spPr>
        <p:txBody>
          <a:bodyPr wrap="square" lIns="0" tIns="0" rIns="0" bIns="0" rtlCol="0" anchor="ctr"/>
          <a:lstStyle/>
          <a:p>
            <a:pPr indent="0" marL="0">
              <a:buNone/>
            </a:pPr>
            <a:r>
              <a:rPr lang="en-US" sz="2400" b="1" dirty="0">
                <a:solidFill>
                  <a:srgbClr val="0B5D46"/>
                </a:solidFill>
              </a:rPr>
              <a:t>Any phone or tablet. No special hardware.</a:t>
            </a:r>
            <a:endParaRPr lang="en-US" sz="2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Your face is the controller</a:t>
            </a:r>
            <a:endParaRPr lang="en-US" sz="3200" dirty="0"/>
          </a:p>
        </p:txBody>
      </p:sp>
      <p:sp>
        <p:nvSpPr>
          <p:cNvPr id="3" name="gesture row"/>
          <p:cNvSpPr/>
          <p:nvPr/>
        </p:nvSpPr>
        <p:spPr>
          <a:xfrm>
            <a:off x="457200" y="1143000"/>
            <a:ext cx="4572000" cy="603504"/>
          </a:xfrm>
          <a:prstGeom prst="roundRect">
            <a:avLst>
              <a:gd name="adj" fmla="val 18182"/>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icon LuChevronsUp"/>
          <p:cNvSpPr/>
          <p:nvPr/>
        </p:nvSpPr>
        <p:spPr>
          <a:xfrm>
            <a:off x="576072" y="1225296"/>
            <a:ext cx="438912" cy="438912"/>
          </a:xfrm>
          <a:prstGeom prst="ellipse">
            <a:avLst/>
          </a:prstGeom>
          <a:solidFill>
            <a:srgbClr val="0B5D46"/>
          </a:solidFill>
          <a:ln w="12700">
            <a:solidFill>
              <a:srgbClr val="0B5D46"/>
            </a:solidFill>
            <a:prstDash val="solid"/>
          </a:ln>
        </p:spPr>
      </p:sp>
      <p:pic>
        <p:nvPicPr>
          <p:cNvPr id="5" name="Image 0" descr="preencoded.png">    </p:cNvPr>
          <p:cNvPicPr>
            <a:picLocks noChangeAspect="1"/>
          </p:cNvPicPr>
          <p:nvPr/>
        </p:nvPicPr>
        <p:blipFill>
          <a:blip r:embed="rId1"/>
          <a:stretch>
            <a:fillRect/>
          </a:stretch>
        </p:blipFill>
        <p:spPr>
          <a:xfrm>
            <a:off x="685800" y="1335024"/>
            <a:ext cx="219456" cy="219456"/>
          </a:xfrm>
          <a:prstGeom prst="rect">
            <a:avLst/>
          </a:prstGeom>
        </p:spPr>
      </p:pic>
      <p:sp>
        <p:nvSpPr>
          <p:cNvPr id="6" name="Text 3"/>
          <p:cNvSpPr txBox="1"/>
          <p:nvPr/>
        </p:nvSpPr>
        <p:spPr>
          <a:xfrm>
            <a:off x="1170432" y="1143000"/>
            <a:ext cx="1554480" cy="603504"/>
          </a:xfrm>
          <a:prstGeom prst="rect">
            <a:avLst/>
          </a:prstGeom>
          <a:noFill/>
          <a:ln/>
        </p:spPr>
        <p:txBody>
          <a:bodyPr wrap="square" lIns="0" tIns="0" rIns="0" bIns="0" rtlCol="0" anchor="ctr"/>
          <a:lstStyle/>
          <a:p>
            <a:pPr indent="0" marL="0">
              <a:buNone/>
            </a:pPr>
            <a:r>
              <a:rPr lang="en-US" sz="1700" b="1" dirty="0">
                <a:solidFill>
                  <a:srgbClr val="121417"/>
                </a:solidFill>
              </a:rPr>
              <a:t>Raise eyebrows</a:t>
            </a:r>
            <a:endParaRPr lang="en-US" sz="1700" dirty="0"/>
          </a:p>
        </p:txBody>
      </p:sp>
      <p:sp>
        <p:nvSpPr>
          <p:cNvPr id="7" name="Shape 4"/>
          <p:cNvSpPr/>
          <p:nvPr/>
        </p:nvSpPr>
        <p:spPr>
          <a:xfrm>
            <a:off x="2743200" y="1444752"/>
            <a:ext cx="320040" cy="914"/>
          </a:xfrm>
          <a:prstGeom prst="line">
            <a:avLst/>
          </a:prstGeom>
          <a:noFill/>
          <a:ln w="19050">
            <a:solidFill>
              <a:srgbClr val="0B5D46"/>
            </a:solidFill>
            <a:prstDash val="solid"/>
            <a:tailEnd type="triangle"/>
          </a:ln>
        </p:spPr>
      </p:sp>
      <p:sp>
        <p:nvSpPr>
          <p:cNvPr id="8" name="Text 5"/>
          <p:cNvSpPr txBox="1"/>
          <p:nvPr/>
        </p:nvSpPr>
        <p:spPr>
          <a:xfrm>
            <a:off x="3200400" y="1143000"/>
            <a:ext cx="1783080" cy="603504"/>
          </a:xfrm>
          <a:prstGeom prst="rect">
            <a:avLst/>
          </a:prstGeom>
          <a:noFill/>
          <a:ln/>
        </p:spPr>
        <p:txBody>
          <a:bodyPr wrap="square" lIns="0" tIns="0" rIns="0" bIns="0" rtlCol="0" anchor="ctr"/>
          <a:lstStyle/>
          <a:p>
            <a:pPr indent="0" marL="0">
              <a:buNone/>
            </a:pPr>
            <a:r>
              <a:rPr lang="en-US" sz="1600" b="1" dirty="0">
                <a:solidFill>
                  <a:srgbClr val="0B5D46"/>
                </a:solidFill>
              </a:rPr>
              <a:t>Next option</a:t>
            </a:r>
            <a:endParaRPr lang="en-US" sz="1600" dirty="0"/>
          </a:p>
        </p:txBody>
      </p:sp>
      <p:sp>
        <p:nvSpPr>
          <p:cNvPr id="9" name="gesture row"/>
          <p:cNvSpPr/>
          <p:nvPr/>
        </p:nvSpPr>
        <p:spPr>
          <a:xfrm>
            <a:off x="457200" y="1856232"/>
            <a:ext cx="4572000" cy="603504"/>
          </a:xfrm>
          <a:prstGeom prst="roundRect">
            <a:avLst>
              <a:gd name="adj" fmla="val 18182"/>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0" name="icon LuFastForward"/>
          <p:cNvSpPr/>
          <p:nvPr/>
        </p:nvSpPr>
        <p:spPr>
          <a:xfrm>
            <a:off x="576072" y="1938528"/>
            <a:ext cx="438912" cy="438912"/>
          </a:xfrm>
          <a:prstGeom prst="ellipse">
            <a:avLst/>
          </a:prstGeom>
          <a:solidFill>
            <a:srgbClr val="0B5D46"/>
          </a:solidFill>
          <a:ln w="12700">
            <a:solidFill>
              <a:srgbClr val="0B5D46"/>
            </a:solidFill>
            <a:prstDash val="solid"/>
          </a:ln>
        </p:spPr>
      </p:sp>
      <p:pic>
        <p:nvPicPr>
          <p:cNvPr id="11" name="Image 1" descr="preencoded.png">    </p:cNvPr>
          <p:cNvPicPr>
            <a:picLocks noChangeAspect="1"/>
          </p:cNvPicPr>
          <p:nvPr/>
        </p:nvPicPr>
        <p:blipFill>
          <a:blip r:embed="rId2"/>
          <a:stretch>
            <a:fillRect/>
          </a:stretch>
        </p:blipFill>
        <p:spPr>
          <a:xfrm>
            <a:off x="685800" y="2048256"/>
            <a:ext cx="219456" cy="219456"/>
          </a:xfrm>
          <a:prstGeom prst="rect">
            <a:avLst/>
          </a:prstGeom>
        </p:spPr>
      </p:pic>
      <p:sp>
        <p:nvSpPr>
          <p:cNvPr id="12" name="Text 8"/>
          <p:cNvSpPr txBox="1"/>
          <p:nvPr/>
        </p:nvSpPr>
        <p:spPr>
          <a:xfrm>
            <a:off x="1170432" y="1856232"/>
            <a:ext cx="1554480" cy="603504"/>
          </a:xfrm>
          <a:prstGeom prst="rect">
            <a:avLst/>
          </a:prstGeom>
          <a:noFill/>
          <a:ln/>
        </p:spPr>
        <p:txBody>
          <a:bodyPr wrap="square" lIns="0" tIns="0" rIns="0" bIns="0" rtlCol="0" anchor="ctr"/>
          <a:lstStyle/>
          <a:p>
            <a:pPr indent="0" marL="0">
              <a:buNone/>
            </a:pPr>
            <a:r>
              <a:rPr lang="en-US" sz="1700" b="1" dirty="0">
                <a:solidFill>
                  <a:srgbClr val="121417"/>
                </a:solidFill>
              </a:rPr>
              <a:t>Keep them up</a:t>
            </a:r>
            <a:endParaRPr lang="en-US" sz="1700" dirty="0"/>
          </a:p>
        </p:txBody>
      </p:sp>
      <p:sp>
        <p:nvSpPr>
          <p:cNvPr id="13" name="Shape 9"/>
          <p:cNvSpPr/>
          <p:nvPr/>
        </p:nvSpPr>
        <p:spPr>
          <a:xfrm>
            <a:off x="2743200" y="2157984"/>
            <a:ext cx="320040" cy="914"/>
          </a:xfrm>
          <a:prstGeom prst="line">
            <a:avLst/>
          </a:prstGeom>
          <a:noFill/>
          <a:ln w="19050">
            <a:solidFill>
              <a:srgbClr val="0B5D46"/>
            </a:solidFill>
            <a:prstDash val="solid"/>
            <a:tailEnd type="triangle"/>
          </a:ln>
        </p:spPr>
      </p:sp>
      <p:sp>
        <p:nvSpPr>
          <p:cNvPr id="14" name="Text 10"/>
          <p:cNvSpPr txBox="1"/>
          <p:nvPr/>
        </p:nvSpPr>
        <p:spPr>
          <a:xfrm>
            <a:off x="3200400" y="1856232"/>
            <a:ext cx="1783080" cy="603504"/>
          </a:xfrm>
          <a:prstGeom prst="rect">
            <a:avLst/>
          </a:prstGeom>
          <a:noFill/>
          <a:ln/>
        </p:spPr>
        <p:txBody>
          <a:bodyPr wrap="square" lIns="0" tIns="0" rIns="0" bIns="0" rtlCol="0" anchor="ctr"/>
          <a:lstStyle/>
          <a:p>
            <a:pPr indent="0" marL="0">
              <a:buNone/>
            </a:pPr>
            <a:r>
              <a:rPr lang="en-US" sz="1600" b="1" dirty="0">
                <a:solidFill>
                  <a:srgbClr val="0B5D46"/>
                </a:solidFill>
              </a:rPr>
              <a:t>Keep moving</a:t>
            </a:r>
            <a:endParaRPr lang="en-US" sz="1600" dirty="0"/>
          </a:p>
        </p:txBody>
      </p:sp>
      <p:sp>
        <p:nvSpPr>
          <p:cNvPr id="15" name="gesture row"/>
          <p:cNvSpPr/>
          <p:nvPr/>
        </p:nvSpPr>
        <p:spPr>
          <a:xfrm>
            <a:off x="457200" y="2569464"/>
            <a:ext cx="4572000" cy="603504"/>
          </a:xfrm>
          <a:prstGeom prst="roundRect">
            <a:avLst>
              <a:gd name="adj" fmla="val 18182"/>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6" name="icon LuUndo2"/>
          <p:cNvSpPr/>
          <p:nvPr/>
        </p:nvSpPr>
        <p:spPr>
          <a:xfrm>
            <a:off x="576072" y="2651760"/>
            <a:ext cx="438912" cy="438912"/>
          </a:xfrm>
          <a:prstGeom prst="ellipse">
            <a:avLst/>
          </a:prstGeom>
          <a:solidFill>
            <a:srgbClr val="0B5D46"/>
          </a:solidFill>
          <a:ln w="12700">
            <a:solidFill>
              <a:srgbClr val="0B5D46"/>
            </a:solidFill>
            <a:prstDash val="solid"/>
          </a:ln>
        </p:spPr>
      </p:sp>
      <p:pic>
        <p:nvPicPr>
          <p:cNvPr id="17" name="Image 2" descr="preencoded.png">    </p:cNvPr>
          <p:cNvPicPr>
            <a:picLocks noChangeAspect="1"/>
          </p:cNvPicPr>
          <p:nvPr/>
        </p:nvPicPr>
        <p:blipFill>
          <a:blip r:embed="rId3"/>
          <a:stretch>
            <a:fillRect/>
          </a:stretch>
        </p:blipFill>
        <p:spPr>
          <a:xfrm>
            <a:off x="685800" y="2761488"/>
            <a:ext cx="219456" cy="219456"/>
          </a:xfrm>
          <a:prstGeom prst="rect">
            <a:avLst/>
          </a:prstGeom>
        </p:spPr>
      </p:pic>
      <p:sp>
        <p:nvSpPr>
          <p:cNvPr id="18" name="Text 13"/>
          <p:cNvSpPr txBox="1"/>
          <p:nvPr/>
        </p:nvSpPr>
        <p:spPr>
          <a:xfrm>
            <a:off x="1170432" y="2569464"/>
            <a:ext cx="1554480" cy="603504"/>
          </a:xfrm>
          <a:prstGeom prst="rect">
            <a:avLst/>
          </a:prstGeom>
          <a:noFill/>
          <a:ln/>
        </p:spPr>
        <p:txBody>
          <a:bodyPr wrap="square" lIns="0" tIns="0" rIns="0" bIns="0" rtlCol="0" anchor="ctr"/>
          <a:lstStyle/>
          <a:p>
            <a:pPr indent="0" marL="0">
              <a:buNone/>
            </a:pPr>
            <a:r>
              <a:rPr lang="en-US" sz="1700" b="1" dirty="0">
                <a:solidFill>
                  <a:srgbClr val="121417"/>
                </a:solidFill>
              </a:rPr>
              <a:t>Drop your jaw</a:t>
            </a:r>
            <a:endParaRPr lang="en-US" sz="1700" dirty="0"/>
          </a:p>
        </p:txBody>
      </p:sp>
      <p:sp>
        <p:nvSpPr>
          <p:cNvPr id="19" name="Shape 14"/>
          <p:cNvSpPr/>
          <p:nvPr/>
        </p:nvSpPr>
        <p:spPr>
          <a:xfrm>
            <a:off x="2743200" y="2871216"/>
            <a:ext cx="320040" cy="914"/>
          </a:xfrm>
          <a:prstGeom prst="line">
            <a:avLst/>
          </a:prstGeom>
          <a:noFill/>
          <a:ln w="19050">
            <a:solidFill>
              <a:srgbClr val="0B5D46"/>
            </a:solidFill>
            <a:prstDash val="solid"/>
            <a:tailEnd type="triangle"/>
          </a:ln>
        </p:spPr>
      </p:sp>
      <p:sp>
        <p:nvSpPr>
          <p:cNvPr id="20" name="Text 15"/>
          <p:cNvSpPr txBox="1"/>
          <p:nvPr/>
        </p:nvSpPr>
        <p:spPr>
          <a:xfrm>
            <a:off x="3200400" y="2569464"/>
            <a:ext cx="1783080" cy="603504"/>
          </a:xfrm>
          <a:prstGeom prst="rect">
            <a:avLst/>
          </a:prstGeom>
          <a:noFill/>
          <a:ln/>
        </p:spPr>
        <p:txBody>
          <a:bodyPr wrap="square" lIns="0" tIns="0" rIns="0" bIns="0" rtlCol="0" anchor="ctr"/>
          <a:lstStyle/>
          <a:p>
            <a:pPr indent="0" marL="0">
              <a:buNone/>
            </a:pPr>
            <a:r>
              <a:rPr lang="en-US" sz="1600" b="1" dirty="0">
                <a:solidFill>
                  <a:srgbClr val="0B5D46"/>
                </a:solidFill>
              </a:rPr>
              <a:t>Go back</a:t>
            </a:r>
            <a:endParaRPr lang="en-US" sz="1600" dirty="0"/>
          </a:p>
        </p:txBody>
      </p:sp>
      <p:sp>
        <p:nvSpPr>
          <p:cNvPr id="21" name="gesture row"/>
          <p:cNvSpPr/>
          <p:nvPr/>
        </p:nvSpPr>
        <p:spPr>
          <a:xfrm>
            <a:off x="457200" y="3282696"/>
            <a:ext cx="4572000" cy="603504"/>
          </a:xfrm>
          <a:prstGeom prst="roundRect">
            <a:avLst>
              <a:gd name="adj" fmla="val 18182"/>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22" name="icon LuEyeClosed"/>
          <p:cNvSpPr/>
          <p:nvPr/>
        </p:nvSpPr>
        <p:spPr>
          <a:xfrm>
            <a:off x="576072" y="3364992"/>
            <a:ext cx="438912" cy="438912"/>
          </a:xfrm>
          <a:prstGeom prst="ellipse">
            <a:avLst/>
          </a:prstGeom>
          <a:solidFill>
            <a:srgbClr val="0B5D46"/>
          </a:solidFill>
          <a:ln w="12700">
            <a:solidFill>
              <a:srgbClr val="0B5D46"/>
            </a:solidFill>
            <a:prstDash val="solid"/>
          </a:ln>
        </p:spPr>
      </p:sp>
      <p:pic>
        <p:nvPicPr>
          <p:cNvPr id="23" name="Image 3" descr="preencoded.png">    </p:cNvPr>
          <p:cNvPicPr>
            <a:picLocks noChangeAspect="1"/>
          </p:cNvPicPr>
          <p:nvPr/>
        </p:nvPicPr>
        <p:blipFill>
          <a:blip r:embed="rId4"/>
          <a:stretch>
            <a:fillRect/>
          </a:stretch>
        </p:blipFill>
        <p:spPr>
          <a:xfrm>
            <a:off x="685800" y="3474720"/>
            <a:ext cx="219456" cy="219456"/>
          </a:xfrm>
          <a:prstGeom prst="rect">
            <a:avLst/>
          </a:prstGeom>
        </p:spPr>
      </p:pic>
      <p:sp>
        <p:nvSpPr>
          <p:cNvPr id="24" name="Text 18"/>
          <p:cNvSpPr txBox="1"/>
          <p:nvPr/>
        </p:nvSpPr>
        <p:spPr>
          <a:xfrm>
            <a:off x="1170432" y="3282696"/>
            <a:ext cx="1554480" cy="603504"/>
          </a:xfrm>
          <a:prstGeom prst="rect">
            <a:avLst/>
          </a:prstGeom>
          <a:noFill/>
          <a:ln/>
        </p:spPr>
        <p:txBody>
          <a:bodyPr wrap="square" lIns="0" tIns="0" rIns="0" bIns="0" rtlCol="0" anchor="ctr"/>
          <a:lstStyle/>
          <a:p>
            <a:pPr indent="0" marL="0">
              <a:buNone/>
            </a:pPr>
            <a:r>
              <a:rPr lang="en-US" sz="1700" b="1" dirty="0">
                <a:solidFill>
                  <a:srgbClr val="121417"/>
                </a:solidFill>
              </a:rPr>
              <a:t>Long blink</a:t>
            </a:r>
            <a:endParaRPr lang="en-US" sz="1700" dirty="0"/>
          </a:p>
        </p:txBody>
      </p:sp>
      <p:sp>
        <p:nvSpPr>
          <p:cNvPr id="25" name="Shape 19"/>
          <p:cNvSpPr/>
          <p:nvPr/>
        </p:nvSpPr>
        <p:spPr>
          <a:xfrm>
            <a:off x="2743200" y="3584448"/>
            <a:ext cx="320040" cy="914"/>
          </a:xfrm>
          <a:prstGeom prst="line">
            <a:avLst/>
          </a:prstGeom>
          <a:noFill/>
          <a:ln w="19050">
            <a:solidFill>
              <a:srgbClr val="0B5D46"/>
            </a:solidFill>
            <a:prstDash val="solid"/>
            <a:tailEnd type="triangle"/>
          </a:ln>
        </p:spPr>
      </p:sp>
      <p:sp>
        <p:nvSpPr>
          <p:cNvPr id="26" name="Text 20"/>
          <p:cNvSpPr txBox="1"/>
          <p:nvPr/>
        </p:nvSpPr>
        <p:spPr>
          <a:xfrm>
            <a:off x="3200400" y="3282696"/>
            <a:ext cx="1783080" cy="603504"/>
          </a:xfrm>
          <a:prstGeom prst="rect">
            <a:avLst/>
          </a:prstGeom>
          <a:noFill/>
          <a:ln/>
        </p:spPr>
        <p:txBody>
          <a:bodyPr wrap="square" lIns="0" tIns="0" rIns="0" bIns="0" rtlCol="0" anchor="ctr"/>
          <a:lstStyle/>
          <a:p>
            <a:pPr indent="0" marL="0">
              <a:buNone/>
            </a:pPr>
            <a:r>
              <a:rPr lang="en-US" sz="1600" b="1" dirty="0">
                <a:solidFill>
                  <a:srgbClr val="0B5D46"/>
                </a:solidFill>
              </a:rPr>
              <a:t>Choose and speak</a:t>
            </a:r>
            <a:endParaRPr lang="en-US" sz="1600" dirty="0"/>
          </a:p>
        </p:txBody>
      </p:sp>
      <p:sp>
        <p:nvSpPr>
          <p:cNvPr id="27" name="Text 21"/>
          <p:cNvSpPr txBox="1"/>
          <p:nvPr/>
        </p:nvSpPr>
        <p:spPr>
          <a:xfrm>
            <a:off x="457200" y="4069080"/>
            <a:ext cx="7498080" cy="411480"/>
          </a:xfrm>
          <a:prstGeom prst="rect">
            <a:avLst/>
          </a:prstGeom>
          <a:noFill/>
          <a:ln/>
        </p:spPr>
        <p:txBody>
          <a:bodyPr wrap="square" lIns="0" tIns="0" rIns="0" bIns="0" rtlCol="0" anchor="ctr"/>
          <a:lstStyle/>
          <a:p>
            <a:pPr indent="0" marL="0">
              <a:buNone/>
            </a:pPr>
            <a:r>
              <a:rPr lang="en-US" sz="1800" b="1" dirty="0">
                <a:solidFill>
                  <a:srgbClr val="464B53"/>
                </a:solidFill>
              </a:rPr>
              <a:t>One-minute calibration learns your face. Partner just talks.</a:t>
            </a:r>
            <a:endParaRPr lang="en-US" sz="1800" dirty="0"/>
          </a:p>
        </p:txBody>
      </p:sp>
      <p:sp>
        <p:nvSpPr>
          <p:cNvPr id="28" name="device frame"/>
          <p:cNvSpPr/>
          <p:nvPr/>
        </p:nvSpPr>
        <p:spPr>
          <a:xfrm>
            <a:off x="5349240" y="1143000"/>
            <a:ext cx="3337560" cy="2533391"/>
          </a:xfrm>
          <a:prstGeom prst="roundRect">
            <a:avLst>
              <a:gd name="adj" fmla="val 3609"/>
            </a:avLst>
          </a:prstGeom>
          <a:solidFill>
            <a:srgbClr val="1B1E22"/>
          </a:solidFill>
          <a:ln w="9525">
            <a:solidFill>
              <a:srgbClr val="1B1E22"/>
            </a:solidFill>
            <a:prstDash val="solid"/>
          </a:ln>
          <a:effectLst>
            <a:outerShdw sx="100000" sy="100000" kx="0" ky="0" algn="bl" rotWithShape="0" blurRad="101600" dist="25400" dir="5400000">
              <a:srgbClr val="000000">
                <a:alpha val="16000"/>
              </a:srgbClr>
            </a:outerShdw>
          </a:effectLst>
        </p:spPr>
      </p:sp>
      <p:pic>
        <p:nvPicPr>
          <p:cNvPr id="29" name="Image 4" descr="Board with the highlighted reply card">    </p:cNvPr>
          <p:cNvPicPr>
            <a:picLocks noChangeAspect="1"/>
          </p:cNvPicPr>
          <p:nvPr/>
        </p:nvPicPr>
        <p:blipFill>
          <a:blip r:embed="rId5"/>
          <a:stretch>
            <a:fillRect/>
          </a:stretch>
        </p:blipFill>
        <p:spPr>
          <a:xfrm>
            <a:off x="5413248" y="1207008"/>
            <a:ext cx="3209544" cy="2405375"/>
          </a:xfrm>
          <a:prstGeom prst="rect">
            <a:avLst/>
          </a:prstGeom>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One blink to answer</a:t>
            </a:r>
            <a:endParaRPr lang="en-US" sz="3200" dirty="0"/>
          </a:p>
        </p:txBody>
      </p:sp>
      <p:sp>
        <p:nvSpPr>
          <p:cNvPr id="3" name="device frame"/>
          <p:cNvSpPr/>
          <p:nvPr/>
        </p:nvSpPr>
        <p:spPr>
          <a:xfrm>
            <a:off x="457200" y="1097280"/>
            <a:ext cx="3977640" cy="3013095"/>
          </a:xfrm>
          <a:prstGeom prst="roundRect">
            <a:avLst>
              <a:gd name="adj" fmla="val 3035"/>
            </a:avLst>
          </a:prstGeom>
          <a:solidFill>
            <a:srgbClr val="1B1E22"/>
          </a:solidFill>
          <a:ln w="9525">
            <a:solidFill>
              <a:srgbClr val="1B1E22"/>
            </a:solidFill>
            <a:prstDash val="solid"/>
          </a:ln>
          <a:effectLst>
            <a:outerShdw sx="100000" sy="100000" kx="0" ky="0" algn="bl" rotWithShape="0" blurRad="101600" dist="25400" dir="5400000">
              <a:srgbClr val="000000">
                <a:alpha val="16000"/>
              </a:srgbClr>
            </a:outerShdw>
          </a:effectLst>
        </p:spPr>
      </p:sp>
      <p:pic>
        <p:nvPicPr>
          <p:cNvPr id="4" name="Image 0" descr="Board: partner asked Are you coming to dinner tonight, two live replies">    </p:cNvPr>
          <p:cNvPicPr>
            <a:picLocks noChangeAspect="1"/>
          </p:cNvPicPr>
          <p:nvPr/>
        </p:nvPicPr>
        <p:blipFill>
          <a:blip r:embed="rId1"/>
          <a:stretch>
            <a:fillRect/>
          </a:stretch>
        </p:blipFill>
        <p:spPr>
          <a:xfrm>
            <a:off x="521208" y="1161288"/>
            <a:ext cx="3849624" cy="2885079"/>
          </a:xfrm>
          <a:prstGeom prst="rect">
            <a:avLst/>
          </a:prstGeom>
        </p:spPr>
      </p:pic>
      <p:sp>
        <p:nvSpPr>
          <p:cNvPr id="5" name="device frame"/>
          <p:cNvSpPr/>
          <p:nvPr/>
        </p:nvSpPr>
        <p:spPr>
          <a:xfrm>
            <a:off x="4709160" y="1097280"/>
            <a:ext cx="3977640" cy="3013095"/>
          </a:xfrm>
          <a:prstGeom prst="roundRect">
            <a:avLst>
              <a:gd name="adj" fmla="val 3035"/>
            </a:avLst>
          </a:prstGeom>
          <a:solidFill>
            <a:srgbClr val="1B1E22"/>
          </a:solidFill>
          <a:ln w="9525">
            <a:solidFill>
              <a:srgbClr val="1B1E22"/>
            </a:solidFill>
            <a:prstDash val="solid"/>
          </a:ln>
          <a:effectLst>
            <a:outerShdw sx="100000" sy="100000" kx="0" ky="0" algn="bl" rotWithShape="0" blurRad="101600" dist="25400" dir="5400000">
              <a:srgbClr val="000000">
                <a:alpha val="16000"/>
              </a:srgbClr>
            </a:outerShdw>
          </a:effectLst>
        </p:spPr>
      </p:sp>
      <p:pic>
        <p:nvPicPr>
          <p:cNvPr id="6" name="Image 1" descr="Other ways to answer: What time, Who's coming, Decide later, Where at">    </p:cNvPr>
          <p:cNvPicPr>
            <a:picLocks noChangeAspect="1"/>
          </p:cNvPicPr>
          <p:nvPr/>
        </p:nvPicPr>
        <p:blipFill>
          <a:blip r:embed="rId2"/>
          <a:stretch>
            <a:fillRect/>
          </a:stretch>
        </p:blipFill>
        <p:spPr>
          <a:xfrm>
            <a:off x="4773168" y="1161288"/>
            <a:ext cx="3849624" cy="2885079"/>
          </a:xfrm>
          <a:prstGeom prst="rect">
            <a:avLst/>
          </a:prstGeom>
        </p:spPr>
      </p:pic>
      <p:sp>
        <p:nvSpPr>
          <p:cNvPr id="7" name="Text 3"/>
          <p:cNvSpPr txBox="1"/>
          <p:nvPr/>
        </p:nvSpPr>
        <p:spPr>
          <a:xfrm>
            <a:off x="457200" y="4247535"/>
            <a:ext cx="3977640" cy="365760"/>
          </a:xfrm>
          <a:prstGeom prst="rect">
            <a:avLst/>
          </a:prstGeom>
          <a:noFill/>
          <a:ln/>
        </p:spPr>
        <p:txBody>
          <a:bodyPr wrap="square" lIns="0" tIns="0" rIns="0" bIns="0" rtlCol="0" anchor="ctr"/>
          <a:lstStyle/>
          <a:p>
            <a:pPr algn="ctr" indent="0" marL="0">
              <a:buNone/>
            </a:pPr>
            <a:r>
              <a:rPr lang="en-US" sz="1800" b="1" dirty="0">
                <a:solidFill>
                  <a:srgbClr val="121417"/>
                </a:solidFill>
              </a:rPr>
              <a:t>Two best replies</a:t>
            </a:r>
            <a:endParaRPr lang="en-US" sz="1800" dirty="0"/>
          </a:p>
        </p:txBody>
      </p:sp>
      <p:sp>
        <p:nvSpPr>
          <p:cNvPr id="8" name="Text 4"/>
          <p:cNvSpPr txBox="1"/>
          <p:nvPr/>
        </p:nvSpPr>
        <p:spPr>
          <a:xfrm>
            <a:off x="4709160" y="4247535"/>
            <a:ext cx="3977640" cy="365760"/>
          </a:xfrm>
          <a:prstGeom prst="rect">
            <a:avLst/>
          </a:prstGeom>
          <a:noFill/>
          <a:ln/>
        </p:spPr>
        <p:txBody>
          <a:bodyPr wrap="square" lIns="0" tIns="0" rIns="0" bIns="0" rtlCol="0" anchor="ctr"/>
          <a:lstStyle/>
          <a:p>
            <a:pPr algn="ctr" indent="0" marL="0">
              <a:buNone/>
            </a:pPr>
            <a:r>
              <a:rPr lang="en-US" sz="1800" b="1" dirty="0">
                <a:solidFill>
                  <a:srgbClr val="0B5D46"/>
                </a:solidFill>
              </a:rPr>
              <a:t>Or pick a direction</a:t>
            </a:r>
            <a:endParaRPr lang="en-US" sz="1800" dirty="0"/>
          </a:p>
        </p:txBody>
      </p:sp>
      <p:sp>
        <p:nvSpPr>
          <p:cNvPr id="9" name="Text 5"/>
          <p:cNvSpPr txBox="1"/>
          <p:nvPr/>
        </p:nvSpPr>
        <p:spPr>
          <a:xfrm>
            <a:off x="457200" y="4754880"/>
            <a:ext cx="7406640" cy="256032"/>
          </a:xfrm>
          <a:prstGeom prst="rect">
            <a:avLst/>
          </a:prstGeom>
          <a:noFill/>
          <a:ln/>
        </p:spPr>
        <p:txBody>
          <a:bodyPr wrap="square" lIns="0" tIns="0" rIns="0" bIns="0" rtlCol="0" anchor="ctr"/>
          <a:lstStyle/>
          <a:p>
            <a:pPr indent="0" marL="0">
              <a:buNone/>
            </a:pPr>
            <a:r>
              <a:rPr lang="en-US" sz="1000" dirty="0">
                <a:solidFill>
                  <a:srgbClr val="464B53"/>
                </a:solidFill>
              </a:rPr>
              <a:t>Current build, iPad-size browser view, Live AI replies (wording varies run to run).</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Simple, private, personal</a:t>
            </a:r>
            <a:endParaRPr lang="en-US" sz="3200" dirty="0"/>
          </a:p>
        </p:txBody>
      </p:sp>
      <p:pic>
        <p:nvPicPr>
          <p:cNvPr id="3" name="Image 0" descr="Simplified architecture: iPad (camera, microphone, speaker), our Railway server, OpenAI and ElevenLabs">    </p:cNvPr>
          <p:cNvPicPr>
            <a:picLocks noChangeAspect="1"/>
          </p:cNvPicPr>
          <p:nvPr/>
        </p:nvPicPr>
        <p:blipFill>
          <a:blip r:embed="rId1"/>
          <a:stretch>
            <a:fillRect/>
          </a:stretch>
        </p:blipFill>
        <p:spPr>
          <a:xfrm>
            <a:off x="365760" y="1097280"/>
            <a:ext cx="5303520" cy="2430780"/>
          </a:xfrm>
          <a:prstGeom prst="rect">
            <a:avLst/>
          </a:prstGeom>
        </p:spPr>
      </p:pic>
      <p:sp>
        <p:nvSpPr>
          <p:cNvPr id="4" name="icon LuScanFace"/>
          <p:cNvSpPr/>
          <p:nvPr/>
        </p:nvSpPr>
        <p:spPr>
          <a:xfrm>
            <a:off x="5989320" y="1234440"/>
            <a:ext cx="548640" cy="548640"/>
          </a:xfrm>
          <a:prstGeom prst="ellipse">
            <a:avLst/>
          </a:prstGeom>
          <a:solidFill>
            <a:srgbClr val="0B5D46"/>
          </a:solidFill>
          <a:ln w="12700">
            <a:solidFill>
              <a:srgbClr val="0B5D46"/>
            </a:solidFill>
            <a:prstDash val="solid"/>
          </a:ln>
        </p:spPr>
      </p:sp>
      <p:pic>
        <p:nvPicPr>
          <p:cNvPr id="5" name="Image 1" descr="preencoded.png">    </p:cNvPr>
          <p:cNvPicPr>
            <a:picLocks noChangeAspect="1"/>
          </p:cNvPicPr>
          <p:nvPr/>
        </p:nvPicPr>
        <p:blipFill>
          <a:blip r:embed="rId2"/>
          <a:stretch>
            <a:fillRect/>
          </a:stretch>
        </p:blipFill>
        <p:spPr>
          <a:xfrm>
            <a:off x="6126480" y="1371600"/>
            <a:ext cx="274320" cy="274320"/>
          </a:xfrm>
          <a:prstGeom prst="rect">
            <a:avLst/>
          </a:prstGeom>
        </p:spPr>
      </p:pic>
      <p:sp>
        <p:nvSpPr>
          <p:cNvPr id="6" name="Text 2"/>
          <p:cNvSpPr txBox="1"/>
          <p:nvPr/>
        </p:nvSpPr>
        <p:spPr>
          <a:xfrm>
            <a:off x="6675120" y="1234440"/>
            <a:ext cx="2057400" cy="548640"/>
          </a:xfrm>
          <a:prstGeom prst="rect">
            <a:avLst/>
          </a:prstGeom>
          <a:noFill/>
          <a:ln/>
        </p:spPr>
        <p:txBody>
          <a:bodyPr wrap="square" lIns="0" tIns="0" rIns="0" bIns="0" rtlCol="0" anchor="ctr"/>
          <a:lstStyle/>
          <a:p>
            <a:pPr indent="0" marL="0">
              <a:buNone/>
            </a:pPr>
            <a:r>
              <a:rPr lang="en-US" sz="1600" b="1" dirty="0">
                <a:solidFill>
                  <a:srgbClr val="121417"/>
                </a:solidFill>
              </a:rPr>
              <a:t>Calibrated to your face</a:t>
            </a:r>
            <a:endParaRPr lang="en-US" sz="1600" dirty="0"/>
          </a:p>
        </p:txBody>
      </p:sp>
      <p:sp>
        <p:nvSpPr>
          <p:cNvPr id="7" name="icon LuLock"/>
          <p:cNvSpPr/>
          <p:nvPr/>
        </p:nvSpPr>
        <p:spPr>
          <a:xfrm>
            <a:off x="5989320" y="2011680"/>
            <a:ext cx="548640" cy="548640"/>
          </a:xfrm>
          <a:prstGeom prst="ellipse">
            <a:avLst/>
          </a:prstGeom>
          <a:solidFill>
            <a:srgbClr val="0B5D46"/>
          </a:solidFill>
          <a:ln w="12700">
            <a:solidFill>
              <a:srgbClr val="0B5D46"/>
            </a:solidFill>
            <a:prstDash val="solid"/>
          </a:ln>
        </p:spPr>
      </p:sp>
      <p:pic>
        <p:nvPicPr>
          <p:cNvPr id="8" name="Image 2" descr="preencoded.png">    </p:cNvPr>
          <p:cNvPicPr>
            <a:picLocks noChangeAspect="1"/>
          </p:cNvPicPr>
          <p:nvPr/>
        </p:nvPicPr>
        <p:blipFill>
          <a:blip r:embed="rId3"/>
          <a:stretch>
            <a:fillRect/>
          </a:stretch>
        </p:blipFill>
        <p:spPr>
          <a:xfrm>
            <a:off x="6126480" y="2148840"/>
            <a:ext cx="274320" cy="274320"/>
          </a:xfrm>
          <a:prstGeom prst="rect">
            <a:avLst/>
          </a:prstGeom>
        </p:spPr>
      </p:pic>
      <p:sp>
        <p:nvSpPr>
          <p:cNvPr id="9" name="Text 4"/>
          <p:cNvSpPr txBox="1"/>
          <p:nvPr/>
        </p:nvSpPr>
        <p:spPr>
          <a:xfrm>
            <a:off x="6675120" y="2011680"/>
            <a:ext cx="2057400" cy="548640"/>
          </a:xfrm>
          <a:prstGeom prst="rect">
            <a:avLst/>
          </a:prstGeom>
          <a:noFill/>
          <a:ln/>
        </p:spPr>
        <p:txBody>
          <a:bodyPr wrap="square" lIns="0" tIns="0" rIns="0" bIns="0" rtlCol="0" anchor="ctr"/>
          <a:lstStyle/>
          <a:p>
            <a:pPr indent="0" marL="0">
              <a:buNone/>
            </a:pPr>
            <a:r>
              <a:rPr lang="en-US" sz="1600" b="1" dirty="0">
                <a:solidFill>
                  <a:srgbClr val="121417"/>
                </a:solidFill>
              </a:rPr>
              <a:t>Camera stays on the iPad</a:t>
            </a:r>
            <a:endParaRPr lang="en-US" sz="1600" dirty="0"/>
          </a:p>
        </p:txBody>
      </p:sp>
      <p:sp>
        <p:nvSpPr>
          <p:cNvPr id="10" name="icon LuShieldCheck"/>
          <p:cNvSpPr/>
          <p:nvPr/>
        </p:nvSpPr>
        <p:spPr>
          <a:xfrm>
            <a:off x="5989320" y="2788920"/>
            <a:ext cx="548640" cy="548640"/>
          </a:xfrm>
          <a:prstGeom prst="ellipse">
            <a:avLst/>
          </a:prstGeom>
          <a:solidFill>
            <a:srgbClr val="0B5D46"/>
          </a:solidFill>
          <a:ln w="12700">
            <a:solidFill>
              <a:srgbClr val="0B5D46"/>
            </a:solidFill>
            <a:prstDash val="solid"/>
          </a:ln>
        </p:spPr>
      </p:sp>
      <p:pic>
        <p:nvPicPr>
          <p:cNvPr id="11" name="Image 3" descr="preencoded.png">    </p:cNvPr>
          <p:cNvPicPr>
            <a:picLocks noChangeAspect="1"/>
          </p:cNvPicPr>
          <p:nvPr/>
        </p:nvPicPr>
        <p:blipFill>
          <a:blip r:embed="rId4"/>
          <a:stretch>
            <a:fillRect/>
          </a:stretch>
        </p:blipFill>
        <p:spPr>
          <a:xfrm>
            <a:off x="6126480" y="2926080"/>
            <a:ext cx="274320" cy="274320"/>
          </a:xfrm>
          <a:prstGeom prst="rect">
            <a:avLst/>
          </a:prstGeom>
        </p:spPr>
      </p:pic>
      <p:sp>
        <p:nvSpPr>
          <p:cNvPr id="12" name="Text 6"/>
          <p:cNvSpPr txBox="1"/>
          <p:nvPr/>
        </p:nvSpPr>
        <p:spPr>
          <a:xfrm>
            <a:off x="6675120" y="2788920"/>
            <a:ext cx="2057400" cy="548640"/>
          </a:xfrm>
          <a:prstGeom prst="rect">
            <a:avLst/>
          </a:prstGeom>
          <a:noFill/>
          <a:ln/>
        </p:spPr>
        <p:txBody>
          <a:bodyPr wrap="square" lIns="0" tIns="0" rIns="0" bIns="0" rtlCol="0" anchor="ctr"/>
          <a:lstStyle/>
          <a:p>
            <a:pPr indent="0" marL="0">
              <a:buNone/>
            </a:pPr>
            <a:r>
              <a:rPr lang="en-US" sz="1600" b="1" dirty="0">
                <a:solidFill>
                  <a:srgbClr val="121417"/>
                </a:solidFill>
              </a:rPr>
              <a:t>Learns you, with permission</a:t>
            </a:r>
            <a:endParaRPr lang="en-US" sz="1600" dirty="0"/>
          </a:p>
        </p:txBody>
      </p:sp>
      <p:sp>
        <p:nvSpPr>
          <p:cNvPr id="13" name="Shape 7"/>
          <p:cNvSpPr/>
          <p:nvPr/>
        </p:nvSpPr>
        <p:spPr>
          <a:xfrm>
            <a:off x="457200" y="3730752"/>
            <a:ext cx="8229600" cy="0"/>
          </a:xfrm>
          <a:prstGeom prst="line">
            <a:avLst/>
          </a:prstGeom>
          <a:noFill/>
          <a:ln w="9525">
            <a:solidFill>
              <a:srgbClr val="D9DCE0"/>
            </a:solidFill>
            <a:prstDash val="solid"/>
          </a:ln>
        </p:spPr>
      </p:sp>
      <p:pic>
        <p:nvPicPr>
          <p:cNvPr id="14" name="Image 4" descr="Still Here mark">    </p:cNvPr>
          <p:cNvPicPr>
            <a:picLocks noChangeAspect="1"/>
          </p:cNvPicPr>
          <p:nvPr/>
        </p:nvPicPr>
        <p:blipFill>
          <a:blip r:embed="rId5"/>
          <a:stretch>
            <a:fillRect/>
          </a:stretch>
        </p:blipFill>
        <p:spPr>
          <a:xfrm>
            <a:off x="457200" y="3858768"/>
            <a:ext cx="420624" cy="420624"/>
          </a:xfrm>
          <a:prstGeom prst="rect">
            <a:avLst/>
          </a:prstGeom>
        </p:spPr>
      </p:pic>
      <p:sp>
        <p:nvSpPr>
          <p:cNvPr id="15" name="Text 8"/>
          <p:cNvSpPr txBox="1"/>
          <p:nvPr/>
        </p:nvSpPr>
        <p:spPr>
          <a:xfrm>
            <a:off x="1005840" y="3813048"/>
            <a:ext cx="5486400" cy="512064"/>
          </a:xfrm>
          <a:prstGeom prst="rect">
            <a:avLst/>
          </a:prstGeom>
          <a:noFill/>
          <a:ln/>
        </p:spPr>
        <p:txBody>
          <a:bodyPr wrap="square" lIns="0" tIns="0" rIns="0" bIns="0" rtlCol="0" anchor="ctr"/>
          <a:lstStyle/>
          <a:p>
            <a:pPr indent="0" marL="0">
              <a:buNone/>
            </a:pPr>
            <a:r>
              <a:rPr lang="en-US" sz="2600" b="1" dirty="0">
                <a:solidFill>
                  <a:srgbClr val="0B5D46"/>
                </a:solidFill>
              </a:rPr>
              <a:t>Your words. Your choice.</a:t>
            </a:r>
            <a:endParaRPr lang="en-US" sz="2600" dirty="0"/>
          </a:p>
        </p:txBody>
      </p:sp>
      <p:sp>
        <p:nvSpPr>
          <p:cNvPr id="16" name="Text 9"/>
          <p:cNvSpPr txBox="1"/>
          <p:nvPr/>
        </p:nvSpPr>
        <p:spPr>
          <a:xfrm>
            <a:off x="1005840" y="4370832"/>
            <a:ext cx="6766560" cy="292608"/>
          </a:xfrm>
          <a:prstGeom prst="rect">
            <a:avLst/>
          </a:prstGeom>
          <a:noFill/>
          <a:ln/>
        </p:spPr>
        <p:txBody>
          <a:bodyPr wrap="square" lIns="0" tIns="0" rIns="0" bIns="0" rtlCol="0" anchor="ctr"/>
          <a:lstStyle/>
          <a:p>
            <a:pPr indent="0" marL="0">
              <a:buNone/>
            </a:pPr>
            <a:r>
              <a:rPr lang="en-US" sz="1300" dirty="0">
                <a:solidFill>
                  <a:srgbClr val="464B53"/>
                </a:solidFill>
              </a:rPr>
              <a:t>Next: test with people with ALS · phones and offline · personal voice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theme/theme1.xml><?xml version="1.0" encoding="utf-8"?>
<a:theme xmlns:a="http://schemas.openxmlformats.org/drawingml/2006/main" name="Still Here">
  <a:themeElements>
    <a:clrScheme name="Still Here">
      <a:dk1>
        <a:srgbClr val="121417"/>
      </a:dk1>
      <a:lt1>
        <a:srgbClr val="FFFFFF"/>
      </a:lt1>
      <a:dk2>
        <a:srgbClr val="464B53"/>
      </a:dk2>
      <a:lt2>
        <a:srgbClr val="FAFAFA"/>
      </a:lt2>
      <a:accent1>
        <a:srgbClr val="0B5D46"/>
      </a:accent1>
      <a:accent2>
        <a:srgbClr val="E2F2EC"/>
      </a:accent2>
      <a:accent3>
        <a:srgbClr val="3C8C6E"/>
      </a:accent3>
      <a:accent4>
        <a:srgbClr val="8A9099"/>
      </a:accent4>
      <a:accent5>
        <a:srgbClr val="B8BDC4"/>
      </a:accent5>
      <a:accent6>
        <a:srgbClr val="7FD1B0"/>
      </a:accent6>
      <a:hlink>
        <a:srgbClr val="0B5D46"/>
      </a:hlink>
      <a:folHlink>
        <a:srgbClr val="464B53"/>
      </a:folHlink>
    </a:clrScheme>
    <a:fontScheme name="Still He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Still Here: SASEHacks for Good pitch</dc:title>
  <dc:subject>PptxGenJS Presentation</dc:subject>
  <dc:creator>Still Here team</dc:creator>
  <cp:lastModifiedBy>Still Here team</cp:lastModifiedBy>
  <cp:revision>1</cp:revision>
  <dcterms:created xsi:type="dcterms:W3CDTF">2026-10-24T20:49:28Z</dcterms:created>
  <dcterms:modified xsi:type="dcterms:W3CDTF">2026-10-24T20:49:28Z</dcterms:modified>
</cp:coreProperties>
</file>